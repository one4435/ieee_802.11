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notesMasterIdLst>
    <p:notesMasterId r:id="rId15"/>
  </p:notesMasterIdLst>
  <p:handoutMasterIdLst>
    <p:handoutMasterId r:id="rId16"/>
  </p:handoutMasterIdLst>
  <p:sldIdLst>
    <p:sldId id="480" r:id="rId2"/>
    <p:sldId id="669" r:id="rId3"/>
    <p:sldId id="639" r:id="rId4"/>
    <p:sldId id="723" r:id="rId5"/>
    <p:sldId id="721" r:id="rId6"/>
    <p:sldId id="715" r:id="rId7"/>
    <p:sldId id="720" r:id="rId8"/>
    <p:sldId id="716" r:id="rId9"/>
    <p:sldId id="717" r:id="rId10"/>
    <p:sldId id="722" r:id="rId11"/>
    <p:sldId id="712" r:id="rId12"/>
    <p:sldId id="711" r:id="rId13"/>
    <p:sldId id="526" r:id="rId14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185C952-61BE-44DD-B1AD-5B2841022E2C}">
          <p14:sldIdLst>
            <p14:sldId id="480"/>
            <p14:sldId id="669"/>
            <p14:sldId id="639"/>
            <p14:sldId id="723"/>
            <p14:sldId id="721"/>
            <p14:sldId id="715"/>
            <p14:sldId id="720"/>
            <p14:sldId id="716"/>
            <p14:sldId id="717"/>
            <p14:sldId id="722"/>
            <p14:sldId id="712"/>
            <p14:sldId id="711"/>
            <p14:sldId id="526"/>
          </p14:sldIdLst>
        </p14:section>
      </p14:sectionLst>
    </p:ext>
    <p:ext uri="{EFAFB233-063F-42B5-8137-9DF3F51BA10A}">
      <p15:sldGuideLst xmlns:p15="http://schemas.microsoft.com/office/powerpoint/2012/main">
        <p15:guide id="4" pos="3120" userDrawn="1">
          <p15:clr>
            <a:srgbClr val="A4A3A4"/>
          </p15:clr>
        </p15:guide>
        <p15:guide id="5" orient="horz" pos="164" userDrawn="1">
          <p15:clr>
            <a:srgbClr val="A4A3A4"/>
          </p15:clr>
        </p15:guide>
        <p15:guide id="6" pos="776" userDrawn="1">
          <p15:clr>
            <a:srgbClr val="A4A3A4"/>
          </p15:clr>
        </p15:guide>
        <p15:guide id="7" pos="5460" userDrawn="1">
          <p15:clr>
            <a:srgbClr val="A4A3A4"/>
          </p15:clr>
        </p15:guide>
        <p15:guide id="8" orient="horz" pos="2160" userDrawn="1">
          <p15:clr>
            <a:srgbClr val="A4A3A4"/>
          </p15:clr>
        </p15:guide>
        <p15:guide id="9" orient="horz" userDrawn="1">
          <p15:clr>
            <a:srgbClr val="A4A3A4"/>
          </p15:clr>
        </p15:guide>
        <p15:guide id="10" pos="171" userDrawn="1">
          <p15:clr>
            <a:srgbClr val="A4A3A4"/>
          </p15:clr>
        </p15:guide>
        <p15:guide id="11" userDrawn="1">
          <p15:clr>
            <a:srgbClr val="A4A3A4"/>
          </p15:clr>
        </p15:guide>
        <p15:guide id="12" pos="6239" userDrawn="1">
          <p15:clr>
            <a:srgbClr val="A4A3A4"/>
          </p15:clr>
        </p15:guide>
        <p15:guide id="13" pos="606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oGo" initials="G" lastIdx="3" clrIdx="0">
    <p:extLst>
      <p:ext uri="{19B8F6BF-5375-455C-9EA6-DF929625EA0E}">
        <p15:presenceInfo xmlns:p15="http://schemas.microsoft.com/office/powerpoint/2012/main" userId="GoG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0000"/>
    <a:srgbClr val="0070C0"/>
    <a:srgbClr val="CBEAC0"/>
    <a:srgbClr val="FFFF00"/>
    <a:srgbClr val="91C6F7"/>
    <a:srgbClr val="00B0F0"/>
    <a:srgbClr val="FF3300"/>
    <a:srgbClr val="009999"/>
    <a:srgbClr val="FF9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37" autoAdjust="0"/>
    <p:restoredTop sz="95082" autoAdjust="0"/>
  </p:normalViewPr>
  <p:slideViewPr>
    <p:cSldViewPr>
      <p:cViewPr>
        <p:scale>
          <a:sx n="150" d="100"/>
          <a:sy n="150" d="100"/>
        </p:scale>
        <p:origin x="1986" y="432"/>
      </p:cViewPr>
      <p:guideLst>
        <p:guide pos="3120"/>
        <p:guide orient="horz" pos="164"/>
        <p:guide pos="776"/>
        <p:guide pos="5460"/>
        <p:guide orient="horz" pos="2160"/>
        <p:guide orient="horz"/>
        <p:guide pos="171"/>
        <p:guide/>
        <p:guide pos="6239"/>
        <p:guide pos="6069"/>
      </p:guideLst>
    </p:cSldViewPr>
  </p:slideViewPr>
  <p:outlineViewPr>
    <p:cViewPr>
      <p:scale>
        <a:sx n="33" d="100"/>
        <a:sy n="33" d="100"/>
      </p:scale>
      <p:origin x="54" y="332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howGuides="1">
      <p:cViewPr varScale="1">
        <p:scale>
          <a:sx n="88" d="100"/>
          <a:sy n="88" d="100"/>
        </p:scale>
        <p:origin x="-3786" y="-12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6E13BF-BFFB-42BB-BB59-2242504D84BC}" type="datetimeFigureOut">
              <a:rPr lang="ko-KR" altLang="en-US" smtClean="0"/>
              <a:pPr/>
              <a:t>2020-03-12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D9ECC-A8B4-4BFB-9F52-FEFED605C5D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5308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1254B-8964-4F57-BA27-567E03392278}" type="datetimeFigureOut">
              <a:rPr lang="ko-KR" altLang="en-US" smtClean="0"/>
              <a:pPr/>
              <a:t>2020-03-12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8D633-98C0-43FF-9CFA-EF9A4754A8E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52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8D633-98C0-43FF-9CFA-EF9A4754A8E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324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1" r="-340"/>
          <a:stretch/>
        </p:blipFill>
        <p:spPr>
          <a:xfrm>
            <a:off x="4664968" y="3284984"/>
            <a:ext cx="5241032" cy="3024336"/>
          </a:xfrm>
          <a:prstGeom prst="rect">
            <a:avLst/>
          </a:prstGeom>
        </p:spPr>
      </p:pic>
      <p:sp>
        <p:nvSpPr>
          <p:cNvPr id="12" name="텍스트 개체 틀 9"/>
          <p:cNvSpPr>
            <a:spLocks noGrp="1"/>
          </p:cNvSpPr>
          <p:nvPr>
            <p:ph type="body" sz="quarter" idx="16" hasCustomPrompt="1"/>
          </p:nvPr>
        </p:nvSpPr>
        <p:spPr>
          <a:xfrm>
            <a:off x="272481" y="1737611"/>
            <a:ext cx="6396711" cy="67710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altLang="en-US" sz="4400" b="1" dirty="0" smtClean="0">
                <a:ln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8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72481" y="2911891"/>
            <a:ext cx="6396711" cy="1813253"/>
          </a:xfrm>
        </p:spPr>
        <p:txBody>
          <a:bodyPr>
            <a:noAutofit/>
          </a:bodyPr>
          <a:lstStyle>
            <a:lvl1pPr marL="0" indent="0" algn="l">
              <a:buNone/>
              <a:defRPr sz="2000" b="1" baseline="0">
                <a:ln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95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4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6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/>
              <a:t>SUBTITLE</a:t>
            </a:r>
          </a:p>
        </p:txBody>
      </p:sp>
      <p:pic>
        <p:nvPicPr>
          <p:cNvPr id="10" name="Picture 2" descr="C:\Users\Eui-Jik\Pictures\한림대 영문로고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09383" y="102762"/>
            <a:ext cx="1390465" cy="490075"/>
          </a:xfrm>
          <a:prstGeom prst="rect">
            <a:avLst/>
          </a:prstGeom>
          <a:noFill/>
        </p:spPr>
      </p:pic>
      <p:pic>
        <p:nvPicPr>
          <p:cNvPr id="11" name="Picture 3" descr="C:\Users\Eui-Jik\Google 드라이브\개인\CIC LAB\lab_logo.jpg"/>
          <p:cNvPicPr>
            <a:picLocks noChangeAspect="1" noChangeArrowheads="1"/>
          </p:cNvPicPr>
          <p:nvPr userDrawn="1"/>
        </p:nvPicPr>
        <p:blipFill rotWithShape="1">
          <a:blip r:embed="rId4" cstate="print"/>
          <a:srcRect r="50872"/>
          <a:stretch/>
        </p:blipFill>
        <p:spPr bwMode="auto">
          <a:xfrm>
            <a:off x="3941887" y="6044538"/>
            <a:ext cx="2379265" cy="804766"/>
          </a:xfrm>
          <a:prstGeom prst="rect">
            <a:avLst/>
          </a:prstGeom>
          <a:noFill/>
        </p:spPr>
      </p:pic>
      <p:grpSp>
        <p:nvGrpSpPr>
          <p:cNvPr id="25" name="그룹 24"/>
          <p:cNvGrpSpPr/>
          <p:nvPr userDrawn="1"/>
        </p:nvGrpSpPr>
        <p:grpSpPr>
          <a:xfrm flipV="1">
            <a:off x="0" y="2636912"/>
            <a:ext cx="9906000" cy="72008"/>
            <a:chOff x="0" y="6453336"/>
            <a:chExt cx="9906000" cy="46156"/>
          </a:xfrm>
        </p:grpSpPr>
        <p:sp>
          <p:nvSpPr>
            <p:cNvPr id="26" name="직사각형 25"/>
            <p:cNvSpPr/>
            <p:nvPr userDrawn="1"/>
          </p:nvSpPr>
          <p:spPr>
            <a:xfrm>
              <a:off x="1239688" y="6453336"/>
              <a:ext cx="8666312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/>
            <p:cNvSpPr/>
            <p:nvPr userDrawn="1"/>
          </p:nvSpPr>
          <p:spPr>
            <a:xfrm>
              <a:off x="0" y="6453773"/>
              <a:ext cx="1818446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434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774">
          <p15:clr>
            <a:srgbClr val="FBAE40"/>
          </p15:clr>
        </p15:guide>
        <p15:guide id="4" pos="54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내용 개체 틀 2"/>
          <p:cNvSpPr>
            <a:spLocks noGrp="1"/>
          </p:cNvSpPr>
          <p:nvPr>
            <p:ph idx="1"/>
          </p:nvPr>
        </p:nvSpPr>
        <p:spPr>
          <a:xfrm>
            <a:off x="144000" y="908720"/>
            <a:ext cx="9601200" cy="5328592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defRPr sz="2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1" r="-340"/>
          <a:stretch/>
        </p:blipFill>
        <p:spPr>
          <a:xfrm>
            <a:off x="4664968" y="3284984"/>
            <a:ext cx="5241032" cy="3024336"/>
          </a:xfrm>
          <a:prstGeom prst="rect">
            <a:avLst/>
          </a:prstGeom>
        </p:spPr>
      </p:pic>
      <p:sp>
        <p:nvSpPr>
          <p:cNvPr id="20" name="텍스트 개체 틀 6"/>
          <p:cNvSpPr>
            <a:spLocks noGrp="1"/>
          </p:cNvSpPr>
          <p:nvPr>
            <p:ph type="body" sz="quarter" idx="13" hasCustomPrompt="1"/>
          </p:nvPr>
        </p:nvSpPr>
        <p:spPr>
          <a:xfrm>
            <a:off x="143170" y="144000"/>
            <a:ext cx="6538022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4000" b="1" baseline="0">
                <a:ln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22" name="슬라이드 번호 개체 틀 21"/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>
            <a:lvl1pPr algn="ctr">
              <a:defRPr baseline="0">
                <a:latin typeface="Arial" pitchFamily="34" charset="0"/>
                <a:ea typeface="맑은 고딕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7" name="그룹 26"/>
          <p:cNvGrpSpPr/>
          <p:nvPr userDrawn="1"/>
        </p:nvGrpSpPr>
        <p:grpSpPr>
          <a:xfrm flipV="1">
            <a:off x="0" y="692696"/>
            <a:ext cx="9906000" cy="72008"/>
            <a:chOff x="0" y="6453336"/>
            <a:chExt cx="9906000" cy="46156"/>
          </a:xfrm>
        </p:grpSpPr>
        <p:sp>
          <p:nvSpPr>
            <p:cNvPr id="28" name="직사각형 27"/>
            <p:cNvSpPr/>
            <p:nvPr userDrawn="1"/>
          </p:nvSpPr>
          <p:spPr>
            <a:xfrm>
              <a:off x="1239688" y="6453336"/>
              <a:ext cx="8666312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0" y="6453773"/>
              <a:ext cx="1818446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09567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774">
          <p15:clr>
            <a:srgbClr val="FBAE40"/>
          </p15:clr>
        </p15:guide>
        <p15:guide id="4" pos="54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참조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/>
              <a:t>Reference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144000" y="908720"/>
            <a:ext cx="9601200" cy="5328592"/>
          </a:xfrm>
        </p:spPr>
        <p:txBody>
          <a:bodyPr>
            <a:normAutofit/>
          </a:bodyPr>
          <a:lstStyle>
            <a:lvl1pPr marL="514350" indent="-51435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Tx/>
              <a:buNone/>
              <a:defRPr sz="20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819150" indent="-45720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Tx/>
              <a:buNone/>
              <a:tabLst>
                <a:tab pos="542925" algn="l"/>
              </a:tabLst>
              <a:defRPr sz="24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1000125" indent="-45720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Tx/>
              <a:buNone/>
              <a:defRPr sz="20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238250" indent="-34290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Tx/>
              <a:buNone/>
              <a:defRPr sz="1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419225" indent="-34290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Tx/>
              <a:buNone/>
              <a:defRPr sz="1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grpSp>
        <p:nvGrpSpPr>
          <p:cNvPr id="5" name="그룹 4"/>
          <p:cNvGrpSpPr/>
          <p:nvPr userDrawn="1"/>
        </p:nvGrpSpPr>
        <p:grpSpPr>
          <a:xfrm flipV="1">
            <a:off x="0" y="692696"/>
            <a:ext cx="9906000" cy="72008"/>
            <a:chOff x="0" y="6453336"/>
            <a:chExt cx="9906000" cy="46156"/>
          </a:xfrm>
        </p:grpSpPr>
        <p:sp>
          <p:nvSpPr>
            <p:cNvPr id="6" name="직사각형 5"/>
            <p:cNvSpPr/>
            <p:nvPr userDrawn="1"/>
          </p:nvSpPr>
          <p:spPr>
            <a:xfrm>
              <a:off x="1239688" y="6453336"/>
              <a:ext cx="8666312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 userDrawn="1"/>
          </p:nvSpPr>
          <p:spPr>
            <a:xfrm>
              <a:off x="0" y="6453773"/>
              <a:ext cx="1818446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종료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1" r="-340"/>
          <a:stretch/>
        </p:blipFill>
        <p:spPr>
          <a:xfrm>
            <a:off x="4664968" y="3284984"/>
            <a:ext cx="5241032" cy="3024336"/>
          </a:xfrm>
          <a:prstGeom prst="rect">
            <a:avLst/>
          </a:prstGeom>
        </p:spPr>
      </p:pic>
      <p:pic>
        <p:nvPicPr>
          <p:cNvPr id="7" name="Picture 2" descr="C:\Users\Eui-Jik\Pictures\한림대 영문로고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09383" y="102762"/>
            <a:ext cx="1390465" cy="490075"/>
          </a:xfrm>
          <a:prstGeom prst="rect">
            <a:avLst/>
          </a:prstGeom>
          <a:noFill/>
        </p:spPr>
      </p:pic>
      <p:pic>
        <p:nvPicPr>
          <p:cNvPr id="8" name="Picture 3" descr="C:\Users\Eui-Jik\Google 드라이브\개인\CIC LAB\lab_logo.jpg"/>
          <p:cNvPicPr>
            <a:picLocks noChangeAspect="1" noChangeArrowheads="1"/>
          </p:cNvPicPr>
          <p:nvPr userDrawn="1"/>
        </p:nvPicPr>
        <p:blipFill rotWithShape="1">
          <a:blip r:embed="rId4" cstate="print"/>
          <a:srcRect r="50872"/>
          <a:stretch/>
        </p:blipFill>
        <p:spPr bwMode="auto">
          <a:xfrm>
            <a:off x="3447371" y="5877272"/>
            <a:ext cx="2873782" cy="972032"/>
          </a:xfrm>
          <a:prstGeom prst="rect">
            <a:avLst/>
          </a:prstGeom>
          <a:noFill/>
        </p:spPr>
      </p:pic>
      <p:grpSp>
        <p:nvGrpSpPr>
          <p:cNvPr id="16" name="그룹 15"/>
          <p:cNvGrpSpPr/>
          <p:nvPr userDrawn="1"/>
        </p:nvGrpSpPr>
        <p:grpSpPr>
          <a:xfrm>
            <a:off x="3129424" y="2780928"/>
            <a:ext cx="3647152" cy="1008112"/>
            <a:chOff x="3129424" y="2708920"/>
            <a:chExt cx="3647152" cy="1008112"/>
          </a:xfrm>
        </p:grpSpPr>
        <p:sp>
          <p:nvSpPr>
            <p:cNvPr id="2" name="TextBox 1"/>
            <p:cNvSpPr txBox="1"/>
            <p:nvPr userDrawn="1"/>
          </p:nvSpPr>
          <p:spPr>
            <a:xfrm>
              <a:off x="3129424" y="2708920"/>
              <a:ext cx="364715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400" b="1" dirty="0">
                  <a:ln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Thank you</a:t>
              </a:r>
              <a:endParaRPr lang="ko-KR" altLang="en-US" sz="5400" b="1" dirty="0">
                <a:ln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9" name="그룹 8"/>
            <p:cNvGrpSpPr/>
            <p:nvPr userDrawn="1"/>
          </p:nvGrpSpPr>
          <p:grpSpPr>
            <a:xfrm flipV="1">
              <a:off x="3188804" y="3645024"/>
              <a:ext cx="3528392" cy="72008"/>
              <a:chOff x="0" y="6453336"/>
              <a:chExt cx="9906000" cy="46156"/>
            </a:xfrm>
          </p:grpSpPr>
          <p:sp>
            <p:nvSpPr>
              <p:cNvPr id="10" name="직사각형 9"/>
              <p:cNvSpPr/>
              <p:nvPr userDrawn="1"/>
            </p:nvSpPr>
            <p:spPr>
              <a:xfrm>
                <a:off x="1239688" y="6453336"/>
                <a:ext cx="8666312" cy="4571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/>
              <p:cNvSpPr/>
              <p:nvPr userDrawn="1"/>
            </p:nvSpPr>
            <p:spPr>
              <a:xfrm>
                <a:off x="0" y="6453773"/>
                <a:ext cx="1818446" cy="45719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53157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774">
          <p15:clr>
            <a:srgbClr val="FBAE40"/>
          </p15:clr>
        </p15:guide>
        <p15:guide id="4" pos="54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내용 개체 틀 2"/>
          <p:cNvSpPr>
            <a:spLocks noGrp="1"/>
          </p:cNvSpPr>
          <p:nvPr>
            <p:ph idx="1"/>
          </p:nvPr>
        </p:nvSpPr>
        <p:spPr>
          <a:xfrm>
            <a:off x="144000" y="908720"/>
            <a:ext cx="9601200" cy="5328592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defRPr sz="2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7" name="슬라이드 번호 개체 틀 21"/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>
            <a:lvl1pPr algn="ctr">
              <a:defRPr baseline="0">
                <a:latin typeface="Arial" pitchFamily="34" charset="0"/>
                <a:ea typeface="맑은 고딕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텍스트 개체 틀 6"/>
          <p:cNvSpPr>
            <a:spLocks noGrp="1"/>
          </p:cNvSpPr>
          <p:nvPr>
            <p:ph type="body" sz="quarter" idx="13" hasCustomPrompt="1"/>
          </p:nvPr>
        </p:nvSpPr>
        <p:spPr>
          <a:xfrm>
            <a:off x="143170" y="144000"/>
            <a:ext cx="6538022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4000" b="1" baseline="0">
                <a:ln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SLIDE MAIN TITLE</a:t>
            </a:r>
            <a:endParaRPr lang="ko-KR" altLang="en-US" dirty="0"/>
          </a:p>
        </p:txBody>
      </p:sp>
      <p:grpSp>
        <p:nvGrpSpPr>
          <p:cNvPr id="31" name="그룹 30"/>
          <p:cNvGrpSpPr/>
          <p:nvPr userDrawn="1"/>
        </p:nvGrpSpPr>
        <p:grpSpPr>
          <a:xfrm flipV="1">
            <a:off x="0" y="692696"/>
            <a:ext cx="9906000" cy="72008"/>
            <a:chOff x="0" y="6453336"/>
            <a:chExt cx="9906000" cy="46156"/>
          </a:xfrm>
        </p:grpSpPr>
        <p:sp>
          <p:nvSpPr>
            <p:cNvPr id="32" name="직사각형 31"/>
            <p:cNvSpPr/>
            <p:nvPr userDrawn="1"/>
          </p:nvSpPr>
          <p:spPr>
            <a:xfrm>
              <a:off x="1239688" y="6453336"/>
              <a:ext cx="8666312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/>
            <p:cNvSpPr/>
            <p:nvPr userDrawn="1"/>
          </p:nvSpPr>
          <p:spPr>
            <a:xfrm>
              <a:off x="0" y="6453773"/>
              <a:ext cx="1818446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426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774">
          <p15:clr>
            <a:srgbClr val="FBAE40"/>
          </p15:clr>
        </p15:guide>
        <p15:guide id="4" pos="54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000" y="144000"/>
            <a:ext cx="6537600" cy="554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lv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000" y="907200"/>
            <a:ext cx="9601200" cy="532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38575" y="6520259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ln>
                  <a:solidFill>
                    <a:schemeClr val="bg1">
                      <a:lumMod val="65000"/>
                      <a:alpha val="5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68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3" r:id="rId3"/>
    <p:sldLayoutId id="2147483782" r:id="rId4"/>
    <p:sldLayoutId id="2147483784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en-US" altLang="ko-KR" sz="4000" b="1" kern="1200" baseline="0" dirty="0">
          <a:ln>
            <a:solidFill>
              <a:schemeClr val="tx1">
                <a:lumMod val="75000"/>
                <a:lumOff val="25000"/>
                <a:alpha val="50000"/>
              </a:schemeClr>
            </a:solidFill>
          </a:ln>
          <a:solidFill>
            <a:schemeClr val="tx1">
              <a:lumMod val="75000"/>
              <a:lumOff val="25000"/>
            </a:schemeClr>
          </a:solidFill>
          <a:effectLst/>
          <a:latin typeface="Arial" pitchFamily="34" charset="0"/>
          <a:ea typeface="맑은 고딕" pitchFamily="50" charset="-127"/>
          <a:cs typeface="Arial" pitchFamily="34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ln>
            <a:solidFill>
              <a:schemeClr val="tx1">
                <a:alpha val="50000"/>
              </a:schemeClr>
            </a:solidFill>
          </a:ln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ln>
            <a:solidFill>
              <a:schemeClr val="tx1">
                <a:alpha val="50000"/>
              </a:schemeClr>
            </a:solidFill>
          </a:ln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ln>
            <a:solidFill>
              <a:schemeClr val="tx1">
                <a:alpha val="50000"/>
              </a:schemeClr>
            </a:solidFill>
          </a:ln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ln>
            <a:solidFill>
              <a:schemeClr val="tx1">
                <a:alpha val="50000"/>
              </a:schemeClr>
            </a:solidFill>
          </a:ln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ln>
            <a:solidFill>
              <a:schemeClr val="tx1">
                <a:alpha val="50000"/>
              </a:schemeClr>
            </a:solidFill>
          </a:ln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6"/>
          </p:nvPr>
        </p:nvSpPr>
        <p:spPr>
          <a:xfrm>
            <a:off x="272481" y="2066209"/>
            <a:ext cx="9361039" cy="56650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chemeClr val="tx1"/>
                </a:solidFill>
              </a:rPr>
              <a:t>IEEE 802.11 Simulation</a:t>
            </a:r>
          </a:p>
        </p:txBody>
      </p:sp>
      <p:sp>
        <p:nvSpPr>
          <p:cNvPr id="7" name="부제목 6"/>
          <p:cNvSpPr>
            <a:spLocks noGrp="1"/>
          </p:cNvSpPr>
          <p:nvPr>
            <p:ph type="subTitle" idx="1"/>
          </p:nvPr>
        </p:nvSpPr>
        <p:spPr>
          <a:xfrm>
            <a:off x="272481" y="2911891"/>
            <a:ext cx="6396711" cy="1741245"/>
          </a:xfrm>
        </p:spPr>
        <p:txBody>
          <a:bodyPr/>
          <a:lstStyle/>
          <a:p>
            <a:r>
              <a:rPr lang="en-US" altLang="ko-KR" sz="2000" dirty="0">
                <a:solidFill>
                  <a:schemeClr val="bg2">
                    <a:lumMod val="10000"/>
                  </a:schemeClr>
                </a:solidFill>
              </a:rPr>
              <a:t>2020</a:t>
            </a:r>
            <a:r>
              <a:rPr lang="ko-KR" altLang="en-US" sz="2000" dirty="0">
                <a:solidFill>
                  <a:schemeClr val="bg2">
                    <a:lumMod val="10000"/>
                  </a:schemeClr>
                </a:solidFill>
              </a:rPr>
              <a:t>년 </a:t>
            </a:r>
            <a:r>
              <a:rPr lang="en-US" altLang="ko-KR" sz="2000" dirty="0">
                <a:solidFill>
                  <a:schemeClr val="bg2">
                    <a:lumMod val="10000"/>
                  </a:schemeClr>
                </a:solidFill>
              </a:rPr>
              <a:t>03</a:t>
            </a:r>
            <a:r>
              <a:rPr lang="ko-KR" altLang="en-US" sz="2000" dirty="0">
                <a:solidFill>
                  <a:schemeClr val="bg2">
                    <a:lumMod val="10000"/>
                  </a:schemeClr>
                </a:solidFill>
              </a:rPr>
              <a:t>월 </a:t>
            </a:r>
            <a:r>
              <a:rPr lang="en-US" altLang="ko-KR" sz="2000">
                <a:solidFill>
                  <a:schemeClr val="bg2">
                    <a:lumMod val="10000"/>
                  </a:schemeClr>
                </a:solidFill>
              </a:rPr>
              <a:t>13</a:t>
            </a:r>
            <a:r>
              <a:rPr lang="ko-KR" altLang="en-US">
                <a:solidFill>
                  <a:schemeClr val="bg2">
                    <a:lumMod val="10000"/>
                  </a:schemeClr>
                </a:solidFill>
              </a:rPr>
              <a:t>일</a:t>
            </a:r>
            <a:endParaRPr lang="en-US" altLang="ko-KR" sz="2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altLang="ko-KR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Go, Ha-Na</a:t>
            </a:r>
          </a:p>
          <a:p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20175301@hallym.ac.kr</a:t>
            </a:r>
          </a:p>
        </p:txBody>
      </p:sp>
    </p:spTree>
    <p:extLst>
      <p:ext uri="{BB962C8B-B14F-4D97-AF65-F5344CB8AC3E}">
        <p14:creationId xmlns:p14="http://schemas.microsoft.com/office/powerpoint/2010/main" val="2943523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idx="1"/>
          </p:nvPr>
        </p:nvSpPr>
        <p:spPr>
          <a:xfrm>
            <a:off x="152400" y="836712"/>
            <a:ext cx="9601200" cy="53285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IEEE 802.11 Simulation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Future Work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88FB660-CAAA-403E-A2EA-0F19776BEC08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861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3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5" name="텍스트 개체 틀 1">
            <a:extLst>
              <a:ext uri="{FF2B5EF4-FFF2-40B4-BE49-F238E27FC236}">
                <a16:creationId xmlns:a16="http://schemas.microsoft.com/office/drawing/2014/main" id="{9E9000C7-D7EF-48BD-BB99-E11EB949CA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762830" cy="553998"/>
          </a:xfrm>
        </p:spPr>
        <p:txBody>
          <a:bodyPr/>
          <a:lstStyle/>
          <a:p>
            <a:r>
              <a:rPr lang="en-US" altLang="ko-KR" dirty="0"/>
              <a:t>IEEE 802.11 Simulation</a:t>
            </a:r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6E704908-3E65-4C92-AA2F-3F437B4EC41D}"/>
              </a:ext>
            </a:extLst>
          </p:cNvPr>
          <p:cNvSpPr txBox="1">
            <a:spLocks/>
          </p:cNvSpPr>
          <p:nvPr/>
        </p:nvSpPr>
        <p:spPr>
          <a:xfrm>
            <a:off x="152400" y="836712"/>
            <a:ext cx="96012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IEEE 802.11 CSMA/CA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동작 순서</a:t>
            </a:r>
            <a:endParaRPr lang="en-US" altLang="ko-KR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000125" lvl="2" indent="-457200">
              <a:buFont typeface="+mj-ea"/>
              <a:buAutoNum type="circleNumDbPlain"/>
            </a:pPr>
            <a:r>
              <a:rPr lang="ko-KR" altLang="en-US" sz="1600" dirty="0"/>
              <a:t>일정 시간</a:t>
            </a:r>
            <a:r>
              <a:rPr lang="en-US" altLang="ko-KR" sz="1600" dirty="0"/>
              <a:t>(IFS)</a:t>
            </a:r>
            <a:r>
              <a:rPr lang="ko-KR" altLang="en-US" sz="1600" dirty="0"/>
              <a:t> 대기</a:t>
            </a:r>
            <a:endParaRPr lang="en-US" altLang="ko-KR" sz="1600" dirty="0"/>
          </a:p>
          <a:p>
            <a:pPr marL="1000125" lvl="2" indent="-457200">
              <a:buFont typeface="+mj-ea"/>
              <a:buAutoNum type="circleNumDbPlain"/>
            </a:pPr>
            <a:r>
              <a:rPr lang="ko-KR" altLang="en-US" sz="1600" dirty="0"/>
              <a:t>채널의 </a:t>
            </a:r>
            <a:r>
              <a:rPr lang="en-US" altLang="ko-KR" sz="1600" dirty="0"/>
              <a:t>Idle</a:t>
            </a:r>
            <a:r>
              <a:rPr lang="ko-KR" altLang="en-US" sz="1600" dirty="0"/>
              <a:t> 여부 확인</a:t>
            </a:r>
            <a:endParaRPr lang="en-US" altLang="ko-KR" sz="1600" dirty="0"/>
          </a:p>
          <a:p>
            <a:pPr marL="1000125" lvl="2" indent="-457200">
              <a:buFont typeface="+mj-ea"/>
              <a:buAutoNum type="circleNumDbPlain"/>
            </a:pPr>
            <a:r>
              <a:rPr lang="ko-KR" altLang="en-US" sz="1600" spc="-100" dirty="0"/>
              <a:t>매체를 접근을 위한 경쟁</a:t>
            </a:r>
            <a:endParaRPr lang="en-US" altLang="ko-KR" sz="1600" spc="-100" dirty="0"/>
          </a:p>
          <a:p>
            <a:pPr marL="1000125" lvl="2" indent="-457200">
              <a:buFont typeface="+mj-ea"/>
              <a:buAutoNum type="circleNumDbPlain"/>
            </a:pPr>
            <a:r>
              <a:rPr lang="ko-KR" altLang="en-US" sz="1600" spc="-100" dirty="0"/>
              <a:t>패킷 전송 </a:t>
            </a:r>
            <a:r>
              <a:rPr lang="en-US" altLang="ko-KR" sz="1600" spc="-100" dirty="0"/>
              <a:t>(</a:t>
            </a:r>
            <a:r>
              <a:rPr lang="ko-KR" altLang="en-US" sz="1600" spc="-100" dirty="0"/>
              <a:t>충돌 발생시 </a:t>
            </a:r>
            <a:r>
              <a:rPr lang="en-US" altLang="ko-KR" sz="1600" spc="-100" dirty="0"/>
              <a:t>1</a:t>
            </a:r>
            <a:r>
              <a:rPr lang="ko-KR" altLang="en-US" sz="1600" spc="-100" dirty="0"/>
              <a:t>번부터 반복</a:t>
            </a:r>
            <a:r>
              <a:rPr lang="en-US" altLang="ko-KR" sz="1600" spc="-100" dirty="0"/>
              <a:t>)</a:t>
            </a:r>
          </a:p>
          <a:p>
            <a:pPr>
              <a:lnSpc>
                <a:spcPct val="150000"/>
              </a:lnSpc>
            </a:pPr>
            <a:endParaRPr lang="ko-KR" altLang="en-US" sz="2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ko-KR" alt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BBBBF42-73DA-48F7-8ACD-8B3D96FB47B0}"/>
              </a:ext>
            </a:extLst>
          </p:cNvPr>
          <p:cNvGrpSpPr/>
          <p:nvPr/>
        </p:nvGrpSpPr>
        <p:grpSpPr>
          <a:xfrm>
            <a:off x="1547742" y="3140968"/>
            <a:ext cx="6861536" cy="2299441"/>
            <a:chOff x="801770" y="3665710"/>
            <a:chExt cx="8302459" cy="27823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C266387-DB25-46E3-B8D6-92FD0021F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1770" y="3665710"/>
              <a:ext cx="8302459" cy="2782324"/>
            </a:xfrm>
            <a:prstGeom prst="rect">
              <a:avLst/>
            </a:prstGeom>
          </p:spPr>
        </p:pic>
        <p:sp>
          <p:nvSpPr>
            <p:cNvPr id="8" name="모서리가 둥근 직사각형 6">
              <a:extLst>
                <a:ext uri="{FF2B5EF4-FFF2-40B4-BE49-F238E27FC236}">
                  <a16:creationId xmlns:a16="http://schemas.microsoft.com/office/drawing/2014/main" id="{2294D61B-4E07-46D3-99B5-2F69FD0F4033}"/>
                </a:ext>
              </a:extLst>
            </p:cNvPr>
            <p:cNvSpPr/>
            <p:nvPr/>
          </p:nvSpPr>
          <p:spPr>
            <a:xfrm>
              <a:off x="1327088" y="4112550"/>
              <a:ext cx="896723" cy="1161419"/>
            </a:xfrm>
            <a:prstGeom prst="roundRect">
              <a:avLst/>
            </a:prstGeom>
            <a:solidFill>
              <a:srgbClr val="FFC000">
                <a:alpha val="30196"/>
              </a:srgb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BC4834-8367-4EA4-92E8-2F176955CEF3}"/>
                </a:ext>
              </a:extLst>
            </p:cNvPr>
            <p:cNvSpPr txBox="1"/>
            <p:nvPr/>
          </p:nvSpPr>
          <p:spPr>
            <a:xfrm>
              <a:off x="2226052" y="4457798"/>
              <a:ext cx="3251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47282B9-1449-499B-8D41-1C6B42E27F69}"/>
                </a:ext>
              </a:extLst>
            </p:cNvPr>
            <p:cNvSpPr txBox="1"/>
            <p:nvPr/>
          </p:nvSpPr>
          <p:spPr>
            <a:xfrm>
              <a:off x="969399" y="4025750"/>
              <a:ext cx="3576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11" name="모서리가 둥근 직사각형 12">
              <a:extLst>
                <a:ext uri="{FF2B5EF4-FFF2-40B4-BE49-F238E27FC236}">
                  <a16:creationId xmlns:a16="http://schemas.microsoft.com/office/drawing/2014/main" id="{7261484C-0F18-4166-BA80-ED7152D2B3FC}"/>
                </a:ext>
              </a:extLst>
            </p:cNvPr>
            <p:cNvSpPr/>
            <p:nvPr/>
          </p:nvSpPr>
          <p:spPr>
            <a:xfrm>
              <a:off x="2223812" y="4793798"/>
              <a:ext cx="1631144" cy="480172"/>
            </a:xfrm>
            <a:prstGeom prst="roundRect">
              <a:avLst/>
            </a:prstGeom>
            <a:solidFill>
              <a:srgbClr val="92D050">
                <a:alpha val="40000"/>
              </a:srgb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모서리가 둥근 직사각형 14">
              <a:extLst>
                <a:ext uri="{FF2B5EF4-FFF2-40B4-BE49-F238E27FC236}">
                  <a16:creationId xmlns:a16="http://schemas.microsoft.com/office/drawing/2014/main" id="{63AE15DA-F8F4-464F-B716-D6E2B479566E}"/>
                </a:ext>
              </a:extLst>
            </p:cNvPr>
            <p:cNvSpPr/>
            <p:nvPr/>
          </p:nvSpPr>
          <p:spPr>
            <a:xfrm>
              <a:off x="3857190" y="4112550"/>
              <a:ext cx="934821" cy="1161419"/>
            </a:xfrm>
            <a:prstGeom prst="roundRect">
              <a:avLst/>
            </a:prstGeom>
            <a:solidFill>
              <a:srgbClr val="FFC000">
                <a:alpha val="30196"/>
              </a:srgb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C621953-F963-4469-AEB3-889130878341}"/>
                </a:ext>
              </a:extLst>
            </p:cNvPr>
            <p:cNvSpPr txBox="1"/>
            <p:nvPr/>
          </p:nvSpPr>
          <p:spPr>
            <a:xfrm>
              <a:off x="3559337" y="4019299"/>
              <a:ext cx="2956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14" name="모서리가 둥근 직사각형 16">
              <a:extLst>
                <a:ext uri="{FF2B5EF4-FFF2-40B4-BE49-F238E27FC236}">
                  <a16:creationId xmlns:a16="http://schemas.microsoft.com/office/drawing/2014/main" id="{39265FC4-855C-40AB-8D4D-D909461BC90C}"/>
                </a:ext>
              </a:extLst>
            </p:cNvPr>
            <p:cNvSpPr/>
            <p:nvPr/>
          </p:nvSpPr>
          <p:spPr>
            <a:xfrm>
              <a:off x="4774675" y="4793797"/>
              <a:ext cx="2587089" cy="480172"/>
            </a:xfrm>
            <a:prstGeom prst="roundRect">
              <a:avLst/>
            </a:prstGeom>
            <a:solidFill>
              <a:srgbClr val="91C6F7">
                <a:alpha val="40000"/>
              </a:srgb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E665CAB-9A82-4B8F-B98A-0000E41036AA}"/>
                </a:ext>
              </a:extLst>
            </p:cNvPr>
            <p:cNvSpPr/>
            <p:nvPr/>
          </p:nvSpPr>
          <p:spPr>
            <a:xfrm>
              <a:off x="4779679" y="4457798"/>
              <a:ext cx="41549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FF0000"/>
                  </a:solidFill>
                </a:rPr>
                <a:t>③</a:t>
              </a:r>
            </a:p>
          </p:txBody>
        </p:sp>
        <p:sp>
          <p:nvSpPr>
            <p:cNvPr id="16" name="모서리가 둥근 직사각형 16">
              <a:extLst>
                <a:ext uri="{FF2B5EF4-FFF2-40B4-BE49-F238E27FC236}">
                  <a16:creationId xmlns:a16="http://schemas.microsoft.com/office/drawing/2014/main" id="{7C17B168-230D-4794-AB5B-5F616FC0EF63}"/>
                </a:ext>
              </a:extLst>
            </p:cNvPr>
            <p:cNvSpPr/>
            <p:nvPr/>
          </p:nvSpPr>
          <p:spPr>
            <a:xfrm>
              <a:off x="7361764" y="4793797"/>
              <a:ext cx="1526167" cy="480172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851D8A7-0B4B-4312-9ACD-07DF9EEDE94A}"/>
                </a:ext>
              </a:extLst>
            </p:cNvPr>
            <p:cNvSpPr/>
            <p:nvPr/>
          </p:nvSpPr>
          <p:spPr>
            <a:xfrm>
              <a:off x="7453924" y="4448506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FF0000"/>
                  </a:solidFill>
                </a:rPr>
                <a:t>④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1965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4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5" name="텍스트 개체 틀 1">
            <a:extLst>
              <a:ext uri="{FF2B5EF4-FFF2-40B4-BE49-F238E27FC236}">
                <a16:creationId xmlns:a16="http://schemas.microsoft.com/office/drawing/2014/main" id="{9E9000C7-D7EF-48BD-BB99-E11EB949CA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762830" cy="553998"/>
          </a:xfrm>
        </p:spPr>
        <p:txBody>
          <a:bodyPr/>
          <a:lstStyle/>
          <a:p>
            <a:r>
              <a:rPr lang="en-US" altLang="ko-KR" dirty="0"/>
              <a:t>IEEE 802.11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텍스트 개체 틀 2">
                <a:extLst>
                  <a:ext uri="{FF2B5EF4-FFF2-40B4-BE49-F238E27FC236}">
                    <a16:creationId xmlns:a16="http://schemas.microsoft.com/office/drawing/2014/main" id="{6E704908-3E65-4C92-AA2F-3F437B4EC4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2400" y="836712"/>
                <a:ext cx="9601200" cy="53285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66700" indent="-26670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Arial" panose="020B0604020202020204" pitchFamily="34" charset="0"/>
                  <a:buChar char="•"/>
                  <a:defRPr sz="2800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/>
                    </a:solidFill>
                    <a:latin typeface="Arial" pitchFamily="34" charset="0"/>
                    <a:ea typeface="맑은 고딕" pitchFamily="50" charset="-127"/>
                    <a:cs typeface="Arial" pitchFamily="34" charset="0"/>
                  </a:defRPr>
                </a:lvl1pPr>
                <a:lvl2pPr marL="622300" indent="-26035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함초롬돋움" panose="020B0504000101010101" pitchFamily="50" charset="-127"/>
                  <a:buChar char="—"/>
                  <a:tabLst>
                    <a:tab pos="542925" algn="l"/>
                  </a:tabLst>
                  <a:defRPr sz="2400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/>
                    </a:solidFill>
                    <a:latin typeface="Arial" pitchFamily="34" charset="0"/>
                    <a:ea typeface="맑은 고딕" pitchFamily="50" charset="-127"/>
                    <a:cs typeface="Arial" pitchFamily="34" charset="0"/>
                  </a:defRPr>
                </a:lvl2pPr>
                <a:lvl3pPr marL="812800" indent="-269875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Wingdings" panose="05000000000000000000" pitchFamily="2" charset="2"/>
                  <a:buChar char="ü"/>
                  <a:defRPr sz="2000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/>
                    </a:solidFill>
                    <a:latin typeface="Arial" pitchFamily="34" charset="0"/>
                    <a:ea typeface="맑은 고딕" pitchFamily="50" charset="-127"/>
                    <a:cs typeface="Arial" pitchFamily="34" charset="0"/>
                  </a:defRPr>
                </a:lvl3pPr>
                <a:lvl4pPr marL="1168400" indent="-27305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Wingdings" panose="05000000000000000000" pitchFamily="2" charset="2"/>
                  <a:buChar char="§"/>
                  <a:defRPr sz="1800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/>
                    </a:solidFill>
                    <a:latin typeface="Arial" pitchFamily="34" charset="0"/>
                    <a:ea typeface="맑은 고딕" pitchFamily="50" charset="-127"/>
                    <a:cs typeface="Arial" pitchFamily="34" charset="0"/>
                  </a:defRPr>
                </a:lvl4pPr>
                <a:lvl5pPr marL="1346200" indent="-269875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함초롬돋움" panose="020B0504000101010101" pitchFamily="50" charset="-127"/>
                  <a:buChar char="»"/>
                  <a:defRPr sz="1800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/>
                    </a:solidFill>
                    <a:latin typeface="Arial" pitchFamily="34" charset="0"/>
                    <a:ea typeface="맑은 고딕" pitchFamily="50" charset="-127"/>
                    <a:cs typeface="Arial" pitchFamily="34" charset="0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ko-KR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IEEE 802.11 CSMA/CA mechanism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Random Backoff Time</a:t>
                </a:r>
              </a:p>
              <a:p>
                <a:pPr lvl="2"/>
                <a:r>
                  <a:rPr lang="en-US" altLang="ko-KR" sz="1600" dirty="0"/>
                  <a:t>Contention Window (CW)</a:t>
                </a:r>
              </a:p>
              <a:p>
                <a:pPr lvl="3">
                  <a:buFont typeface="Wingdings" panose="05000000000000000000" pitchFamily="2" charset="2"/>
                  <a:buChar char="Ø"/>
                </a:pPr>
                <a:r>
                  <a:rPr lang="ko-KR" altLang="en-US" sz="1400" dirty="0"/>
                  <a:t>임의의 </a:t>
                </a:r>
                <a:r>
                  <a:rPr lang="en-US" altLang="ko-KR" sz="1400" dirty="0"/>
                  <a:t>slot</a:t>
                </a:r>
                <a:r>
                  <a:rPr lang="ko-KR" altLang="en-US" sz="1400" dirty="0"/>
                  <a:t>을 선택하고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각 </a:t>
                </a:r>
                <a:r>
                  <a:rPr lang="en-US" altLang="ko-KR" sz="1400" dirty="0"/>
                  <a:t>slot time</a:t>
                </a:r>
                <a:r>
                  <a:rPr lang="ko-KR" altLang="en-US" sz="1400" dirty="0"/>
                  <a:t>마다 </a:t>
                </a:r>
                <a:r>
                  <a:rPr lang="en-US" altLang="ko-KR" sz="1400" dirty="0"/>
                  <a:t>Carrier Sensing (CS)</a:t>
                </a:r>
                <a:r>
                  <a:rPr lang="ko-KR" altLang="en-US" sz="1400" dirty="0"/>
                  <a:t>을 수행함</a:t>
                </a:r>
                <a:endParaRPr lang="en-US" altLang="ko-KR" sz="1400" dirty="0"/>
              </a:p>
              <a:p>
                <a:pPr lvl="3">
                  <a:buFont typeface="Wingdings" panose="05000000000000000000" pitchFamily="2" charset="2"/>
                  <a:buChar char="Ø"/>
                </a:pPr>
                <a:r>
                  <a:rPr lang="en-US" altLang="ko-KR" sz="1400" dirty="0"/>
                  <a:t>CS</a:t>
                </a:r>
                <a:r>
                  <a:rPr lang="ko-KR" altLang="en-US" sz="1400" dirty="0"/>
                  <a:t>를 한번 수행했을 때</a:t>
                </a:r>
                <a:endParaRPr lang="en-US" altLang="ko-KR" sz="1400" dirty="0"/>
              </a:p>
              <a:p>
                <a:pPr lvl="4"/>
                <a:r>
                  <a:rPr lang="en-US" altLang="ko-KR" sz="1200" dirty="0"/>
                  <a:t>Busy </a:t>
                </a:r>
                <a:r>
                  <a:rPr lang="ko-KR" altLang="en-US" sz="1200" dirty="0"/>
                  <a:t>상태 </a:t>
                </a:r>
                <a:r>
                  <a:rPr lang="en-US" altLang="ko-KR" sz="1200" dirty="0"/>
                  <a:t>-</a:t>
                </a:r>
                <a:r>
                  <a:rPr lang="ko-KR" altLang="en-US" sz="1200" dirty="0"/>
                  <a:t> </a:t>
                </a:r>
                <a:r>
                  <a:rPr lang="en-US" altLang="ko-KR" sz="1200" dirty="0"/>
                  <a:t>Backoff </a:t>
                </a:r>
                <a:r>
                  <a:rPr lang="ko-KR" altLang="en-US" sz="1200" dirty="0"/>
                  <a:t>값을 유지함</a:t>
                </a:r>
                <a:endParaRPr lang="en-US" altLang="ko-KR" sz="1200" dirty="0"/>
              </a:p>
              <a:p>
                <a:pPr lvl="4"/>
                <a:r>
                  <a:rPr lang="en-US" altLang="ko-KR" sz="1200" dirty="0"/>
                  <a:t>Idle </a:t>
                </a:r>
                <a:r>
                  <a:rPr lang="ko-KR" altLang="en-US" sz="1200" dirty="0"/>
                  <a:t>상태 </a:t>
                </a:r>
                <a:r>
                  <a:rPr lang="en-US" altLang="ko-KR" sz="1200" dirty="0"/>
                  <a:t>-  Backoff </a:t>
                </a:r>
                <a:r>
                  <a:rPr lang="ko-KR" altLang="en-US" sz="1200" dirty="0"/>
                  <a:t>값을 하나 감소시킴</a:t>
                </a:r>
                <a:endParaRPr lang="en-US" altLang="ko-KR" sz="1200" dirty="0"/>
              </a:p>
              <a:p>
                <a:pPr lvl="3">
                  <a:buFont typeface="Wingdings" panose="05000000000000000000" pitchFamily="2" charset="2"/>
                  <a:buChar char="Ø"/>
                </a:pPr>
                <a:r>
                  <a:rPr lang="en-US" altLang="ko-KR" sz="1400" dirty="0"/>
                  <a:t>Binary Exponential Backoff</a:t>
                </a:r>
                <a:r>
                  <a:rPr lang="ko-KR" altLang="en-US" sz="1400" dirty="0"/>
                  <a:t>를</a:t>
                </a:r>
                <a:r>
                  <a:rPr lang="en-US" altLang="ko-KR" sz="1400" dirty="0"/>
                  <a:t> </a:t>
                </a:r>
                <a:r>
                  <a:rPr lang="ko-KR" altLang="en-US" sz="1400" dirty="0"/>
                  <a:t>통해 결정</a:t>
                </a:r>
                <a:endParaRPr lang="en-US" altLang="ko-KR" sz="1400" dirty="0"/>
              </a:p>
              <a:p>
                <a:pPr lvl="4"/>
                <a:r>
                  <a:rPr lang="ko-KR" altLang="en-US" sz="1200" dirty="0"/>
                  <a:t>첫 번째 전송 시도의 </a:t>
                </a:r>
                <a:r>
                  <a:rPr lang="en-US" altLang="ko-KR" sz="1200" dirty="0"/>
                  <a:t>CW</a:t>
                </a:r>
                <a:r>
                  <a:rPr lang="ko-KR" altLang="en-US" sz="1200" dirty="0"/>
                  <a:t>는 </a:t>
                </a:r>
                <a:r>
                  <a:rPr lang="en-US" altLang="ko-KR" sz="1200" dirty="0"/>
                  <a:t>[0, </a:t>
                </a:r>
                <a:r>
                  <a:rPr lang="ko-KR" altLang="en-US" sz="1200" dirty="0"/>
                  <a:t>𝐶𝑊</a:t>
                </a:r>
                <a:r>
                  <a:rPr lang="en-US" altLang="ko-KR" sz="1200" dirty="0"/>
                  <a:t>_</a:t>
                </a:r>
                <a:r>
                  <a:rPr lang="ko-KR" altLang="en-US" sz="1200" dirty="0"/>
                  <a:t>𝑚𝑖𝑛</a:t>
                </a:r>
                <a:r>
                  <a:rPr lang="en-US" altLang="ko-KR" sz="1200" dirty="0"/>
                  <a:t>] </a:t>
                </a:r>
                <a:r>
                  <a:rPr lang="ko-KR" altLang="en-US" sz="1200" dirty="0"/>
                  <a:t>사이의 정수값으로 설정</a:t>
                </a:r>
                <a:endParaRPr lang="en-US" altLang="ko-KR" sz="1200" dirty="0"/>
              </a:p>
              <a:p>
                <a:pPr lvl="4"/>
                <a:r>
                  <a:rPr lang="ko-KR" altLang="en-US" sz="1200" dirty="0"/>
                  <a:t>전송 실패할 경우</a:t>
                </a:r>
                <a:r>
                  <a:rPr lang="en-US" altLang="ko-KR" sz="1200" dirty="0"/>
                  <a:t>, </a:t>
                </a:r>
                <a:r>
                  <a:rPr lang="ko-KR" altLang="en-US" sz="1200" dirty="0"/>
                  <a:t>다음 전송 시도 </a:t>
                </a:r>
                <a:r>
                  <a:rPr lang="en-US" altLang="ko-KR" sz="1200" dirty="0"/>
                  <a:t>(next stage)</a:t>
                </a:r>
                <a:r>
                  <a:rPr lang="ko-KR" altLang="en-US" sz="1200" dirty="0"/>
                  <a:t>에서 </a:t>
                </a:r>
                <a:r>
                  <a:rPr lang="en-US" altLang="ko-KR" sz="1200" dirty="0"/>
                  <a:t>CW </a:t>
                </a:r>
                <a:r>
                  <a:rPr lang="ko-KR" altLang="en-US" sz="1200" dirty="0"/>
                  <a:t>선택범위가 </a:t>
                </a:r>
                <a:r>
                  <a:rPr lang="en-US" altLang="ko-KR" sz="1200" dirty="0"/>
                  <a:t>2</a:t>
                </a:r>
                <a:r>
                  <a:rPr lang="ko-KR" altLang="en-US" sz="1200" dirty="0"/>
                  <a:t>배씩 늘어남</a:t>
                </a:r>
              </a:p>
              <a:p>
                <a:pPr lvl="4"/>
                <a:r>
                  <a:rPr lang="ko-KR" altLang="en-US" sz="1200" dirty="0"/>
                  <a:t>전송 실패 시 </a:t>
                </a:r>
                <a:r>
                  <a:rPr lang="en-US" altLang="ko-KR" sz="1200" dirty="0"/>
                  <a:t>CW</a:t>
                </a:r>
                <a:r>
                  <a:rPr lang="ko-KR" altLang="en-US" sz="1200" dirty="0"/>
                  <a:t> 선택범위의 최대 값은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𝐶𝑊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ko-KR" altLang="en-US" sz="1200" dirty="0"/>
                  <a:t>까지 증가될</a:t>
                </a:r>
                <a:r>
                  <a:rPr lang="en-US" altLang="ko-KR" sz="1200" dirty="0"/>
                  <a:t> </a:t>
                </a:r>
                <a:r>
                  <a:rPr lang="ko-KR" altLang="en-US" sz="1200" dirty="0"/>
                  <a:t>수 있음</a:t>
                </a:r>
                <a:endParaRPr lang="en-US" altLang="ko-KR" sz="1200" dirty="0"/>
              </a:p>
              <a:p>
                <a:pPr lvl="4"/>
                <a:r>
                  <a:rPr lang="en-US" altLang="ko-KR" sz="1200" dirty="0"/>
                  <a:t>CW </a:t>
                </a:r>
                <a:r>
                  <a:rPr lang="ko-KR" altLang="en-US" sz="1200" dirty="0"/>
                  <a:t>최대 선택범위가</a:t>
                </a:r>
                <a:r>
                  <a:rPr lang="en-US" altLang="ko-KR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𝐶𝑊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ko-KR" altLang="en-US" sz="1200" dirty="0"/>
                  <a:t>를</a:t>
                </a:r>
                <a:r>
                  <a:rPr lang="en-US" altLang="ko-KR" sz="1200" dirty="0"/>
                  <a:t> </a:t>
                </a:r>
                <a:r>
                  <a:rPr lang="ko-KR" altLang="en-US" sz="1200" dirty="0"/>
                  <a:t>초과하면 유지</a:t>
                </a:r>
                <a:endParaRPr lang="en-US" altLang="ko-KR" sz="1200" dirty="0"/>
              </a:p>
              <a:p>
                <a:pPr lvl="4"/>
                <a:endParaRPr lang="ko-KR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endParaRPr lang="ko-KR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텍스트 개체 틀 2">
                <a:extLst>
                  <a:ext uri="{FF2B5EF4-FFF2-40B4-BE49-F238E27FC236}">
                    <a16:creationId xmlns:a16="http://schemas.microsoft.com/office/drawing/2014/main" id="{6E704908-3E65-4C92-AA2F-3F437B4EC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836712"/>
                <a:ext cx="9601200" cy="53285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0BBBBF42-73DA-48F7-8ACD-8B3D96FB47B0}"/>
              </a:ext>
            </a:extLst>
          </p:cNvPr>
          <p:cNvGrpSpPr/>
          <p:nvPr/>
        </p:nvGrpSpPr>
        <p:grpSpPr>
          <a:xfrm>
            <a:off x="2189240" y="4696987"/>
            <a:ext cx="5670691" cy="1900365"/>
            <a:chOff x="801770" y="3665710"/>
            <a:chExt cx="8302459" cy="27823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C266387-DB25-46E3-B8D6-92FD0021F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1770" y="3665710"/>
              <a:ext cx="8302459" cy="2782324"/>
            </a:xfrm>
            <a:prstGeom prst="rect">
              <a:avLst/>
            </a:prstGeom>
          </p:spPr>
        </p:pic>
        <p:sp>
          <p:nvSpPr>
            <p:cNvPr id="14" name="모서리가 둥근 직사각형 16">
              <a:extLst>
                <a:ext uri="{FF2B5EF4-FFF2-40B4-BE49-F238E27FC236}">
                  <a16:creationId xmlns:a16="http://schemas.microsoft.com/office/drawing/2014/main" id="{39265FC4-855C-40AB-8D4D-D909461BC90C}"/>
                </a:ext>
              </a:extLst>
            </p:cNvPr>
            <p:cNvSpPr/>
            <p:nvPr/>
          </p:nvSpPr>
          <p:spPr>
            <a:xfrm>
              <a:off x="4774674" y="4793797"/>
              <a:ext cx="2603763" cy="480172"/>
            </a:xfrm>
            <a:prstGeom prst="roundRect">
              <a:avLst/>
            </a:prstGeom>
            <a:solidFill>
              <a:srgbClr val="91C6F7">
                <a:alpha val="40000"/>
              </a:srgb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67301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BBA1647E-8CD8-4929-A9C5-E28B08D90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36712"/>
            <a:ext cx="9601200" cy="53285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IEEE 802.11 Simulation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파라미터 설정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88FB660-CAAA-403E-A2EA-0F19776BEC0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IEEE 802.11 Simulation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741161A-E339-44E4-B1D1-829EA319B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612" y="1889177"/>
            <a:ext cx="8186777" cy="4708175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7E963D6C-196D-40E9-B273-BEF1E879364E}"/>
              </a:ext>
            </a:extLst>
          </p:cNvPr>
          <p:cNvGrpSpPr/>
          <p:nvPr/>
        </p:nvGrpSpPr>
        <p:grpSpPr>
          <a:xfrm>
            <a:off x="5983732" y="769448"/>
            <a:ext cx="3682903" cy="2348008"/>
            <a:chOff x="5981520" y="836712"/>
            <a:chExt cx="3682903" cy="2348008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59A1408-F6DC-4A96-A587-6A1612C84FE7}"/>
                </a:ext>
              </a:extLst>
            </p:cNvPr>
            <p:cNvSpPr/>
            <p:nvPr/>
          </p:nvSpPr>
          <p:spPr>
            <a:xfrm>
              <a:off x="5981520" y="2009585"/>
              <a:ext cx="3682903" cy="1175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939B338-41B9-406A-80C4-CE5B54A77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3732" y="836712"/>
              <a:ext cx="3212639" cy="2230630"/>
            </a:xfrm>
            <a:prstGeom prst="rect">
              <a:avLst/>
            </a:prstGeom>
          </p:spPr>
        </p:pic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D0DEE4A-8888-455D-9AEB-56F5EEE8554F}"/>
              </a:ext>
            </a:extLst>
          </p:cNvPr>
          <p:cNvGrpSpPr/>
          <p:nvPr/>
        </p:nvGrpSpPr>
        <p:grpSpPr>
          <a:xfrm>
            <a:off x="5983732" y="3050192"/>
            <a:ext cx="3505770" cy="2179008"/>
            <a:chOff x="6086807" y="1473700"/>
            <a:chExt cx="3856347" cy="2396909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9D2B477-BC4E-4B99-A435-11C5CD70C68E}"/>
                </a:ext>
              </a:extLst>
            </p:cNvPr>
            <p:cNvSpPr/>
            <p:nvPr/>
          </p:nvSpPr>
          <p:spPr>
            <a:xfrm>
              <a:off x="8913439" y="1473700"/>
              <a:ext cx="1029715" cy="12926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B9DB829-E113-45AA-9AC5-6B13151A7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86807" y="2766349"/>
              <a:ext cx="3819193" cy="110426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6002658-B665-4434-97C1-1E815CE6B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86807" y="1473700"/>
              <a:ext cx="2920581" cy="12926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8212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7E29783-5B68-4D16-A2E6-CFEB9AF136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617"/>
          <a:stretch/>
        </p:blipFill>
        <p:spPr>
          <a:xfrm>
            <a:off x="1064568" y="4725144"/>
            <a:ext cx="5996957" cy="1868742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idx="1"/>
          </p:nvPr>
        </p:nvSpPr>
        <p:spPr>
          <a:xfrm>
            <a:off x="152400" y="836712"/>
            <a:ext cx="9601200" cy="53285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IEEE 802.11 Simulation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노드 조건 초기값</a:t>
            </a:r>
            <a:endParaRPr lang="en-US" altLang="ko-KR" sz="1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2"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Backoff stage 1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에서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random backoff, DIFS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대기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전송횟수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충돌횟수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  <a:p>
            <a:pPr lvl="2">
              <a:lnSpc>
                <a:spcPct val="150000"/>
              </a:lnSpc>
            </a:pP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2">
              <a:lnSpc>
                <a:spcPct val="150000"/>
              </a:lnSpc>
            </a:pP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2">
              <a:lnSpc>
                <a:spcPct val="150000"/>
              </a:lnSpc>
            </a:pP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542925" lvl="2" indent="0">
              <a:lnSpc>
                <a:spcPct val="150000"/>
              </a:lnSpc>
              <a:buNone/>
            </a:pP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CSMA</a:t>
            </a:r>
          </a:p>
          <a:p>
            <a:pPr marL="885825" lvl="2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채널 감지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IFS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와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backoff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이면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transmission,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전송하고자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하는 노드의 수 증가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채널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busy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상태로 설정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88FB660-CAAA-403E-A2EA-0F19776BEC0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IEEE 802.11 Simulation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A818630-E6B1-4430-B4FB-B2AEA27575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7152"/>
          <a:stretch/>
        </p:blipFill>
        <p:spPr>
          <a:xfrm>
            <a:off x="1064568" y="2265548"/>
            <a:ext cx="5996957" cy="1726345"/>
          </a:xfrm>
          <a:prstGeom prst="rect">
            <a:avLst/>
          </a:prstGeom>
        </p:spPr>
      </p:pic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AF2B0C25-BD11-4D23-BCEA-D9BF4D7E58CB}"/>
              </a:ext>
            </a:extLst>
          </p:cNvPr>
          <p:cNvSpPr txBox="1">
            <a:spLocks/>
          </p:cNvSpPr>
          <p:nvPr/>
        </p:nvSpPr>
        <p:spPr>
          <a:xfrm>
            <a:off x="3831652" y="1579602"/>
            <a:ext cx="6074348" cy="2880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66700" indent="-2667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IFS: </a:t>
            </a:r>
            <a:r>
              <a:rPr lang="en-US" altLang="ko-KR" sz="1100" dirty="0"/>
              <a:t>Busy </a:t>
            </a:r>
            <a:r>
              <a:rPr lang="ko-KR" altLang="en-US" sz="1100" dirty="0"/>
              <a:t>상태의 </a:t>
            </a:r>
            <a:r>
              <a:rPr lang="en-US" altLang="ko-KR" sz="1100" dirty="0"/>
              <a:t>medium</a:t>
            </a:r>
            <a:r>
              <a:rPr lang="ko-KR" altLang="en-US" sz="1100" dirty="0"/>
              <a:t>이 </a:t>
            </a:r>
            <a:r>
              <a:rPr lang="en-US" altLang="ko-KR" sz="1100" dirty="0"/>
              <a:t>idle </a:t>
            </a:r>
            <a:r>
              <a:rPr lang="ko-KR" altLang="en-US" sz="1100" dirty="0"/>
              <a:t>상태라고 변화했다는 판단을 하기 위해서 프레임 사이에 두는 시간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942531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3482CAB4-9F13-4968-99F6-6B1E3D28D06D}"/>
              </a:ext>
            </a:extLst>
          </p:cNvPr>
          <p:cNvSpPr txBox="1">
            <a:spLocks/>
          </p:cNvSpPr>
          <p:nvPr/>
        </p:nvSpPr>
        <p:spPr>
          <a:xfrm>
            <a:off x="152400" y="836712"/>
            <a:ext cx="96012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IEEE 802.11 Simulation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CSMA</a:t>
            </a:r>
          </a:p>
          <a:p>
            <a:pPr marL="885825" lvl="2" indent="-342900">
              <a:lnSpc>
                <a:spcPct val="150000"/>
              </a:lnSpc>
              <a:buFont typeface="+mj-ea"/>
              <a:buAutoNum type="circleNumDbPlain" startAt="2"/>
            </a:pP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채널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Idle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상태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069975" lvl="3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IFS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이고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backoff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보다 크면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backoff count</a:t>
            </a:r>
          </a:p>
          <a:p>
            <a:pPr marL="1069975" lvl="3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IFS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보다 크면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IFS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감소시킴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88FB660-CAAA-403E-A2EA-0F19776BEC0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IEEE 802.11 Simulation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090C1C7-D5E1-47A1-8364-452C8565B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143" y="3063521"/>
            <a:ext cx="5360049" cy="259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337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6BB8F155-FB6C-4CCB-9760-DDB7934E2642}"/>
              </a:ext>
            </a:extLst>
          </p:cNvPr>
          <p:cNvSpPr txBox="1">
            <a:spLocks/>
          </p:cNvSpPr>
          <p:nvPr/>
        </p:nvSpPr>
        <p:spPr>
          <a:xfrm>
            <a:off x="152400" y="836712"/>
            <a:ext cx="96012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IEEE 802.11 Simulation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CSMA</a:t>
            </a:r>
          </a:p>
          <a:p>
            <a:pPr marL="885825" lvl="2" indent="-342900">
              <a:lnSpc>
                <a:spcPct val="150000"/>
              </a:lnSpc>
              <a:buFont typeface="+mj-ea"/>
              <a:buAutoNum type="circleNumDbPlain" startAt="3"/>
            </a:pP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채널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Busy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상태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069975" lvl="3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전송하고자 하는 노드의 수가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일 때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주어진 노드의 성공적인 전송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backoff stage 1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에서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random backoff</a:t>
            </a:r>
          </a:p>
          <a:p>
            <a:pPr marL="1069975" lvl="3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DIFS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대기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채널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idle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상태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전송하고자 하는 노드의 수를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으로 설정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88FB660-CAAA-403E-A2EA-0F19776BEC0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IEEE 802.11 Simulation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6CFC62E-1E27-41FC-8033-67550BCE8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3069475"/>
            <a:ext cx="7442525" cy="296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029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57E39C63-1133-47DE-BC47-C6838EDFAC03}"/>
              </a:ext>
            </a:extLst>
          </p:cNvPr>
          <p:cNvSpPr txBox="1">
            <a:spLocks/>
          </p:cNvSpPr>
          <p:nvPr/>
        </p:nvSpPr>
        <p:spPr>
          <a:xfrm>
            <a:off x="152400" y="836712"/>
            <a:ext cx="96012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IEEE 802.11 Simulation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CSMA</a:t>
            </a:r>
          </a:p>
          <a:p>
            <a:pPr marL="885825" lvl="2" indent="-342900">
              <a:lnSpc>
                <a:spcPct val="150000"/>
              </a:lnSpc>
              <a:buFont typeface="+mj-ea"/>
              <a:buAutoNum type="circleNumDbPlain" startAt="3"/>
            </a:pP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채널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Busy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상태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069975" lvl="3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전송하고자 하는 노드의 수가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개 이상일 때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주어진 노드들의 충돌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다음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backoff stage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에서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random backoff</a:t>
            </a:r>
          </a:p>
          <a:p>
            <a:pPr marL="1069975" lvl="3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이때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Backoff stage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가 재전송 최대값보다 클 경우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backoff stage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를 최대값으로 설정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후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random backoff</a:t>
            </a:r>
          </a:p>
          <a:p>
            <a:pPr marL="1069975" lvl="3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DIFS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대기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채널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idle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상태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전송하고자 하는 노드의 수를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으로 설정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069975" lvl="3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C15FFDE-305D-4B3B-AB68-F52F4ABCD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034"/>
          <a:stretch/>
        </p:blipFill>
        <p:spPr>
          <a:xfrm>
            <a:off x="1352600" y="3335887"/>
            <a:ext cx="7442525" cy="3366934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88FB660-CAAA-403E-A2EA-0F19776BEC08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IEEE 802.11 Simulation</a:t>
            </a:r>
          </a:p>
        </p:txBody>
      </p:sp>
    </p:spTree>
    <p:extLst>
      <p:ext uri="{BB962C8B-B14F-4D97-AF65-F5344CB8AC3E}">
        <p14:creationId xmlns:p14="http://schemas.microsoft.com/office/powerpoint/2010/main" val="2557403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텍스트 개체 틀 2">
                <a:extLst>
                  <a:ext uri="{FF2B5EF4-FFF2-40B4-BE49-F238E27FC236}">
                    <a16:creationId xmlns:a16="http://schemas.microsoft.com/office/drawing/2014/main" id="{958D6ECE-C41A-4785-A510-60C0836E2E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836712"/>
                <a:ext cx="9601200" cy="532859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IEEE 802.11 Simulation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처리량 계산</a:t>
                </a:r>
                <a:endParaRPr lang="en-US" altLang="ko-KR" sz="18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400" b="1" dirty="0"/>
                  <a:t>한 </a:t>
                </a:r>
                <a:r>
                  <a:rPr lang="en-US" altLang="ko-KR" sz="1400" b="1" dirty="0"/>
                  <a:t>slot time</a:t>
                </a:r>
                <a:r>
                  <a:rPr lang="ko-KR" altLang="en-US" sz="1400" b="1" dirty="0"/>
                  <a:t>에서의 평균적인 처리량</a:t>
                </a:r>
                <a:endParaRPr lang="en-US" altLang="ko-KR" sz="1400" b="1" dirty="0"/>
              </a:p>
              <a:p>
                <a:pPr lvl="2">
                  <a:lnSpc>
                    <a:spcPct val="150000"/>
                  </a:lnSpc>
                </a:pPr>
                <a:endParaRPr lang="en-US" altLang="ko-KR" sz="700" dirty="0"/>
              </a:p>
              <a:p>
                <a:pPr marL="36195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𝑃𝑎𝑦𝑙𝑜𝑎𝑑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𝑖𝑛𝑓𝑜𝑟𝑚𝑎𝑡𝑖𝑜𝑛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𝑡𝑟𝑎𝑛𝑠𝑚𝑖𝑡𝑡𝑒𝑑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𝑠𝑙𝑜𝑡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𝑡𝑖𝑚𝑒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𝑙𝑒𝑛𝑔𝑡h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𝑠𝑙𝑜𝑡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𝑡𝑖𝑚𝑒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US" altLang="ko-KR" sz="1800" dirty="0"/>
              </a:p>
              <a:p>
                <a:pPr marL="361950" lvl="1" indent="0" algn="just">
                  <a:buNone/>
                </a:pPr>
                <a:endParaRPr lang="en-US" altLang="ko-KR" sz="700" dirty="0"/>
              </a:p>
              <a:p>
                <a:pPr marL="1193800" lvl="3" indent="-285750" algn="just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𝑝𝑎𝑦𝑙𝑜𝑎𝑑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𝑖𝑛𝑓𝑜𝑟𝑚𝑎𝑡𝑖𝑜𝑛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𝑡𝑟𝑎𝑛𝑠𝑚𝑖𝑡𝑡𝑒𝑑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𝑠𝑙𝑜𝑡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𝑡𝑖𝑚𝑒</m:t>
                        </m:r>
                      </m:e>
                    </m:d>
                  </m:oMath>
                </a14:m>
                <a:r>
                  <a:rPr lang="en-US" altLang="ko-KR" sz="1200" dirty="0"/>
                  <a:t>: </a:t>
                </a:r>
                <a:r>
                  <a:rPr lang="ko-KR" altLang="en-US" sz="1200" dirty="0"/>
                  <a:t>평균 패킷 </a:t>
                </a:r>
                <a:r>
                  <a:rPr lang="en-US" altLang="ko-KR" sz="1200" dirty="0"/>
                  <a:t>Payload</a:t>
                </a:r>
                <a:r>
                  <a:rPr lang="ko-KR" altLang="en-US" sz="1200" dirty="0"/>
                  <a:t>의 크기</a:t>
                </a:r>
                <a14:m>
                  <m:oMath xmlns:m="http://schemas.openxmlformats.org/officeDocument/2006/math"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ko-KR" altLang="en-US" sz="1200" dirty="0"/>
                  <a:t>성공적인 전송 확률</a:t>
                </a:r>
                <a:endParaRPr lang="en-US" altLang="ko-KR" sz="1200" dirty="0"/>
              </a:p>
              <a:p>
                <a:pPr marL="1193800" lvl="3" indent="-285750" algn="just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𝑙𝑒𝑛𝑔𝑡h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𝑠𝑙𝑜𝑡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sz="1200" dirty="0"/>
                  <a:t>: </a:t>
                </a:r>
                <a:r>
                  <a:rPr lang="ko-KR" altLang="en-US" sz="1200" dirty="0"/>
                  <a:t>슬롯 시간의 길이</a:t>
                </a:r>
                <a:endParaRPr lang="en-US" altLang="ko-KR" sz="1200" dirty="0"/>
              </a:p>
            </p:txBody>
          </p:sp>
        </mc:Choice>
        <mc:Fallback xmlns="">
          <p:sp>
            <p:nvSpPr>
              <p:cNvPr id="9" name="텍스트 개체 틀 2">
                <a:extLst>
                  <a:ext uri="{FF2B5EF4-FFF2-40B4-BE49-F238E27FC236}">
                    <a16:creationId xmlns:a16="http://schemas.microsoft.com/office/drawing/2014/main" id="{958D6ECE-C41A-4785-A510-60C0836E2E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836712"/>
                <a:ext cx="9601200" cy="53285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88FB660-CAAA-403E-A2EA-0F19776BEC0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IEEE 802.11 Simulation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61B9282-01F3-451B-8999-E5DDD6AFF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762" y="3933056"/>
            <a:ext cx="5324475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571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D3DD3919-6DF0-4B16-A4F0-E3F86DF1E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36712"/>
            <a:ext cx="9601200" cy="53285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IEEE 802.11 Simulation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결과</a:t>
            </a:r>
            <a:endParaRPr lang="en-US" altLang="ko-KR" sz="1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2">
              <a:lnSpc>
                <a:spcPct val="150000"/>
              </a:lnSpc>
            </a:pPr>
            <a:r>
              <a:rPr lang="ko-KR" altLang="en-US" sz="1400" dirty="0"/>
              <a:t>노드의 수가 증가함에 따라 </a:t>
            </a:r>
            <a:r>
              <a:rPr lang="en-US" altLang="ko-KR" sz="1400" dirty="0"/>
              <a:t>throughput</a:t>
            </a:r>
            <a:r>
              <a:rPr lang="ko-KR" altLang="en-US" sz="1400" dirty="0"/>
              <a:t> 감소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88FB660-CAAA-403E-A2EA-0F19776BEC0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IEEE 802.11 Simulation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DD10CB4-8E9E-4177-B9CF-28CA78367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384" y="2716480"/>
            <a:ext cx="3442387" cy="258179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DFE17C7-0815-4D79-A003-E6E8E5E93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229" y="2716480"/>
            <a:ext cx="3442387" cy="258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674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4AB6FB1-07BD-4C91-BADC-BD1A3A6899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solidFill>
                    <a:prstClr val="white">
                      <a:lumMod val="65000"/>
                      <a:alpha val="50000"/>
                    </a:prstClr>
                  </a:solidFill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맑은 고딕" pitchFamily="50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solidFill>
                  <a:prstClr val="white">
                    <a:lumMod val="65000"/>
                    <a:alpha val="50000"/>
                  </a:prstClr>
                </a:solidFill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맑은 고딕" pitchFamily="50" charset="-127"/>
              <a:cs typeface="+mn-cs"/>
            </a:endParaRPr>
          </a:p>
        </p:txBody>
      </p:sp>
      <p:sp>
        <p:nvSpPr>
          <p:cNvPr id="13" name="텍스트 개체 틀 3">
            <a:extLst>
              <a:ext uri="{FF2B5EF4-FFF2-40B4-BE49-F238E27FC236}">
                <a16:creationId xmlns:a16="http://schemas.microsoft.com/office/drawing/2014/main" id="{3FB29778-1D36-4CCD-86A8-920A76E041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" y="-96537"/>
            <a:ext cx="6538913" cy="72750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3600" dirty="0"/>
              <a:t>Future Work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0500967C-9F78-4D8E-A972-59722A703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36712"/>
            <a:ext cx="9601200" cy="53285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IEEE 802.11 Simulation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RTS/CTS mechanism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에서의 </a:t>
            </a:r>
            <a:r>
              <a:rPr lang="en-US" altLang="ko-KR" sz="1400" dirty="0"/>
              <a:t>throughput, transmission error probability </a:t>
            </a:r>
            <a:r>
              <a:rPr lang="ko-KR" altLang="en-US" sz="1400" dirty="0"/>
              <a:t>계산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463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0" y="6519863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324D6D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  <a:latin typeface="Abadi" panose="020B0604020104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>
            <a:latin typeface="Abadi" panose="020B06040201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57206</TotalTime>
  <Words>458</Words>
  <Application>Microsoft Office PowerPoint</Application>
  <PresentationFormat>A4 용지(210x297mm)</PresentationFormat>
  <Paragraphs>96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맑은 고딕</vt:lpstr>
      <vt:lpstr>함초롬돋움</vt:lpstr>
      <vt:lpstr>Abadi</vt:lpstr>
      <vt:lpstr>Arial</vt:lpstr>
      <vt:lpstr>Calibri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www.pello.co.kr</dc:creator>
  <cp:lastModifiedBy>GoGo</cp:lastModifiedBy>
  <cp:revision>2794</cp:revision>
  <cp:lastPrinted>2019-03-13T09:36:46Z</cp:lastPrinted>
  <dcterms:created xsi:type="dcterms:W3CDTF">2014-05-15T02:02:05Z</dcterms:created>
  <dcterms:modified xsi:type="dcterms:W3CDTF">2020-03-12T15:35:01Z</dcterms:modified>
</cp:coreProperties>
</file>