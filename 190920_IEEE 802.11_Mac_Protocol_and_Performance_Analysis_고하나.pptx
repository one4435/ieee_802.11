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34"/>
  </p:notesMasterIdLst>
  <p:handoutMasterIdLst>
    <p:handoutMasterId r:id="rId35"/>
  </p:handoutMasterIdLst>
  <p:sldIdLst>
    <p:sldId id="480" r:id="rId2"/>
    <p:sldId id="486" r:id="rId3"/>
    <p:sldId id="637" r:id="rId4"/>
    <p:sldId id="638" r:id="rId5"/>
    <p:sldId id="639" r:id="rId6"/>
    <p:sldId id="640" r:id="rId7"/>
    <p:sldId id="644" r:id="rId8"/>
    <p:sldId id="645" r:id="rId9"/>
    <p:sldId id="641" r:id="rId10"/>
    <p:sldId id="646" r:id="rId11"/>
    <p:sldId id="647" r:id="rId12"/>
    <p:sldId id="642" r:id="rId13"/>
    <p:sldId id="643" r:id="rId14"/>
    <p:sldId id="624" r:id="rId15"/>
    <p:sldId id="634" r:id="rId16"/>
    <p:sldId id="635" r:id="rId17"/>
    <p:sldId id="649" r:id="rId18"/>
    <p:sldId id="657" r:id="rId19"/>
    <p:sldId id="658" r:id="rId20"/>
    <p:sldId id="655" r:id="rId21"/>
    <p:sldId id="650" r:id="rId22"/>
    <p:sldId id="660" r:id="rId23"/>
    <p:sldId id="659" r:id="rId24"/>
    <p:sldId id="663" r:id="rId25"/>
    <p:sldId id="664" r:id="rId26"/>
    <p:sldId id="648" r:id="rId27"/>
    <p:sldId id="665" r:id="rId28"/>
    <p:sldId id="625" r:id="rId29"/>
    <p:sldId id="668" r:id="rId30"/>
    <p:sldId id="666" r:id="rId31"/>
    <p:sldId id="627" r:id="rId32"/>
    <p:sldId id="526" r:id="rId33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185C952-61BE-44DD-B1AD-5B2841022E2C}">
          <p14:sldIdLst>
            <p14:sldId id="480"/>
            <p14:sldId id="486"/>
            <p14:sldId id="637"/>
            <p14:sldId id="638"/>
            <p14:sldId id="639"/>
            <p14:sldId id="640"/>
            <p14:sldId id="644"/>
            <p14:sldId id="645"/>
            <p14:sldId id="641"/>
            <p14:sldId id="646"/>
            <p14:sldId id="647"/>
            <p14:sldId id="642"/>
            <p14:sldId id="643"/>
            <p14:sldId id="624"/>
            <p14:sldId id="634"/>
            <p14:sldId id="635"/>
            <p14:sldId id="649"/>
            <p14:sldId id="657"/>
            <p14:sldId id="658"/>
            <p14:sldId id="655"/>
            <p14:sldId id="650"/>
            <p14:sldId id="660"/>
            <p14:sldId id="659"/>
            <p14:sldId id="663"/>
            <p14:sldId id="664"/>
            <p14:sldId id="648"/>
            <p14:sldId id="665"/>
            <p14:sldId id="625"/>
            <p14:sldId id="668"/>
            <p14:sldId id="666"/>
            <p14:sldId id="627"/>
            <p14:sldId id="526"/>
          </p14:sldIdLst>
        </p14:section>
      </p14:sectionLst>
    </p:ext>
    <p:ext uri="{EFAFB233-063F-42B5-8137-9DF3F51BA10A}">
      <p15:sldGuideLst xmlns:p15="http://schemas.microsoft.com/office/powerpoint/2012/main">
        <p15:guide id="4" pos="3120" userDrawn="1">
          <p15:clr>
            <a:srgbClr val="A4A3A4"/>
          </p15:clr>
        </p15:guide>
        <p15:guide id="5" orient="horz" pos="164" userDrawn="1">
          <p15:clr>
            <a:srgbClr val="A4A3A4"/>
          </p15:clr>
        </p15:guide>
        <p15:guide id="6" pos="776" userDrawn="1">
          <p15:clr>
            <a:srgbClr val="A4A3A4"/>
          </p15:clr>
        </p15:guide>
        <p15:guide id="7" pos="5460" userDrawn="1">
          <p15:clr>
            <a:srgbClr val="A4A3A4"/>
          </p15:clr>
        </p15:guide>
        <p15:guide id="8" orient="horz" pos="2160" userDrawn="1">
          <p15:clr>
            <a:srgbClr val="A4A3A4"/>
          </p15:clr>
        </p15:guide>
        <p15:guide id="9" orient="horz" userDrawn="1">
          <p15:clr>
            <a:srgbClr val="A4A3A4"/>
          </p15:clr>
        </p15:guide>
        <p15:guide id="10" pos="171" userDrawn="1">
          <p15:clr>
            <a:srgbClr val="A4A3A4"/>
          </p15:clr>
        </p15:guide>
        <p15:guide id="11" userDrawn="1">
          <p15:clr>
            <a:srgbClr val="A4A3A4"/>
          </p15:clr>
        </p15:guide>
        <p15:guide id="12" pos="6239" userDrawn="1">
          <p15:clr>
            <a:srgbClr val="A4A3A4"/>
          </p15:clr>
        </p15:guide>
        <p15:guide id="13" pos="606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0000"/>
    <a:srgbClr val="0070C0"/>
    <a:srgbClr val="CBEAC0"/>
    <a:srgbClr val="FFFF00"/>
    <a:srgbClr val="91C6F7"/>
    <a:srgbClr val="00B0F0"/>
    <a:srgbClr val="FF3300"/>
    <a:srgbClr val="009999"/>
    <a:srgbClr val="FF9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37" autoAdjust="0"/>
    <p:restoredTop sz="95082" autoAdjust="0"/>
  </p:normalViewPr>
  <p:slideViewPr>
    <p:cSldViewPr>
      <p:cViewPr varScale="1">
        <p:scale>
          <a:sx n="114" d="100"/>
          <a:sy n="114" d="100"/>
        </p:scale>
        <p:origin x="1440" y="108"/>
      </p:cViewPr>
      <p:guideLst>
        <p:guide pos="3120"/>
        <p:guide orient="horz" pos="164"/>
        <p:guide pos="776"/>
        <p:guide pos="5460"/>
        <p:guide orient="horz" pos="2160"/>
        <p:guide orient="horz"/>
        <p:guide pos="171"/>
        <p:guide/>
        <p:guide pos="6239"/>
        <p:guide pos="6069"/>
      </p:guideLst>
    </p:cSldViewPr>
  </p:slideViewPr>
  <p:outlineViewPr>
    <p:cViewPr>
      <p:scale>
        <a:sx n="33" d="100"/>
        <a:sy n="33" d="100"/>
      </p:scale>
      <p:origin x="54" y="332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howGuides="1">
      <p:cViewPr varScale="1">
        <p:scale>
          <a:sx n="88" d="100"/>
          <a:sy n="88" d="100"/>
        </p:scale>
        <p:origin x="-3786" y="-12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E13BF-BFFB-42BB-BB59-2242504D84BC}" type="datetimeFigureOut">
              <a:rPr lang="ko-KR" altLang="en-US" smtClean="0"/>
              <a:pPr/>
              <a:t>2019-09-20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D9ECC-A8B4-4BFB-9F52-FEFED605C5D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530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1254B-8964-4F57-BA27-567E03392278}" type="datetimeFigureOut">
              <a:rPr lang="ko-KR" altLang="en-US" smtClean="0"/>
              <a:pPr/>
              <a:t>2019-09-20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8D633-98C0-43FF-9CFA-EF9A4754A8E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52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8D633-98C0-43FF-9CFA-EF9A4754A8E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324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" r="-340"/>
          <a:stretch/>
        </p:blipFill>
        <p:spPr>
          <a:xfrm>
            <a:off x="4664968" y="3284984"/>
            <a:ext cx="5241032" cy="3024336"/>
          </a:xfrm>
          <a:prstGeom prst="rect">
            <a:avLst/>
          </a:prstGeom>
        </p:spPr>
      </p:pic>
      <p:sp>
        <p:nvSpPr>
          <p:cNvPr id="12" name="텍스트 개체 틀 9"/>
          <p:cNvSpPr>
            <a:spLocks noGrp="1"/>
          </p:cNvSpPr>
          <p:nvPr>
            <p:ph type="body" sz="quarter" idx="16" hasCustomPrompt="1"/>
          </p:nvPr>
        </p:nvSpPr>
        <p:spPr>
          <a:xfrm>
            <a:off x="272481" y="1737611"/>
            <a:ext cx="6396711" cy="67710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altLang="en-US" sz="4400" b="1" dirty="0" smtClean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72481" y="2911891"/>
            <a:ext cx="6396711" cy="1813253"/>
          </a:xfrm>
        </p:spPr>
        <p:txBody>
          <a:bodyPr>
            <a:noAutofit/>
          </a:bodyPr>
          <a:lstStyle>
            <a:lvl1pPr marL="0" indent="0" algn="l">
              <a:buNone/>
              <a:defRPr sz="2000" b="1" baseline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9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/>
              <a:t>SUBTITLE</a:t>
            </a:r>
          </a:p>
        </p:txBody>
      </p:sp>
      <p:pic>
        <p:nvPicPr>
          <p:cNvPr id="10" name="Picture 2" descr="C:\Users\Eui-Jik\Pictures\한림대 영문로고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09383" y="102762"/>
            <a:ext cx="1390465" cy="490075"/>
          </a:xfrm>
          <a:prstGeom prst="rect">
            <a:avLst/>
          </a:prstGeom>
          <a:noFill/>
        </p:spPr>
      </p:pic>
      <p:pic>
        <p:nvPicPr>
          <p:cNvPr id="11" name="Picture 3" descr="C:\Users\Eui-Jik\Google 드라이브\개인\CIC LAB\lab_logo.jpg"/>
          <p:cNvPicPr>
            <a:picLocks noChangeAspect="1" noChangeArrowheads="1"/>
          </p:cNvPicPr>
          <p:nvPr userDrawn="1"/>
        </p:nvPicPr>
        <p:blipFill rotWithShape="1">
          <a:blip r:embed="rId4" cstate="print"/>
          <a:srcRect r="50872"/>
          <a:stretch/>
        </p:blipFill>
        <p:spPr bwMode="auto">
          <a:xfrm>
            <a:off x="3941887" y="6044538"/>
            <a:ext cx="2379265" cy="804766"/>
          </a:xfrm>
          <a:prstGeom prst="rect">
            <a:avLst/>
          </a:prstGeom>
          <a:noFill/>
        </p:spPr>
      </p:pic>
      <p:grpSp>
        <p:nvGrpSpPr>
          <p:cNvPr id="25" name="그룹 24"/>
          <p:cNvGrpSpPr/>
          <p:nvPr userDrawn="1"/>
        </p:nvGrpSpPr>
        <p:grpSpPr>
          <a:xfrm flipV="1">
            <a:off x="0" y="2636912"/>
            <a:ext cx="9906000" cy="72008"/>
            <a:chOff x="0" y="6453336"/>
            <a:chExt cx="9906000" cy="46156"/>
          </a:xfrm>
        </p:grpSpPr>
        <p:sp>
          <p:nvSpPr>
            <p:cNvPr id="26" name="직사각형 25"/>
            <p:cNvSpPr/>
            <p:nvPr userDrawn="1"/>
          </p:nvSpPr>
          <p:spPr>
            <a:xfrm>
              <a:off x="1239688" y="6453336"/>
              <a:ext cx="866631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 userDrawn="1"/>
          </p:nvSpPr>
          <p:spPr>
            <a:xfrm>
              <a:off x="0" y="6453773"/>
              <a:ext cx="1818446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434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774">
          <p15:clr>
            <a:srgbClr val="FBAE40"/>
          </p15:clr>
        </p15:guide>
        <p15:guide id="4" pos="54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내용 개체 틀 2"/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defRPr sz="2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" r="-340"/>
          <a:stretch/>
        </p:blipFill>
        <p:spPr>
          <a:xfrm>
            <a:off x="4664968" y="3284984"/>
            <a:ext cx="5241032" cy="3024336"/>
          </a:xfrm>
          <a:prstGeom prst="rect">
            <a:avLst/>
          </a:prstGeom>
        </p:spPr>
      </p:pic>
      <p:sp>
        <p:nvSpPr>
          <p:cNvPr id="20" name="텍스트 개체 틀 6"/>
          <p:cNvSpPr>
            <a:spLocks noGrp="1"/>
          </p:cNvSpPr>
          <p:nvPr>
            <p:ph type="body" sz="quarter" idx="13" hasCustomPrompt="1"/>
          </p:nvPr>
        </p:nvSpPr>
        <p:spPr>
          <a:xfrm>
            <a:off x="143170" y="144000"/>
            <a:ext cx="6538022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4000" b="1" baseline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22" name="슬라이드 번호 개체 틀 21"/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>
            <a:lvl1pPr algn="ctr">
              <a:defRPr baseline="0">
                <a:latin typeface="Arial" pitchFamily="34" charset="0"/>
                <a:ea typeface="맑은 고딕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7" name="그룹 26"/>
          <p:cNvGrpSpPr/>
          <p:nvPr userDrawn="1"/>
        </p:nvGrpSpPr>
        <p:grpSpPr>
          <a:xfrm flipV="1">
            <a:off x="0" y="692696"/>
            <a:ext cx="9906000" cy="72008"/>
            <a:chOff x="0" y="6453336"/>
            <a:chExt cx="9906000" cy="46156"/>
          </a:xfrm>
        </p:grpSpPr>
        <p:sp>
          <p:nvSpPr>
            <p:cNvPr id="28" name="직사각형 27"/>
            <p:cNvSpPr/>
            <p:nvPr userDrawn="1"/>
          </p:nvSpPr>
          <p:spPr>
            <a:xfrm>
              <a:off x="1239688" y="6453336"/>
              <a:ext cx="866631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0" y="6453773"/>
              <a:ext cx="1818446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09567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774">
          <p15:clr>
            <a:srgbClr val="FBAE40"/>
          </p15:clr>
        </p15:guide>
        <p15:guide id="4" pos="54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defRPr sz="2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7" name="슬라이드 번호 개체 틀 21"/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>
            <a:lvl1pPr algn="ctr">
              <a:defRPr baseline="0">
                <a:latin typeface="Arial" pitchFamily="34" charset="0"/>
                <a:ea typeface="맑은 고딕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13" hasCustomPrompt="1"/>
          </p:nvPr>
        </p:nvSpPr>
        <p:spPr>
          <a:xfrm>
            <a:off x="143170" y="144000"/>
            <a:ext cx="6538022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4000" b="1" baseline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SLIDE MAIN TITLE</a:t>
            </a:r>
            <a:endParaRPr lang="ko-KR" altLang="en-US" dirty="0"/>
          </a:p>
        </p:txBody>
      </p:sp>
      <p:grpSp>
        <p:nvGrpSpPr>
          <p:cNvPr id="31" name="그룹 30"/>
          <p:cNvGrpSpPr/>
          <p:nvPr userDrawn="1"/>
        </p:nvGrpSpPr>
        <p:grpSpPr>
          <a:xfrm flipV="1">
            <a:off x="0" y="692696"/>
            <a:ext cx="9906000" cy="72008"/>
            <a:chOff x="0" y="6453336"/>
            <a:chExt cx="9906000" cy="46156"/>
          </a:xfrm>
        </p:grpSpPr>
        <p:sp>
          <p:nvSpPr>
            <p:cNvPr id="32" name="직사각형 31"/>
            <p:cNvSpPr/>
            <p:nvPr userDrawn="1"/>
          </p:nvSpPr>
          <p:spPr>
            <a:xfrm>
              <a:off x="1239688" y="6453336"/>
              <a:ext cx="866631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/>
            <p:cNvSpPr/>
            <p:nvPr userDrawn="1"/>
          </p:nvSpPr>
          <p:spPr>
            <a:xfrm>
              <a:off x="0" y="6453773"/>
              <a:ext cx="1818446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469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774">
          <p15:clr>
            <a:srgbClr val="FBAE40"/>
          </p15:clr>
        </p15:guide>
        <p15:guide id="4" pos="54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참조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Reference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>
            <a:lvl1pPr marL="514350" indent="-51435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defRPr sz="20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819150" indent="-4572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tabLst>
                <a:tab pos="542925" algn="l"/>
              </a:tabLst>
              <a:defRPr sz="24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1000125" indent="-4572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defRPr sz="20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238250" indent="-3429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419225" indent="-342900">
              <a:lnSpc>
                <a:spcPct val="100000"/>
              </a:lnSpc>
              <a:buClr>
                <a:schemeClr val="tx2">
                  <a:lumMod val="60000"/>
                  <a:lumOff val="40000"/>
                </a:schemeClr>
              </a:buClr>
              <a:buFontTx/>
              <a:buNone/>
              <a:defRPr sz="18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grpSp>
        <p:nvGrpSpPr>
          <p:cNvPr id="5" name="그룹 4"/>
          <p:cNvGrpSpPr/>
          <p:nvPr userDrawn="1"/>
        </p:nvGrpSpPr>
        <p:grpSpPr>
          <a:xfrm flipV="1">
            <a:off x="0" y="692696"/>
            <a:ext cx="9906000" cy="72008"/>
            <a:chOff x="0" y="6453336"/>
            <a:chExt cx="9906000" cy="46156"/>
          </a:xfrm>
        </p:grpSpPr>
        <p:sp>
          <p:nvSpPr>
            <p:cNvPr id="6" name="직사각형 5"/>
            <p:cNvSpPr/>
            <p:nvPr userDrawn="1"/>
          </p:nvSpPr>
          <p:spPr>
            <a:xfrm>
              <a:off x="1239688" y="6453336"/>
              <a:ext cx="8666312" cy="4571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 userDrawn="1"/>
          </p:nvSpPr>
          <p:spPr>
            <a:xfrm>
              <a:off x="0" y="6453773"/>
              <a:ext cx="1818446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종료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" r="-340"/>
          <a:stretch/>
        </p:blipFill>
        <p:spPr>
          <a:xfrm>
            <a:off x="4664968" y="3284984"/>
            <a:ext cx="5241032" cy="3024336"/>
          </a:xfrm>
          <a:prstGeom prst="rect">
            <a:avLst/>
          </a:prstGeom>
        </p:spPr>
      </p:pic>
      <p:pic>
        <p:nvPicPr>
          <p:cNvPr id="7" name="Picture 2" descr="C:\Users\Eui-Jik\Pictures\한림대 영문로고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09383" y="102762"/>
            <a:ext cx="1390465" cy="490075"/>
          </a:xfrm>
          <a:prstGeom prst="rect">
            <a:avLst/>
          </a:prstGeom>
          <a:noFill/>
        </p:spPr>
      </p:pic>
      <p:pic>
        <p:nvPicPr>
          <p:cNvPr id="8" name="Picture 3" descr="C:\Users\Eui-Jik\Google 드라이브\개인\CIC LAB\lab_logo.jpg"/>
          <p:cNvPicPr>
            <a:picLocks noChangeAspect="1" noChangeArrowheads="1"/>
          </p:cNvPicPr>
          <p:nvPr userDrawn="1"/>
        </p:nvPicPr>
        <p:blipFill rotWithShape="1">
          <a:blip r:embed="rId4" cstate="print"/>
          <a:srcRect r="50872"/>
          <a:stretch/>
        </p:blipFill>
        <p:spPr bwMode="auto">
          <a:xfrm>
            <a:off x="3447371" y="5877272"/>
            <a:ext cx="2873782" cy="972032"/>
          </a:xfrm>
          <a:prstGeom prst="rect">
            <a:avLst/>
          </a:prstGeom>
          <a:noFill/>
        </p:spPr>
      </p:pic>
      <p:grpSp>
        <p:nvGrpSpPr>
          <p:cNvPr id="16" name="그룹 15"/>
          <p:cNvGrpSpPr/>
          <p:nvPr userDrawn="1"/>
        </p:nvGrpSpPr>
        <p:grpSpPr>
          <a:xfrm>
            <a:off x="3129424" y="2780928"/>
            <a:ext cx="3647152" cy="1008112"/>
            <a:chOff x="3129424" y="2708920"/>
            <a:chExt cx="3647152" cy="1008112"/>
          </a:xfrm>
        </p:grpSpPr>
        <p:sp>
          <p:nvSpPr>
            <p:cNvPr id="2" name="TextBox 1"/>
            <p:cNvSpPr txBox="1"/>
            <p:nvPr userDrawn="1"/>
          </p:nvSpPr>
          <p:spPr>
            <a:xfrm>
              <a:off x="3129424" y="2708920"/>
              <a:ext cx="364715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400" b="1" dirty="0">
                  <a:ln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Thank you</a:t>
              </a:r>
              <a:endParaRPr lang="ko-KR" altLang="en-US" sz="5400" b="1" dirty="0">
                <a:ln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" name="그룹 8"/>
            <p:cNvGrpSpPr/>
            <p:nvPr userDrawn="1"/>
          </p:nvGrpSpPr>
          <p:grpSpPr>
            <a:xfrm flipV="1">
              <a:off x="3188804" y="3645024"/>
              <a:ext cx="3528392" cy="72008"/>
              <a:chOff x="0" y="6453336"/>
              <a:chExt cx="9906000" cy="46156"/>
            </a:xfrm>
          </p:grpSpPr>
          <p:sp>
            <p:nvSpPr>
              <p:cNvPr id="10" name="직사각형 9"/>
              <p:cNvSpPr/>
              <p:nvPr userDrawn="1"/>
            </p:nvSpPr>
            <p:spPr>
              <a:xfrm>
                <a:off x="1239688" y="6453336"/>
                <a:ext cx="8666312" cy="4571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/>
              <p:cNvSpPr/>
              <p:nvPr userDrawn="1"/>
            </p:nvSpPr>
            <p:spPr>
              <a:xfrm>
                <a:off x="0" y="6453773"/>
                <a:ext cx="1818446" cy="45719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3157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774">
          <p15:clr>
            <a:srgbClr val="FBAE40"/>
          </p15:clr>
        </p15:guide>
        <p15:guide id="4" pos="54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000" y="144000"/>
            <a:ext cx="6537600" cy="55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000" y="907200"/>
            <a:ext cx="9601200" cy="532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38575" y="652025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ln>
                  <a:solidFill>
                    <a:schemeClr val="bg1">
                      <a:lumMod val="65000"/>
                      <a:alpha val="5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68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3" r:id="rId4"/>
    <p:sldLayoutId id="2147483782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ko-KR" sz="4000" b="1" kern="1200" baseline="0" dirty="0">
          <a:ln>
            <a:solidFill>
              <a:schemeClr val="tx1">
                <a:lumMod val="75000"/>
                <a:lumOff val="25000"/>
                <a:alpha val="50000"/>
              </a:schemeClr>
            </a:solidFill>
          </a:ln>
          <a:solidFill>
            <a:schemeClr val="tx1">
              <a:lumMod val="75000"/>
              <a:lumOff val="25000"/>
            </a:schemeClr>
          </a:solidFill>
          <a:effectLst/>
          <a:latin typeface="Arial" pitchFamily="34" charset="0"/>
          <a:ea typeface="맑은 고딕" pitchFamily="50" charset="-127"/>
          <a:cs typeface="Arial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ln>
            <a:solidFill>
              <a:schemeClr val="tx1">
                <a:alpha val="50000"/>
              </a:schemeClr>
            </a:solidFill>
          </a:ln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8.png"/><Relationship Id="rId7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11" Type="http://schemas.openxmlformats.org/officeDocument/2006/relationships/image" Target="../media/image42.png"/><Relationship Id="rId10" Type="http://schemas.openxmlformats.org/officeDocument/2006/relationships/image" Target="../media/image40.png"/><Relationship Id="rId9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7" Type="http://schemas.openxmlformats.org/officeDocument/2006/relationships/image" Target="../media/image47.png"/><Relationship Id="rId12" Type="http://schemas.openxmlformats.org/officeDocument/2006/relationships/image" Target="../media/image49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0" Type="http://schemas.openxmlformats.org/officeDocument/2006/relationships/image" Target="../media/image44.png"/><Relationship Id="rId9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0.png"/><Relationship Id="rId5" Type="http://schemas.openxmlformats.org/officeDocument/2006/relationships/image" Target="../media/image53.png"/><Relationship Id="rId10" Type="http://schemas.openxmlformats.org/officeDocument/2006/relationships/image" Target="../media/image18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7.wmf"/><Relationship Id="rId4" Type="http://schemas.openxmlformats.org/officeDocument/2006/relationships/image" Target="../media/image7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8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7.png"/><Relationship Id="rId5" Type="http://schemas.openxmlformats.org/officeDocument/2006/relationships/image" Target="../media/image85.png"/><Relationship Id="rId4" Type="http://schemas.openxmlformats.org/officeDocument/2006/relationships/image" Target="../media/image82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6"/>
          </p:nvPr>
        </p:nvSpPr>
        <p:spPr>
          <a:xfrm>
            <a:off x="272481" y="2134017"/>
            <a:ext cx="9361039" cy="430887"/>
          </a:xfrm>
        </p:spPr>
        <p:txBody>
          <a:bodyPr/>
          <a:lstStyle/>
          <a:p>
            <a:r>
              <a:rPr lang="en-US" altLang="ko-KR" sz="2800" dirty="0"/>
              <a:t>IEEE 802.11 MAC protocol &amp; Performance Analysis</a:t>
            </a:r>
          </a:p>
        </p:txBody>
      </p:sp>
      <p:sp>
        <p:nvSpPr>
          <p:cNvPr id="7" name="부제목 6"/>
          <p:cNvSpPr>
            <a:spLocks noGrp="1"/>
          </p:cNvSpPr>
          <p:nvPr>
            <p:ph type="subTitle" idx="1"/>
          </p:nvPr>
        </p:nvSpPr>
        <p:spPr>
          <a:xfrm>
            <a:off x="272481" y="2911891"/>
            <a:ext cx="6396711" cy="1741245"/>
          </a:xfrm>
        </p:spPr>
        <p:txBody>
          <a:bodyPr/>
          <a:lstStyle/>
          <a:p>
            <a:r>
              <a:rPr lang="en-US" altLang="ko-KR" sz="2000" dirty="0">
                <a:solidFill>
                  <a:schemeClr val="bg2">
                    <a:lumMod val="10000"/>
                  </a:schemeClr>
                </a:solidFill>
              </a:rPr>
              <a:t>2019</a:t>
            </a:r>
            <a:r>
              <a:rPr lang="ko-KR" altLang="en-US" sz="2000" dirty="0">
                <a:solidFill>
                  <a:schemeClr val="bg2">
                    <a:lumMod val="10000"/>
                  </a:schemeClr>
                </a:solidFill>
              </a:rPr>
              <a:t>년 </a:t>
            </a:r>
            <a:r>
              <a:rPr lang="en-US" altLang="ko-KR" sz="2000" dirty="0">
                <a:solidFill>
                  <a:schemeClr val="bg2">
                    <a:lumMod val="10000"/>
                  </a:schemeClr>
                </a:solidFill>
              </a:rPr>
              <a:t>09</a:t>
            </a:r>
            <a:r>
              <a:rPr lang="ko-KR" altLang="en-US" sz="2000" dirty="0">
                <a:solidFill>
                  <a:schemeClr val="bg2">
                    <a:lumMod val="10000"/>
                  </a:schemeClr>
                </a:solidFill>
              </a:rPr>
              <a:t>월 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20</a:t>
            </a:r>
            <a:r>
              <a:rPr lang="ko-KR" altLang="en-US" dirty="0">
                <a:solidFill>
                  <a:schemeClr val="bg2">
                    <a:lumMod val="10000"/>
                  </a:schemeClr>
                </a:solidFill>
              </a:rPr>
              <a:t>일</a:t>
            </a:r>
            <a:endParaRPr lang="en-US" altLang="ko-KR" sz="2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altLang="ko-KR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Go, Ha-Na</a:t>
            </a:r>
          </a:p>
          <a:p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20175301@hallym.ac.kr</a:t>
            </a:r>
          </a:p>
        </p:txBody>
      </p:sp>
    </p:spTree>
    <p:extLst>
      <p:ext uri="{BB962C8B-B14F-4D97-AF65-F5344CB8AC3E}">
        <p14:creationId xmlns:p14="http://schemas.microsoft.com/office/powerpoint/2010/main" val="2943523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idx="1"/>
          </p:nvPr>
        </p:nvSpPr>
        <p:spPr>
          <a:xfrm>
            <a:off x="152400" y="1124744"/>
            <a:ext cx="9601200" cy="5328592"/>
          </a:xfrm>
        </p:spPr>
        <p:txBody>
          <a:bodyPr>
            <a:norm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ko-KR" b="1" dirty="0"/>
              <a:t>Introduction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ko-KR" b="1" dirty="0"/>
              <a:t>Distributed Coordination Function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ko-KR" b="1" dirty="0"/>
              <a:t>Performance Analysis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88FB660-CAAA-403E-A2EA-0F19776BEC08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8659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3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79BD62-4B5D-4D93-9DF7-FA366D8D8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472608"/>
          </a:xfrm>
        </p:spPr>
        <p:txBody>
          <a:bodyPr>
            <a:normAutofit/>
          </a:bodyPr>
          <a:lstStyle/>
          <a:p>
            <a:r>
              <a:rPr lang="en-US" altLang="ko-KR" dirty="0"/>
              <a:t>IEEE 802.11</a:t>
            </a:r>
          </a:p>
          <a:p>
            <a:pPr lvl="1"/>
            <a:r>
              <a:rPr lang="en-US" altLang="ko-KR" sz="1800" dirty="0"/>
              <a:t>Wireless</a:t>
            </a:r>
            <a:r>
              <a:rPr lang="ko-KR" altLang="en-US" sz="1800" dirty="0"/>
              <a:t> </a:t>
            </a:r>
            <a:r>
              <a:rPr lang="en-US" altLang="ko-KR" sz="1800" dirty="0"/>
              <a:t>Local Area Network (WLAN)</a:t>
            </a:r>
            <a:r>
              <a:rPr lang="ko-KR" altLang="en-US" sz="1800" dirty="0"/>
              <a:t>을 위한</a:t>
            </a:r>
            <a:r>
              <a:rPr lang="en-US" altLang="ko-KR" sz="1800" dirty="0"/>
              <a:t> </a:t>
            </a:r>
            <a:r>
              <a:rPr lang="ko-KR" altLang="en-US" sz="1800" dirty="0"/>
              <a:t>표준 기술</a:t>
            </a:r>
            <a:endParaRPr lang="en-US" altLang="ko-KR" sz="1800" dirty="0"/>
          </a:p>
          <a:p>
            <a:pPr lvl="1"/>
            <a:r>
              <a:rPr lang="en-US" altLang="ko-KR" sz="1800" dirty="0"/>
              <a:t>Medium access control (MAC)</a:t>
            </a:r>
            <a:r>
              <a:rPr lang="ko-KR" altLang="en-US" sz="1800" dirty="0"/>
              <a:t>과 </a:t>
            </a:r>
            <a:r>
              <a:rPr lang="en-US" altLang="ko-KR" sz="1800" dirty="0"/>
              <a:t>Physical layer (PHY)</a:t>
            </a:r>
            <a:r>
              <a:rPr lang="ko-KR" altLang="en-US" sz="1800" dirty="0"/>
              <a:t>를</a:t>
            </a:r>
            <a:r>
              <a:rPr lang="en-US" altLang="ko-KR" sz="1800" dirty="0"/>
              <a:t> </a:t>
            </a:r>
            <a:r>
              <a:rPr lang="ko-KR" altLang="en-US" sz="1800" dirty="0"/>
              <a:t>표준화</a:t>
            </a:r>
            <a:endParaRPr lang="en-US" altLang="ko-KR" sz="1800" dirty="0"/>
          </a:p>
          <a:p>
            <a:pPr lvl="1"/>
            <a:r>
              <a:rPr lang="ko-KR" altLang="en-US" sz="1800" dirty="0"/>
              <a:t>흔히 무선 랜</a:t>
            </a:r>
            <a:r>
              <a:rPr lang="en-US" altLang="ko-KR" sz="1800" dirty="0"/>
              <a:t>, Wi-Fi</a:t>
            </a:r>
            <a:r>
              <a:rPr lang="ko-KR" altLang="en-US" sz="1800" dirty="0"/>
              <a:t> 라고 부르는 무선 근거리 통신망을 위한 컴퓨터 무선 네트워크 표준기술</a:t>
            </a:r>
            <a:endParaRPr lang="en-US" altLang="ko-KR" sz="1800" dirty="0"/>
          </a:p>
          <a:p>
            <a:pPr lvl="1"/>
            <a:endParaRPr lang="en-US" altLang="ko-KR" dirty="0"/>
          </a:p>
          <a:p>
            <a:r>
              <a:rPr lang="en-US" altLang="ko-KR" dirty="0"/>
              <a:t>IEEE 802.11 MAC</a:t>
            </a:r>
          </a:p>
          <a:p>
            <a:pPr lvl="1">
              <a:lnSpc>
                <a:spcPct val="110000"/>
              </a:lnSpc>
            </a:pPr>
            <a:r>
              <a:rPr lang="ko-KR" altLang="en-US" sz="1800" dirty="0"/>
              <a:t>여러 단말이 공유 매체를 사용할 때 단말 간 충돌 및 경합 발생을 제어하며 매체 사용에 대한 조율</a:t>
            </a:r>
            <a:endParaRPr lang="en-US" altLang="ko-KR" sz="1800" dirty="0"/>
          </a:p>
          <a:p>
            <a:pPr lvl="1"/>
            <a:r>
              <a:rPr lang="en-US" altLang="ko-KR" sz="1800" dirty="0"/>
              <a:t>IEEE 802.11 MAC</a:t>
            </a:r>
            <a:r>
              <a:rPr lang="ko-KR" altLang="en-US" sz="1800" dirty="0"/>
              <a:t>은 </a:t>
            </a:r>
            <a:r>
              <a:rPr lang="en-US" altLang="ko-KR" sz="1800" dirty="0"/>
              <a:t>DCF</a:t>
            </a:r>
            <a:r>
              <a:rPr lang="ko-KR" altLang="en-US" sz="1800" dirty="0"/>
              <a:t>와 </a:t>
            </a:r>
            <a:r>
              <a:rPr lang="en-US" altLang="ko-KR" sz="1800" dirty="0"/>
              <a:t>PCF</a:t>
            </a:r>
            <a:r>
              <a:rPr lang="ko-KR" altLang="en-US" sz="1800" dirty="0"/>
              <a:t>로 구성</a:t>
            </a:r>
            <a:endParaRPr lang="en-US" altLang="ko-KR" sz="18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600" dirty="0"/>
              <a:t>Distributed coordination function (DCF): default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ko-KR" sz="1400" dirty="0"/>
              <a:t>Random Access</a:t>
            </a:r>
            <a:r>
              <a:rPr lang="ko-KR" altLang="en-US" sz="1400" dirty="0"/>
              <a:t>기법 </a:t>
            </a:r>
            <a:r>
              <a:rPr lang="en-US" altLang="ko-KR" sz="1400" dirty="0"/>
              <a:t>CSMA/CA</a:t>
            </a:r>
            <a:r>
              <a:rPr lang="ko-KR" altLang="en-US" sz="1400" dirty="0"/>
              <a:t>를 통한 </a:t>
            </a:r>
            <a:r>
              <a:rPr lang="en-US" altLang="ko-KR" sz="1400" dirty="0"/>
              <a:t>Access control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600" dirty="0"/>
              <a:t>Point coordination function (PCF): optional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ko-KR" sz="1400" dirty="0"/>
              <a:t>Controller</a:t>
            </a:r>
            <a:r>
              <a:rPr lang="ko-KR" altLang="en-US" sz="1400" dirty="0"/>
              <a:t>가 </a:t>
            </a:r>
            <a:r>
              <a:rPr lang="en-US" altLang="ko-KR" sz="1400" dirty="0"/>
              <a:t>station</a:t>
            </a:r>
            <a:r>
              <a:rPr lang="ko-KR" altLang="en-US" sz="1400" dirty="0"/>
              <a:t>들의 전송 순서를 </a:t>
            </a:r>
            <a:r>
              <a:rPr lang="en-US" altLang="ko-KR" sz="1400" dirty="0"/>
              <a:t>scheduling</a:t>
            </a:r>
            <a:r>
              <a:rPr lang="ko-KR" altLang="en-US" sz="1400" dirty="0"/>
              <a:t>하는 </a:t>
            </a:r>
            <a:r>
              <a:rPr lang="en-US" altLang="ko-KR" sz="1400" dirty="0"/>
              <a:t>Centralized</a:t>
            </a:r>
            <a:r>
              <a:rPr lang="ko-KR" altLang="en-US" sz="1400" dirty="0"/>
              <a:t> </a:t>
            </a:r>
            <a:r>
              <a:rPr lang="en-US" altLang="ko-KR" sz="1400" dirty="0"/>
              <a:t>MAC protocol</a:t>
            </a:r>
          </a:p>
          <a:p>
            <a:pPr lvl="1"/>
            <a:endParaRPr lang="ko-KR" alt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D15FC223-7981-4B20-9F1C-1C437EF809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8770270" cy="553998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1990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4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0B3BB932-9010-493D-BA07-94015B6F2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908720"/>
            <a:ext cx="9762000" cy="5328592"/>
          </a:xfrm>
        </p:spPr>
        <p:txBody>
          <a:bodyPr/>
          <a:lstStyle/>
          <a:p>
            <a:r>
              <a:rPr lang="en-US" altLang="ko-KR" sz="2600" dirty="0"/>
              <a:t>DCF</a:t>
            </a:r>
          </a:p>
          <a:p>
            <a:pPr lvl="1"/>
            <a:r>
              <a:rPr lang="en-US" altLang="ko-KR" sz="1800" dirty="0"/>
              <a:t>802.11 </a:t>
            </a:r>
            <a:r>
              <a:rPr lang="ko-KR" altLang="en-US" sz="1800" dirty="0"/>
              <a:t>프로토콜에서 매체에 접근하기 위한 기본 메커니즘</a:t>
            </a:r>
            <a:endParaRPr lang="en-US" altLang="ko-KR" sz="1800" dirty="0"/>
          </a:p>
          <a:p>
            <a:pPr lvl="1"/>
            <a:r>
              <a:rPr lang="en-US" altLang="ko-KR" sz="1800" dirty="0"/>
              <a:t>CSMA/CA (Carrier Sense Multiple Access / Collision Avoidance)</a:t>
            </a:r>
            <a:r>
              <a:rPr lang="ko-KR" altLang="en-US" sz="1800" dirty="0"/>
              <a:t>를 사용하여 무선기기 간</a:t>
            </a:r>
            <a:r>
              <a:rPr lang="en-US" altLang="ko-KR" sz="1800" dirty="0"/>
              <a:t> </a:t>
            </a:r>
            <a:r>
              <a:rPr lang="ko-KR" altLang="en-US" sz="1800" dirty="0"/>
              <a:t>매체공유를 가능하게 함</a:t>
            </a:r>
            <a:endParaRPr lang="en-US" altLang="ko-KR" sz="1800" dirty="0">
              <a:solidFill>
                <a:srgbClr val="FF0000"/>
              </a:solidFill>
            </a:endParaRPr>
          </a:p>
          <a:p>
            <a:pPr lvl="1"/>
            <a:endParaRPr lang="en-US" altLang="ko-KR" dirty="0"/>
          </a:p>
          <a:p>
            <a:r>
              <a:rPr lang="en-US" altLang="ko-KR" sz="2600" dirty="0"/>
              <a:t>CSMA/CA (Carrier Sense Multiple Access / Collision Avoidance)</a:t>
            </a:r>
          </a:p>
          <a:p>
            <a:pPr lvl="1"/>
            <a:r>
              <a:rPr lang="ko-KR" altLang="en-US" sz="1800" dirty="0"/>
              <a:t>두 개 이상의 </a:t>
            </a:r>
            <a:r>
              <a:rPr lang="en-US" altLang="ko-KR" sz="1800" dirty="0"/>
              <a:t>Station</a:t>
            </a:r>
            <a:r>
              <a:rPr lang="ko-KR" altLang="en-US" sz="1800" dirty="0"/>
              <a:t>이 하나의 매체를 통해 동시에 전송을 시작하는 경우 충돌</a:t>
            </a:r>
            <a:r>
              <a:rPr lang="en-US" altLang="ko-KR" sz="1800" dirty="0"/>
              <a:t>(Collision) </a:t>
            </a:r>
            <a:r>
              <a:rPr lang="ko-KR" altLang="en-US" sz="1800" dirty="0"/>
              <a:t>발생</a:t>
            </a:r>
            <a:endParaRPr lang="en-US" altLang="ko-KR" sz="1800" dirty="0"/>
          </a:p>
          <a:p>
            <a:pPr lvl="1"/>
            <a:r>
              <a:rPr lang="en-US" altLang="ko-KR" sz="1800" dirty="0"/>
              <a:t>Wireless network</a:t>
            </a:r>
            <a:r>
              <a:rPr lang="ko-KR" altLang="en-US" sz="1800" dirty="0"/>
              <a:t>에서는 </a:t>
            </a:r>
            <a:r>
              <a:rPr lang="en-US" altLang="ko-KR" sz="1800" dirty="0"/>
              <a:t>Collision Detection</a:t>
            </a:r>
            <a:r>
              <a:rPr lang="ko-KR" altLang="en-US" sz="1800" dirty="0"/>
              <a:t>이</a:t>
            </a:r>
            <a:r>
              <a:rPr lang="en-US" altLang="ko-KR" sz="1800" dirty="0"/>
              <a:t> </a:t>
            </a:r>
            <a:r>
              <a:rPr lang="ko-KR" altLang="en-US" sz="1800" dirty="0"/>
              <a:t>불가능하기 때문에</a:t>
            </a:r>
            <a:r>
              <a:rPr lang="en-US" altLang="ko-KR" sz="1800" dirty="0"/>
              <a:t>, Collision</a:t>
            </a:r>
            <a:r>
              <a:rPr lang="ko-KR" altLang="en-US" sz="1800" dirty="0"/>
              <a:t>을 사전에 회피하는 기법</a:t>
            </a:r>
            <a:r>
              <a:rPr lang="en-US" altLang="ko-KR" sz="1800" dirty="0"/>
              <a:t>(CSMA/CA) </a:t>
            </a:r>
            <a:r>
              <a:rPr lang="ko-KR" altLang="en-US" sz="1800" dirty="0"/>
              <a:t>사용</a:t>
            </a:r>
            <a:endParaRPr lang="en-US" altLang="ko-KR" sz="1800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52942BDD-AF48-431C-8CCF-BB2FE977E4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762830" cy="498598"/>
          </a:xfrm>
        </p:spPr>
        <p:txBody>
          <a:bodyPr/>
          <a:lstStyle/>
          <a:p>
            <a:r>
              <a:rPr lang="en-US" altLang="ko-KR" sz="3600" dirty="0"/>
              <a:t>Distributed Coordination Function (DCF)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13146F-A35C-489D-9BE1-AFC9EA1A3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977" y="4974274"/>
            <a:ext cx="6722047" cy="155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90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5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71462B9F-B799-4D30-B63E-3270C060F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908720"/>
            <a:ext cx="9633536" cy="5328592"/>
          </a:xfrm>
        </p:spPr>
        <p:txBody>
          <a:bodyPr/>
          <a:lstStyle/>
          <a:p>
            <a:r>
              <a:rPr lang="en-US" altLang="ko-KR" dirty="0"/>
              <a:t>CSMA/CA </a:t>
            </a:r>
            <a:r>
              <a:rPr lang="ko-KR" altLang="en-US" dirty="0"/>
              <a:t>동작 순서</a:t>
            </a:r>
            <a:endParaRPr lang="en-US" altLang="ko-KR" sz="2400" dirty="0"/>
          </a:p>
          <a:p>
            <a:pPr marL="1000125" lvl="2" indent="-457200">
              <a:buFont typeface="+mj-ea"/>
              <a:buAutoNum type="circleNumDbPlain"/>
            </a:pPr>
            <a:r>
              <a:rPr lang="ko-KR" altLang="en-US" sz="1800" dirty="0"/>
              <a:t>일정 시간</a:t>
            </a:r>
            <a:r>
              <a:rPr lang="en-US" altLang="ko-KR" sz="1800" dirty="0"/>
              <a:t>(IFS)</a:t>
            </a:r>
            <a:r>
              <a:rPr lang="ko-KR" altLang="en-US" sz="1800" dirty="0"/>
              <a:t> 대기</a:t>
            </a:r>
            <a:endParaRPr lang="en-US" altLang="ko-KR" sz="1800" dirty="0"/>
          </a:p>
          <a:p>
            <a:pPr marL="1000125" lvl="2" indent="-457200">
              <a:buFont typeface="+mj-ea"/>
              <a:buAutoNum type="circleNumDbPlain"/>
            </a:pPr>
            <a:r>
              <a:rPr lang="ko-KR" altLang="en-US" sz="1800" dirty="0"/>
              <a:t>채널의 </a:t>
            </a:r>
            <a:r>
              <a:rPr lang="en-US" altLang="ko-KR" sz="1800" dirty="0"/>
              <a:t>Idle</a:t>
            </a:r>
            <a:r>
              <a:rPr lang="ko-KR" altLang="en-US" sz="1800" dirty="0"/>
              <a:t> 여부 확인</a:t>
            </a:r>
            <a:endParaRPr lang="en-US" altLang="ko-KR" sz="1800" dirty="0"/>
          </a:p>
          <a:p>
            <a:pPr marL="1000125" lvl="2" indent="-457200">
              <a:buFont typeface="+mj-ea"/>
              <a:buAutoNum type="circleNumDbPlain"/>
            </a:pPr>
            <a:r>
              <a:rPr lang="ko-KR" altLang="en-US" sz="1800" spc="-100" dirty="0"/>
              <a:t>매체를 접근을 위한 경쟁</a:t>
            </a:r>
            <a:endParaRPr lang="en-US" altLang="ko-KR" sz="1800" spc="-100" dirty="0"/>
          </a:p>
          <a:p>
            <a:pPr marL="1000125" lvl="2" indent="-457200">
              <a:buFont typeface="+mj-ea"/>
              <a:buAutoNum type="circleNumDbPlain"/>
            </a:pPr>
            <a:r>
              <a:rPr lang="ko-KR" altLang="en-US" sz="1800" spc="-100" dirty="0"/>
              <a:t>패킷 전송 </a:t>
            </a:r>
            <a:r>
              <a:rPr lang="en-US" altLang="ko-KR" sz="1800" spc="-100" dirty="0"/>
              <a:t>(</a:t>
            </a:r>
            <a:r>
              <a:rPr lang="ko-KR" altLang="en-US" sz="1800" spc="-100" dirty="0"/>
              <a:t>충돌 발생시 </a:t>
            </a:r>
            <a:r>
              <a:rPr lang="en-US" altLang="ko-KR" sz="1800" spc="-100" dirty="0"/>
              <a:t>1</a:t>
            </a:r>
            <a:r>
              <a:rPr lang="ko-KR" altLang="en-US" sz="1800" spc="-100" dirty="0"/>
              <a:t>번부터 반복</a:t>
            </a:r>
            <a:r>
              <a:rPr lang="en-US" altLang="ko-KR" sz="1800" spc="-100" dirty="0"/>
              <a:t>)</a:t>
            </a:r>
          </a:p>
        </p:txBody>
      </p:sp>
      <p:sp>
        <p:nvSpPr>
          <p:cNvPr id="5" name="텍스트 개체 틀 1">
            <a:extLst>
              <a:ext uri="{FF2B5EF4-FFF2-40B4-BE49-F238E27FC236}">
                <a16:creationId xmlns:a16="http://schemas.microsoft.com/office/drawing/2014/main" id="{9E9000C7-D7EF-48BD-BB99-E11EB949CA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762830" cy="498598"/>
          </a:xfrm>
        </p:spPr>
        <p:txBody>
          <a:bodyPr/>
          <a:lstStyle/>
          <a:p>
            <a:r>
              <a:rPr lang="en-US" altLang="ko-KR" sz="3600" dirty="0"/>
              <a:t>Distributed Coordination Function (DCF)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BBBBF42-73DA-48F7-8ACD-8B3D96FB47B0}"/>
              </a:ext>
            </a:extLst>
          </p:cNvPr>
          <p:cNvGrpSpPr/>
          <p:nvPr/>
        </p:nvGrpSpPr>
        <p:grpSpPr>
          <a:xfrm>
            <a:off x="412158" y="3212976"/>
            <a:ext cx="9132705" cy="3060556"/>
            <a:chOff x="801770" y="3665710"/>
            <a:chExt cx="8302459" cy="27823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C266387-DB25-46E3-B8D6-92FD0021F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1770" y="3665710"/>
              <a:ext cx="8302459" cy="2782324"/>
            </a:xfrm>
            <a:prstGeom prst="rect">
              <a:avLst/>
            </a:prstGeom>
          </p:spPr>
        </p:pic>
        <p:sp>
          <p:nvSpPr>
            <p:cNvPr id="8" name="모서리가 둥근 직사각형 6">
              <a:extLst>
                <a:ext uri="{FF2B5EF4-FFF2-40B4-BE49-F238E27FC236}">
                  <a16:creationId xmlns:a16="http://schemas.microsoft.com/office/drawing/2014/main" id="{2294D61B-4E07-46D3-99B5-2F69FD0F4033}"/>
                </a:ext>
              </a:extLst>
            </p:cNvPr>
            <p:cNvSpPr/>
            <p:nvPr/>
          </p:nvSpPr>
          <p:spPr>
            <a:xfrm>
              <a:off x="1296822" y="4112549"/>
              <a:ext cx="934821" cy="1243775"/>
            </a:xfrm>
            <a:prstGeom prst="roundRect">
              <a:avLst/>
            </a:prstGeom>
            <a:solidFill>
              <a:srgbClr val="FFC000">
                <a:alpha val="30196"/>
              </a:srgb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BC4834-8367-4EA4-92E8-2F176955CEF3}"/>
                </a:ext>
              </a:extLst>
            </p:cNvPr>
            <p:cNvSpPr txBox="1"/>
            <p:nvPr/>
          </p:nvSpPr>
          <p:spPr>
            <a:xfrm>
              <a:off x="2226052" y="4457798"/>
              <a:ext cx="3251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47282B9-1449-499B-8D41-1C6B42E27F69}"/>
                </a:ext>
              </a:extLst>
            </p:cNvPr>
            <p:cNvSpPr txBox="1"/>
            <p:nvPr/>
          </p:nvSpPr>
          <p:spPr>
            <a:xfrm>
              <a:off x="969399" y="4025750"/>
              <a:ext cx="3576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11" name="모서리가 둥근 직사각형 12">
              <a:extLst>
                <a:ext uri="{FF2B5EF4-FFF2-40B4-BE49-F238E27FC236}">
                  <a16:creationId xmlns:a16="http://schemas.microsoft.com/office/drawing/2014/main" id="{7261484C-0F18-4166-BA80-ED7152D2B3FC}"/>
                </a:ext>
              </a:extLst>
            </p:cNvPr>
            <p:cNvSpPr/>
            <p:nvPr/>
          </p:nvSpPr>
          <p:spPr>
            <a:xfrm>
              <a:off x="2190045" y="4827951"/>
              <a:ext cx="1664910" cy="497045"/>
            </a:xfrm>
            <a:prstGeom prst="roundRect">
              <a:avLst/>
            </a:prstGeom>
            <a:solidFill>
              <a:srgbClr val="92D050">
                <a:alpha val="40000"/>
              </a:srgb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모서리가 둥근 직사각형 14">
              <a:extLst>
                <a:ext uri="{FF2B5EF4-FFF2-40B4-BE49-F238E27FC236}">
                  <a16:creationId xmlns:a16="http://schemas.microsoft.com/office/drawing/2014/main" id="{63AE15DA-F8F4-464F-B716-D6E2B479566E}"/>
                </a:ext>
              </a:extLst>
            </p:cNvPr>
            <p:cNvSpPr/>
            <p:nvPr/>
          </p:nvSpPr>
          <p:spPr>
            <a:xfrm>
              <a:off x="3857189" y="4112549"/>
              <a:ext cx="934821" cy="1243775"/>
            </a:xfrm>
            <a:prstGeom prst="roundRect">
              <a:avLst/>
            </a:prstGeom>
            <a:solidFill>
              <a:srgbClr val="FFC000">
                <a:alpha val="30196"/>
              </a:srgb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C621953-F963-4469-AEB3-889130878341}"/>
                </a:ext>
              </a:extLst>
            </p:cNvPr>
            <p:cNvSpPr txBox="1"/>
            <p:nvPr/>
          </p:nvSpPr>
          <p:spPr>
            <a:xfrm>
              <a:off x="3559337" y="4019299"/>
              <a:ext cx="2956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14" name="모서리가 둥근 직사각형 16">
              <a:extLst>
                <a:ext uri="{FF2B5EF4-FFF2-40B4-BE49-F238E27FC236}">
                  <a16:creationId xmlns:a16="http://schemas.microsoft.com/office/drawing/2014/main" id="{39265FC4-855C-40AB-8D4D-D909461BC90C}"/>
                </a:ext>
              </a:extLst>
            </p:cNvPr>
            <p:cNvSpPr/>
            <p:nvPr/>
          </p:nvSpPr>
          <p:spPr>
            <a:xfrm>
              <a:off x="4774674" y="4793797"/>
              <a:ext cx="2745103" cy="565353"/>
            </a:xfrm>
            <a:prstGeom prst="roundRect">
              <a:avLst/>
            </a:prstGeom>
            <a:solidFill>
              <a:srgbClr val="91C6F7">
                <a:alpha val="40000"/>
              </a:srgb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E665CAB-9A82-4B8F-B98A-0000E41036AA}"/>
                </a:ext>
              </a:extLst>
            </p:cNvPr>
            <p:cNvSpPr/>
            <p:nvPr/>
          </p:nvSpPr>
          <p:spPr>
            <a:xfrm>
              <a:off x="4779679" y="4457798"/>
              <a:ext cx="4154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16" name="모서리가 둥근 직사각형 16">
              <a:extLst>
                <a:ext uri="{FF2B5EF4-FFF2-40B4-BE49-F238E27FC236}">
                  <a16:creationId xmlns:a16="http://schemas.microsoft.com/office/drawing/2014/main" id="{7C17B168-230D-4794-AB5B-5F616FC0EF63}"/>
                </a:ext>
              </a:extLst>
            </p:cNvPr>
            <p:cNvSpPr/>
            <p:nvPr/>
          </p:nvSpPr>
          <p:spPr>
            <a:xfrm>
              <a:off x="7495796" y="4793797"/>
              <a:ext cx="1392134" cy="565353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851D8A7-0B4B-4312-9ACD-07DF9EEDE94A}"/>
                </a:ext>
              </a:extLst>
            </p:cNvPr>
            <p:cNvSpPr/>
            <p:nvPr/>
          </p:nvSpPr>
          <p:spPr>
            <a:xfrm>
              <a:off x="7453924" y="4448506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FF0000"/>
                  </a:solidFill>
                </a:rPr>
                <a:t>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1965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6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E2A114D1-2F6E-449A-9A30-89FD58984B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706374" cy="498598"/>
          </a:xfrm>
        </p:spPr>
        <p:txBody>
          <a:bodyPr/>
          <a:lstStyle/>
          <a:p>
            <a:r>
              <a:rPr lang="en-US" altLang="ko-KR" sz="3600" dirty="0"/>
              <a:t>Distributed Coordination Function (DCF)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661CDDEB-4D7A-4BA9-B270-580E75AF4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/>
          <a:p>
            <a:pPr marL="514350" indent="-514350">
              <a:buFont typeface="+mj-ea"/>
              <a:buAutoNum type="circleNumDbPlain"/>
            </a:pPr>
            <a:r>
              <a:rPr lang="en-US" altLang="ko-KR" dirty="0"/>
              <a:t>Interframe Space (IFS)</a:t>
            </a:r>
          </a:p>
          <a:p>
            <a:pPr lvl="1">
              <a:buFontTx/>
              <a:buChar char="-"/>
            </a:pPr>
            <a:r>
              <a:rPr lang="en-US" altLang="ko-KR" sz="1800" dirty="0"/>
              <a:t>Busy </a:t>
            </a:r>
            <a:r>
              <a:rPr lang="ko-KR" altLang="en-US" sz="1800" dirty="0"/>
              <a:t>상태의 </a:t>
            </a:r>
            <a:r>
              <a:rPr lang="en-US" altLang="ko-KR" sz="1800" dirty="0"/>
              <a:t>medium</a:t>
            </a:r>
            <a:r>
              <a:rPr lang="ko-KR" altLang="en-US" sz="1800" dirty="0"/>
              <a:t>이 </a:t>
            </a:r>
            <a:r>
              <a:rPr lang="en-US" altLang="ko-KR" sz="1800" dirty="0"/>
              <a:t>idle </a:t>
            </a:r>
            <a:r>
              <a:rPr lang="ko-KR" altLang="en-US" sz="1800" dirty="0"/>
              <a:t>상태라고 변화했다는 판단을 하기 위해서 프레임 사이에 두는 시간</a:t>
            </a:r>
            <a:endParaRPr lang="en-US" altLang="ko-KR" sz="1800" dirty="0"/>
          </a:p>
          <a:p>
            <a:pPr lvl="1">
              <a:buFontTx/>
              <a:buChar char="-"/>
            </a:pPr>
            <a:r>
              <a:rPr lang="ko-KR" altLang="en-US" sz="1800" dirty="0"/>
              <a:t>우선 순위에 따라 </a:t>
            </a:r>
            <a:r>
              <a:rPr lang="en-US" altLang="ko-KR" sz="1800" dirty="0"/>
              <a:t>4</a:t>
            </a:r>
            <a:r>
              <a:rPr lang="ko-KR" altLang="en-US" sz="1800" dirty="0"/>
              <a:t>가지의 </a:t>
            </a:r>
            <a:r>
              <a:rPr lang="en-US" altLang="ko-KR" sz="1800" dirty="0"/>
              <a:t>IFS</a:t>
            </a:r>
            <a:r>
              <a:rPr lang="ko-KR" altLang="en-US" sz="1800" dirty="0"/>
              <a:t>가 정의되어 있음</a:t>
            </a:r>
            <a:endParaRPr lang="en-US" altLang="ko-KR" sz="2000" dirty="0"/>
          </a:p>
          <a:p>
            <a:endParaRPr lang="en-US" altLang="ko-KR" dirty="0"/>
          </a:p>
          <a:p>
            <a:pPr marL="361950" lvl="1" indent="0">
              <a:buNone/>
            </a:pP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8680B78-DE62-4D45-8C72-D6D651AB3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10093"/>
              </p:ext>
            </p:extLst>
          </p:nvPr>
        </p:nvGraphicFramePr>
        <p:xfrm>
          <a:off x="144462" y="2564904"/>
          <a:ext cx="96007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184">
                  <a:extLst>
                    <a:ext uri="{9D8B030D-6E8A-4147-A177-3AD203B41FA5}">
                      <a16:colId xmlns:a16="http://schemas.microsoft.com/office/drawing/2014/main" val="4102047078"/>
                    </a:ext>
                  </a:extLst>
                </a:gridCol>
                <a:gridCol w="2400184">
                  <a:extLst>
                    <a:ext uri="{9D8B030D-6E8A-4147-A177-3AD203B41FA5}">
                      <a16:colId xmlns:a16="http://schemas.microsoft.com/office/drawing/2014/main" val="1907194434"/>
                    </a:ext>
                  </a:extLst>
                </a:gridCol>
                <a:gridCol w="2400184">
                  <a:extLst>
                    <a:ext uri="{9D8B030D-6E8A-4147-A177-3AD203B41FA5}">
                      <a16:colId xmlns:a16="http://schemas.microsoft.com/office/drawing/2014/main" val="1555715938"/>
                    </a:ext>
                  </a:extLst>
                </a:gridCol>
                <a:gridCol w="2400184">
                  <a:extLst>
                    <a:ext uri="{9D8B030D-6E8A-4147-A177-3AD203B41FA5}">
                      <a16:colId xmlns:a16="http://schemas.microsoft.com/office/drawing/2014/main" val="875393702"/>
                    </a:ext>
                  </a:extLst>
                </a:gridCol>
              </a:tblGrid>
              <a:tr h="1672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SIFS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Short Interframe Space)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PIFS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(PCF Interframe Space)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(DCF Interframe Space)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EIFS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(Extended Interframe Space)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151496"/>
                  </a:ext>
                </a:extLst>
              </a:tr>
              <a:tr h="933681"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가장 짧은 대기지연 시간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을 갖고 있기 때문에 </a:t>
                      </a:r>
                      <a:r>
                        <a:rPr lang="ko-KR" altLang="en-US" sz="105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가장 높은 우선순위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를 갖는다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DCF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의 경우 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① 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ACK</a:t>
                      </a:r>
                      <a:r>
                        <a:rPr lang="en-US" altLang="ko-KR" sz="105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frame 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② </a:t>
                      </a:r>
                      <a:r>
                        <a:rPr lang="en-US" altLang="ko-KR" sz="105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CTS frame 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5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 ③ 연속 전달하는 </a:t>
                      </a:r>
                      <a:r>
                        <a:rPr lang="en-US" altLang="ko-KR" sz="105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frame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전송 전에 사용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PCF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기능에서 사용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Point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Coordinator(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혹은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AP)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가 채널을 점유하는 것에 다른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보다 우선순위를 주기 위해서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PIFS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는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DIFS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보다 짧고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SIFS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보다는 길다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DCF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를 통해서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를 하는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이 </a:t>
                      </a:r>
                      <a:r>
                        <a:rPr lang="en-US" altLang="ko-KR" sz="105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Backoff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time 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전에 기다리게 되는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IFS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DCF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를 통한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access 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중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이전에 감지된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frame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이 오류가 있다면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DIFS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가 아닌 좀 더 긴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EIFS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동안 대기한다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Frame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의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가 감지 되었더라도 실제 수신 목표가 되는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에서 문제없이 수신한 경우에 보내는 </a:t>
                      </a:r>
                      <a:r>
                        <a:rPr lang="en-US" altLang="ko-KR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ACK</a:t>
                      </a:r>
                      <a:r>
                        <a:rPr lang="ko-KR" altLang="en-US" sz="105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를 보장하기 위한 시간이다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492447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F5091E09-8407-4F26-B286-816353AAA888}"/>
              </a:ext>
            </a:extLst>
          </p:cNvPr>
          <p:cNvGrpSpPr/>
          <p:nvPr/>
        </p:nvGrpSpPr>
        <p:grpSpPr>
          <a:xfrm>
            <a:off x="1834119" y="4581128"/>
            <a:ext cx="6237762" cy="1910437"/>
            <a:chOff x="801770" y="3780734"/>
            <a:chExt cx="8302459" cy="254279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1D9F16B-20B7-4BB4-804F-52478F7941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134" b="4475"/>
            <a:stretch/>
          </p:blipFill>
          <p:spPr>
            <a:xfrm>
              <a:off x="801770" y="3780734"/>
              <a:ext cx="8302459" cy="2542792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</p:spPr>
        </p:pic>
        <p:sp>
          <p:nvSpPr>
            <p:cNvPr id="9" name="모서리가 둥근 직사각형 6">
              <a:extLst>
                <a:ext uri="{FF2B5EF4-FFF2-40B4-BE49-F238E27FC236}">
                  <a16:creationId xmlns:a16="http://schemas.microsoft.com/office/drawing/2014/main" id="{7D1A4777-BE66-47DE-8857-C5736F636E4E}"/>
                </a:ext>
              </a:extLst>
            </p:cNvPr>
            <p:cNvSpPr/>
            <p:nvPr/>
          </p:nvSpPr>
          <p:spPr>
            <a:xfrm>
              <a:off x="1250081" y="4050360"/>
              <a:ext cx="1028303" cy="1368152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모서리가 둥근 직사각형 14">
              <a:extLst>
                <a:ext uri="{FF2B5EF4-FFF2-40B4-BE49-F238E27FC236}">
                  <a16:creationId xmlns:a16="http://schemas.microsoft.com/office/drawing/2014/main" id="{9D8D4505-B62C-4B1F-B296-F1A61E4B2615}"/>
                </a:ext>
              </a:extLst>
            </p:cNvPr>
            <p:cNvSpPr/>
            <p:nvPr/>
          </p:nvSpPr>
          <p:spPr>
            <a:xfrm>
              <a:off x="3808983" y="4050359"/>
              <a:ext cx="1028302" cy="1368152"/>
            </a:xfrm>
            <a:prstGeom prst="roundRect">
              <a:avLst/>
            </a:prstGeom>
            <a:solidFill>
              <a:srgbClr val="FFC000">
                <a:alpha val="20000"/>
              </a:srgb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1490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7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7860ED12-3FB3-4FBE-AB3E-A2B9DD79BA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762830" cy="498598"/>
          </a:xfrm>
        </p:spPr>
        <p:txBody>
          <a:bodyPr/>
          <a:lstStyle/>
          <a:p>
            <a:r>
              <a:rPr lang="en-US" altLang="ko-KR" sz="3600" dirty="0"/>
              <a:t>Distributed Coordination Function (DCF)</a:t>
            </a:r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8C3E8913-BE41-4015-B99B-1491B68F0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908720"/>
            <a:ext cx="9633536" cy="5688632"/>
          </a:xfrm>
        </p:spPr>
        <p:txBody>
          <a:bodyPr>
            <a:normAutofit/>
          </a:bodyPr>
          <a:lstStyle/>
          <a:p>
            <a:pPr marL="514350" indent="-514350">
              <a:buFont typeface="+mj-ea"/>
              <a:buAutoNum type="circleNumDbPlain" startAt="2"/>
            </a:pPr>
            <a:r>
              <a:rPr lang="en-US" altLang="ko-KR" dirty="0"/>
              <a:t>Random </a:t>
            </a:r>
            <a:r>
              <a:rPr lang="en-US" altLang="ko-KR" dirty="0" err="1"/>
              <a:t>Backoff</a:t>
            </a:r>
            <a:r>
              <a:rPr lang="en-US" altLang="ko-KR" dirty="0"/>
              <a:t> Time</a:t>
            </a:r>
            <a:endParaRPr lang="en-US" altLang="ko-KR" sz="1800" dirty="0"/>
          </a:p>
          <a:p>
            <a:pPr lvl="1"/>
            <a:r>
              <a:rPr lang="en-US" altLang="ko-KR" sz="2000" dirty="0"/>
              <a:t>Contention Window (CW)</a:t>
            </a:r>
          </a:p>
          <a:p>
            <a:pPr lvl="2"/>
            <a:r>
              <a:rPr lang="ko-KR" altLang="en-US" sz="1800" dirty="0"/>
              <a:t>하나의 </a:t>
            </a:r>
            <a:r>
              <a:rPr lang="en-US" altLang="ko-KR" sz="1800" dirty="0"/>
              <a:t>CW</a:t>
            </a:r>
            <a:r>
              <a:rPr lang="ko-KR" altLang="en-US" sz="1800" dirty="0"/>
              <a:t>는 </a:t>
            </a:r>
            <a:r>
              <a:rPr lang="en-US" altLang="ko-KR" sz="1800" dirty="0"/>
              <a:t>slot time</a:t>
            </a:r>
            <a:r>
              <a:rPr lang="ko-KR" altLang="en-US" sz="1800" dirty="0"/>
              <a:t>단위로 표현</a:t>
            </a:r>
            <a:endParaRPr lang="en-US" altLang="ko-KR" sz="1800" dirty="0"/>
          </a:p>
          <a:p>
            <a:pPr lvl="2"/>
            <a:r>
              <a:rPr lang="en-US" altLang="ko-KR" sz="1800" dirty="0"/>
              <a:t>Station</a:t>
            </a:r>
            <a:r>
              <a:rPr lang="ko-KR" altLang="en-US" sz="1800" dirty="0"/>
              <a:t>은 임의의 </a:t>
            </a:r>
            <a:r>
              <a:rPr lang="en-US" altLang="ko-KR" sz="1800" dirty="0"/>
              <a:t>slot</a:t>
            </a:r>
            <a:r>
              <a:rPr lang="ko-KR" altLang="en-US" sz="1800" dirty="0"/>
              <a:t>을 선택하고</a:t>
            </a:r>
            <a:r>
              <a:rPr lang="en-US" altLang="ko-KR" sz="1800" dirty="0"/>
              <a:t>, </a:t>
            </a:r>
            <a:r>
              <a:rPr lang="ko-KR" altLang="en-US" sz="1800" dirty="0"/>
              <a:t>각 </a:t>
            </a:r>
            <a:r>
              <a:rPr lang="en-US" altLang="ko-KR" sz="1800" dirty="0"/>
              <a:t>slot time</a:t>
            </a:r>
            <a:r>
              <a:rPr lang="ko-KR" altLang="en-US" sz="1800" dirty="0"/>
              <a:t>마다 </a:t>
            </a:r>
            <a:r>
              <a:rPr lang="en-US" altLang="ko-KR" sz="1800" dirty="0"/>
              <a:t>CS</a:t>
            </a:r>
            <a:r>
              <a:rPr lang="ko-KR" altLang="en-US" sz="1800" dirty="0"/>
              <a:t>를 수행함</a:t>
            </a:r>
            <a:endParaRPr lang="en-US" altLang="ko-KR" sz="1800" dirty="0"/>
          </a:p>
          <a:p>
            <a:pPr lvl="3"/>
            <a:r>
              <a:rPr lang="en-US" altLang="ko-KR" sz="1600" dirty="0"/>
              <a:t>Carrier Sensing</a:t>
            </a:r>
            <a:r>
              <a:rPr lang="ko-KR" altLang="en-US" sz="1600" dirty="0"/>
              <a:t> </a:t>
            </a:r>
            <a:r>
              <a:rPr lang="en-US" altLang="ko-KR" sz="1600" dirty="0"/>
              <a:t>(CS):</a:t>
            </a:r>
            <a:r>
              <a:rPr lang="ko-KR" altLang="en-US" sz="1600" dirty="0"/>
              <a:t> 채널이 사용 중인지 아닌지를 감지</a:t>
            </a:r>
            <a:endParaRPr lang="en-US" altLang="ko-KR" sz="1600" dirty="0"/>
          </a:p>
          <a:p>
            <a:pPr lvl="2"/>
            <a:r>
              <a:rPr lang="en-US" altLang="ko-KR" sz="1800" dirty="0"/>
              <a:t>CS</a:t>
            </a:r>
            <a:r>
              <a:rPr lang="ko-KR" altLang="en-US" sz="1800" dirty="0"/>
              <a:t>를 한번 수행했을 때</a:t>
            </a:r>
            <a:endParaRPr lang="en-US" altLang="ko-KR" sz="1800" dirty="0"/>
          </a:p>
          <a:p>
            <a:pPr lvl="3"/>
            <a:r>
              <a:rPr lang="en-US" altLang="ko-KR" sz="1600" dirty="0"/>
              <a:t>Busy </a:t>
            </a:r>
            <a:r>
              <a:rPr lang="ko-KR" altLang="en-US" sz="1600" dirty="0"/>
              <a:t>상태 </a:t>
            </a:r>
            <a:r>
              <a:rPr lang="en-US" altLang="ko-KR" sz="1600" dirty="0"/>
              <a:t>-</a:t>
            </a:r>
            <a:r>
              <a:rPr lang="ko-KR" altLang="en-US" sz="1600" dirty="0"/>
              <a:t> </a:t>
            </a:r>
            <a:r>
              <a:rPr lang="en-US" altLang="ko-KR" sz="1600" dirty="0" err="1"/>
              <a:t>Backoff</a:t>
            </a:r>
            <a:r>
              <a:rPr lang="en-US" altLang="ko-KR" sz="1600" dirty="0"/>
              <a:t> </a:t>
            </a:r>
            <a:r>
              <a:rPr lang="ko-KR" altLang="en-US" sz="1600" dirty="0"/>
              <a:t>값을 유지함</a:t>
            </a:r>
            <a:endParaRPr lang="en-US" altLang="ko-KR" sz="1600" dirty="0"/>
          </a:p>
          <a:p>
            <a:pPr lvl="3"/>
            <a:r>
              <a:rPr lang="en-US" altLang="ko-KR" sz="1600" dirty="0"/>
              <a:t>Idle </a:t>
            </a:r>
            <a:r>
              <a:rPr lang="ko-KR" altLang="en-US" sz="1600" dirty="0"/>
              <a:t>상태 </a:t>
            </a:r>
            <a:r>
              <a:rPr lang="en-US" altLang="ko-KR" sz="1600" dirty="0"/>
              <a:t>-  </a:t>
            </a:r>
            <a:r>
              <a:rPr lang="en-US" altLang="ko-KR" sz="1600" dirty="0" err="1"/>
              <a:t>Backoff</a:t>
            </a:r>
            <a:r>
              <a:rPr lang="en-US" altLang="ko-KR" sz="1600" dirty="0"/>
              <a:t> </a:t>
            </a:r>
            <a:r>
              <a:rPr lang="ko-KR" altLang="en-US" sz="1600" dirty="0"/>
              <a:t>값을 하나 감소시킴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endParaRPr lang="ko-KR" altLang="en-US" sz="1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D29F82D-A177-4DED-ACDD-D84294EB7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920" y="3786584"/>
            <a:ext cx="5367869" cy="2522736"/>
          </a:xfrm>
          <a:prstGeom prst="rect">
            <a:avLst/>
          </a:prstGeom>
        </p:spPr>
      </p:pic>
      <p:pic>
        <p:nvPicPr>
          <p:cNvPr id="11" name="Picture 2" descr="Contention window에 대한 이미지 검색결과">
            <a:extLst>
              <a:ext uri="{FF2B5EF4-FFF2-40B4-BE49-F238E27FC236}">
                <a16:creationId xmlns:a16="http://schemas.microsoft.com/office/drawing/2014/main" id="{28212987-587F-4BFD-ACF3-2670531822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74"/>
          <a:stretch/>
        </p:blipFill>
        <p:spPr bwMode="auto">
          <a:xfrm>
            <a:off x="290811" y="4638764"/>
            <a:ext cx="3828081" cy="99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6D5C5E02-910C-4A47-93C1-D15896F2396F}"/>
              </a:ext>
            </a:extLst>
          </p:cNvPr>
          <p:cNvSpPr/>
          <p:nvPr/>
        </p:nvSpPr>
        <p:spPr>
          <a:xfrm>
            <a:off x="309415" y="5047952"/>
            <a:ext cx="343675" cy="582050"/>
          </a:xfrm>
          <a:prstGeom prst="parallelogram">
            <a:avLst>
              <a:gd name="adj" fmla="val 52514"/>
            </a:avLst>
          </a:prstGeom>
          <a:solidFill>
            <a:srgbClr val="FFC000">
              <a:alpha val="4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769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2E09559-2351-439A-890A-B819DF974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154" y="4589640"/>
            <a:ext cx="6413744" cy="2133044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8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E68A37C5-7453-4750-A178-A71ED2CC8A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69" y="144000"/>
            <a:ext cx="9645363" cy="498598"/>
          </a:xfrm>
        </p:spPr>
        <p:txBody>
          <a:bodyPr/>
          <a:lstStyle/>
          <a:p>
            <a:r>
              <a:rPr lang="en-US" altLang="ko-KR" sz="3600" dirty="0"/>
              <a:t>Distributed Coordination Function (DCF)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3">
                <a:extLst>
                  <a:ext uri="{FF2B5EF4-FFF2-40B4-BE49-F238E27FC236}">
                    <a16:creationId xmlns:a16="http://schemas.microsoft.com/office/drawing/2014/main" id="{57A61EFF-B657-46E7-8487-000B3B89A1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3999" y="908720"/>
                <a:ext cx="6326629" cy="3888432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ea"/>
                  <a:buAutoNum type="circleNumDbPlain" startAt="2"/>
                </a:pPr>
                <a:r>
                  <a:rPr lang="en-US" altLang="ko-KR" dirty="0"/>
                  <a:t>Random </a:t>
                </a:r>
                <a:r>
                  <a:rPr lang="en-US" altLang="ko-KR" dirty="0" err="1"/>
                  <a:t>Backoff</a:t>
                </a:r>
                <a:r>
                  <a:rPr lang="en-US" altLang="ko-KR" dirty="0"/>
                  <a:t> Time</a:t>
                </a:r>
              </a:p>
              <a:p>
                <a:pPr lvl="1"/>
                <a:r>
                  <a:rPr lang="en-US" altLang="ko-KR" sz="2000" dirty="0"/>
                  <a:t>Binary Exponential </a:t>
                </a:r>
                <a:r>
                  <a:rPr lang="en-US" altLang="ko-KR" sz="2000" dirty="0" err="1"/>
                  <a:t>Backoff</a:t>
                </a:r>
                <a:r>
                  <a:rPr lang="en-US" altLang="ko-KR" sz="2000" dirty="0"/>
                  <a:t> (BEB)</a:t>
                </a:r>
                <a:r>
                  <a:rPr lang="ko-KR" altLang="en-US" sz="2000" dirty="0"/>
                  <a:t>를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통해 결정됨</a:t>
                </a:r>
                <a:endParaRPr lang="en-US" altLang="ko-KR" sz="2000" dirty="0"/>
              </a:p>
              <a:p>
                <a:pPr lvl="2"/>
                <a:r>
                  <a:rPr lang="ko-KR" altLang="en-US" sz="1600" dirty="0"/>
                  <a:t>첫 번째 전송 시도의 </a:t>
                </a:r>
                <a:r>
                  <a:rPr lang="en-US" altLang="ko-KR" sz="1600" dirty="0"/>
                  <a:t>CW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[0,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𝐶𝑊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altLang="ko-KR" sz="1600" dirty="0"/>
                  <a:t>] </a:t>
                </a:r>
                <a:r>
                  <a:rPr lang="ko-KR" altLang="en-US" sz="1600" dirty="0"/>
                  <a:t>사이의 </a:t>
                </a:r>
                <a:r>
                  <a:rPr lang="ko-KR" altLang="en-US" sz="1600" dirty="0" err="1"/>
                  <a:t>정수값으로</a:t>
                </a:r>
                <a:r>
                  <a:rPr lang="ko-KR" altLang="en-US" sz="1600" dirty="0"/>
                  <a:t> 설정</a:t>
                </a:r>
              </a:p>
              <a:p>
                <a:pPr lvl="2"/>
                <a:r>
                  <a:rPr lang="ko-KR" altLang="en-US" sz="1600" dirty="0"/>
                  <a:t>전송 실패할 경우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다음 전송 시도 </a:t>
                </a:r>
                <a:r>
                  <a:rPr lang="en-US" altLang="ko-KR" sz="1600" dirty="0"/>
                  <a:t>(next stage)</a:t>
                </a:r>
                <a:r>
                  <a:rPr lang="ko-KR" altLang="en-US" sz="1600" dirty="0"/>
                  <a:t>에서 </a:t>
                </a:r>
                <a:r>
                  <a:rPr lang="en-US" altLang="ko-KR" sz="1600" dirty="0"/>
                  <a:t>CW </a:t>
                </a:r>
                <a:r>
                  <a:rPr lang="ko-KR" altLang="en-US" sz="1600" dirty="0"/>
                  <a:t>선택범위가 </a:t>
                </a:r>
                <a:r>
                  <a:rPr lang="en-US" altLang="ko-KR" sz="1600" dirty="0"/>
                  <a:t>2</a:t>
                </a:r>
                <a:r>
                  <a:rPr lang="ko-KR" altLang="en-US" sz="1600" dirty="0" err="1"/>
                  <a:t>배씩</a:t>
                </a:r>
                <a:r>
                  <a:rPr lang="ko-KR" altLang="en-US" sz="1600" dirty="0"/>
                  <a:t> 늘어남</a:t>
                </a:r>
              </a:p>
              <a:p>
                <a:pPr lvl="2"/>
                <a:r>
                  <a:rPr lang="ko-KR" altLang="en-US" sz="1600" dirty="0"/>
                  <a:t>전송 실패 시 </a:t>
                </a:r>
                <a:r>
                  <a:rPr lang="en-US" altLang="ko-KR" sz="1600" dirty="0"/>
                  <a:t>CW</a:t>
                </a:r>
                <a:r>
                  <a:rPr lang="ko-KR" altLang="en-US" sz="1600" dirty="0"/>
                  <a:t> 선택범위의 최대 값은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𝐶𝑊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ko-KR" altLang="en-US" sz="1600" dirty="0"/>
                  <a:t>까지 증가될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수 있음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𝐶𝑊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ko-KR" sz="1600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𝐶𝑊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altLang="ko-KR" sz="1600" dirty="0"/>
                  <a:t>)</a:t>
                </a:r>
                <a:endParaRPr lang="ko-KR" altLang="en-US" sz="1600" dirty="0"/>
              </a:p>
              <a:p>
                <a:pPr lvl="2"/>
                <a:r>
                  <a:rPr lang="en-US" altLang="ko-KR" sz="1600" dirty="0"/>
                  <a:t>CW </a:t>
                </a:r>
                <a:r>
                  <a:rPr lang="ko-KR" altLang="en-US" sz="1600" dirty="0"/>
                  <a:t>최대 선택범위가</a:t>
                </a:r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𝐶𝑊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ko-KR" altLang="en-US" sz="1600" dirty="0"/>
                  <a:t>를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초과하면 유지</a:t>
                </a:r>
                <a:endParaRPr lang="en-US" altLang="ko-KR" sz="1600" dirty="0"/>
              </a:p>
              <a:p>
                <a:pPr lvl="2"/>
                <a:r>
                  <a:rPr lang="ko-KR" altLang="en-US" sz="1600" dirty="0"/>
                  <a:t>데이터 프레임이 성공적으로 전송될 때</a:t>
                </a:r>
                <a:r>
                  <a:rPr lang="en-US" altLang="ko-KR" sz="1600" dirty="0"/>
                  <a:t>,</a:t>
                </a:r>
                <a:r>
                  <a:rPr lang="ko-KR" altLang="en-US" sz="1600" dirty="0"/>
                  <a:t> 재전송 시도 횟수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𝑀𝑎𝑥𝑅𝑒𝑡𝑟𝑦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가 최대값에 도달하여 프레임이 버려질 때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최소값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𝐶𝑊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으로 재설정 </a:t>
                </a:r>
              </a:p>
            </p:txBody>
          </p:sp>
        </mc:Choice>
        <mc:Fallback xmlns="">
          <p:sp>
            <p:nvSpPr>
              <p:cNvPr id="6" name="내용 개체 틀 3">
                <a:extLst>
                  <a:ext uri="{FF2B5EF4-FFF2-40B4-BE49-F238E27FC236}">
                    <a16:creationId xmlns:a16="http://schemas.microsoft.com/office/drawing/2014/main" id="{57A61EFF-B657-46E7-8487-000B3B89A1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999" y="908720"/>
                <a:ext cx="6326629" cy="3888432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AEFFDB47-3C00-431A-9428-A83E736417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98" t="3150" r="4893"/>
          <a:stretch/>
        </p:blipFill>
        <p:spPr>
          <a:xfrm>
            <a:off x="6378758" y="1087660"/>
            <a:ext cx="3485188" cy="3746576"/>
          </a:xfrm>
          <a:prstGeom prst="rect">
            <a:avLst/>
          </a:prstGeom>
        </p:spPr>
      </p:pic>
      <p:sp>
        <p:nvSpPr>
          <p:cNvPr id="9" name="화살표: 아래로 구부러짐 8">
            <a:extLst>
              <a:ext uri="{FF2B5EF4-FFF2-40B4-BE49-F238E27FC236}">
                <a16:creationId xmlns:a16="http://schemas.microsoft.com/office/drawing/2014/main" id="{BB35319B-8AFB-4F3C-9193-3B5E6BBE50C6}"/>
              </a:ext>
            </a:extLst>
          </p:cNvPr>
          <p:cNvSpPr/>
          <p:nvPr/>
        </p:nvSpPr>
        <p:spPr>
          <a:xfrm rot="21045306">
            <a:off x="7124116" y="3401776"/>
            <a:ext cx="392771" cy="130924"/>
          </a:xfrm>
          <a:prstGeom prst="curved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10" name="화살표: 아래로 구부러짐 9">
            <a:extLst>
              <a:ext uri="{FF2B5EF4-FFF2-40B4-BE49-F238E27FC236}">
                <a16:creationId xmlns:a16="http://schemas.microsoft.com/office/drawing/2014/main" id="{5F2F7DDE-F479-4C42-96FF-2D0DC3A84891}"/>
              </a:ext>
            </a:extLst>
          </p:cNvPr>
          <p:cNvSpPr/>
          <p:nvPr/>
        </p:nvSpPr>
        <p:spPr>
          <a:xfrm rot="21045306">
            <a:off x="7432583" y="3243676"/>
            <a:ext cx="392771" cy="130924"/>
          </a:xfrm>
          <a:prstGeom prst="curved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11" name="화살표: 아래로 구부러짐 10">
            <a:extLst>
              <a:ext uri="{FF2B5EF4-FFF2-40B4-BE49-F238E27FC236}">
                <a16:creationId xmlns:a16="http://schemas.microsoft.com/office/drawing/2014/main" id="{C8A2E29F-4D74-447C-A111-A37DEDECD95D}"/>
              </a:ext>
            </a:extLst>
          </p:cNvPr>
          <p:cNvSpPr/>
          <p:nvPr/>
        </p:nvSpPr>
        <p:spPr>
          <a:xfrm rot="19570979">
            <a:off x="7709052" y="2984813"/>
            <a:ext cx="432048" cy="130924"/>
          </a:xfrm>
          <a:prstGeom prst="curved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12" name="화살표: 아래로 구부러짐 11">
            <a:extLst>
              <a:ext uri="{FF2B5EF4-FFF2-40B4-BE49-F238E27FC236}">
                <a16:creationId xmlns:a16="http://schemas.microsoft.com/office/drawing/2014/main" id="{62BDC560-EA2B-4A7A-B43F-00629987B819}"/>
              </a:ext>
            </a:extLst>
          </p:cNvPr>
          <p:cNvSpPr/>
          <p:nvPr/>
        </p:nvSpPr>
        <p:spPr>
          <a:xfrm rot="18652288">
            <a:off x="7758286" y="2423711"/>
            <a:ext cx="765400" cy="231941"/>
          </a:xfrm>
          <a:prstGeom prst="curved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13" name="화살표: 아래로 구부러짐 12">
            <a:extLst>
              <a:ext uri="{FF2B5EF4-FFF2-40B4-BE49-F238E27FC236}">
                <a16:creationId xmlns:a16="http://schemas.microsoft.com/office/drawing/2014/main" id="{33FA9B86-D479-4614-87FC-26A15466207A}"/>
              </a:ext>
            </a:extLst>
          </p:cNvPr>
          <p:cNvSpPr/>
          <p:nvPr/>
        </p:nvSpPr>
        <p:spPr>
          <a:xfrm rot="17206881">
            <a:off x="7781189" y="1578960"/>
            <a:ext cx="1120622" cy="255135"/>
          </a:xfrm>
          <a:prstGeom prst="curved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14" name="화살표: 아래로 구부러짐 13">
            <a:extLst>
              <a:ext uri="{FF2B5EF4-FFF2-40B4-BE49-F238E27FC236}">
                <a16:creationId xmlns:a16="http://schemas.microsoft.com/office/drawing/2014/main" id="{1A5B6168-DB16-40A7-9055-E6ABC349AB0E}"/>
              </a:ext>
            </a:extLst>
          </p:cNvPr>
          <p:cNvSpPr/>
          <p:nvPr/>
        </p:nvSpPr>
        <p:spPr>
          <a:xfrm>
            <a:off x="8683748" y="1022198"/>
            <a:ext cx="392771" cy="130924"/>
          </a:xfrm>
          <a:prstGeom prst="curved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내용 개체 틀 3">
                <a:extLst>
                  <a:ext uri="{FF2B5EF4-FFF2-40B4-BE49-F238E27FC236}">
                    <a16:creationId xmlns:a16="http://schemas.microsoft.com/office/drawing/2014/main" id="{BC94171B-C6C8-459A-B794-8044076F5A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85248" y="2197892"/>
                <a:ext cx="818800" cy="2950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6700" indent="-2667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  <a:defRPr sz="28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1pPr>
                <a:lvl2pPr marL="622300" indent="-26035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함초롬돋움" panose="020B0504000101010101" pitchFamily="50" charset="-127"/>
                  <a:buChar char="—"/>
                  <a:tabLst>
                    <a:tab pos="542925" algn="l"/>
                  </a:tabLst>
                  <a:defRPr sz="24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2pPr>
                <a:lvl3pPr marL="812800" indent="-269875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  <a:defRPr sz="20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3pPr>
                <a:lvl4pPr marL="1168400" indent="-27305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§"/>
                  <a:defRPr sz="18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4pPr>
                <a:lvl5pPr marL="1346200" indent="-269875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함초롬돋움" panose="020B0504000101010101" pitchFamily="50" charset="-127"/>
                  <a:buChar char="»"/>
                  <a:defRPr sz="18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400" i="1" smtClean="0">
                              <a:ln>
                                <a:solidFill>
                                  <a:srgbClr val="FF0000">
                                    <a:alpha val="50000"/>
                                  </a:srgbClr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n>
                                <a:solidFill>
                                  <a:srgbClr val="FF0000">
                                    <a:alpha val="50000"/>
                                  </a:srgbClr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ko-KR" sz="1400" b="0" i="1" smtClean="0">
                              <a:ln>
                                <a:solidFill>
                                  <a:srgbClr val="FF0000">
                                    <a:alpha val="50000"/>
                                  </a:srgbClr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ko-KR" sz="1400" b="0" i="1" smtClean="0">
                          <a:ln>
                            <a:solidFill>
                              <a:srgbClr val="FF0000">
                                <a:alpha val="50000"/>
                              </a:srgbClr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ko-KR" sz="1400" dirty="0">
                  <a:ln>
                    <a:solidFill>
                      <a:srgbClr val="FF0000">
                        <a:alpha val="50000"/>
                      </a:srgbClr>
                    </a:solidFill>
                  </a:ln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내용 개체 틀 3">
                <a:extLst>
                  <a:ext uri="{FF2B5EF4-FFF2-40B4-BE49-F238E27FC236}">
                    <a16:creationId xmlns:a16="http://schemas.microsoft.com/office/drawing/2014/main" id="{BC94171B-C6C8-459A-B794-8044076F5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248" y="2197892"/>
                <a:ext cx="818800" cy="2950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내용 개체 틀 3">
                <a:extLst>
                  <a:ext uri="{FF2B5EF4-FFF2-40B4-BE49-F238E27FC236}">
                    <a16:creationId xmlns:a16="http://schemas.microsoft.com/office/drawing/2014/main" id="{333F2C6F-A2A3-46C2-9B6D-FAEEBB549A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15082" y="732265"/>
                <a:ext cx="1123293" cy="2950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6700" indent="-2667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  <a:defRPr sz="28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1pPr>
                <a:lvl2pPr marL="622300" indent="-26035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함초롬돋움" panose="020B0504000101010101" pitchFamily="50" charset="-127"/>
                  <a:buChar char="—"/>
                  <a:tabLst>
                    <a:tab pos="542925" algn="l"/>
                  </a:tabLst>
                  <a:defRPr sz="24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2pPr>
                <a:lvl3pPr marL="812800" indent="-269875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  <a:defRPr sz="20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3pPr>
                <a:lvl4pPr marL="1168400" indent="-27305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§"/>
                  <a:defRPr sz="18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4pPr>
                <a:lvl5pPr marL="1346200" indent="-269875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함초롬돋움" panose="020B0504000101010101" pitchFamily="50" charset="-127"/>
                  <a:buChar char="»"/>
                  <a:defRPr sz="1800" kern="1200" baseline="0">
                    <a:ln>
                      <a:solidFill>
                        <a:schemeClr val="tx1">
                          <a:alpha val="50000"/>
                        </a:schemeClr>
                      </a:solidFill>
                    </a:ln>
                    <a:solidFill>
                      <a:schemeClr val="tx1"/>
                    </a:solidFill>
                    <a:latin typeface="Arial" pitchFamily="34" charset="0"/>
                    <a:ea typeface="맑은 고딕" pitchFamily="50" charset="-127"/>
                    <a:cs typeface="Arial" pitchFamily="34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n>
                              <a:solidFill>
                                <a:srgbClr val="FF0000">
                                  <a:alpha val="50000"/>
                                </a:srgbClr>
                              </a:solidFill>
                            </a:ln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>
                              <a:solidFill>
                                <a:srgbClr val="FF0000">
                                  <a:alpha val="50000"/>
                                </a:srgbClr>
                              </a:solidFill>
                            </a:ln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𝐶𝑊</m:t>
                        </m:r>
                      </m:e>
                      <m:sub>
                        <m:r>
                          <a:rPr lang="en-US" altLang="ko-KR" sz="1400" b="0" i="1" smtClean="0">
                            <a:ln>
                              <a:solidFill>
                                <a:srgbClr val="FF0000">
                                  <a:alpha val="50000"/>
                                </a:srgbClr>
                              </a:solidFill>
                            </a:ln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ko-KR" altLang="en-US" sz="1400" dirty="0">
                    <a:ln>
                      <a:solidFill>
                        <a:srgbClr val="FF0000">
                          <a:alpha val="50000"/>
                        </a:srgbClr>
                      </a:solidFill>
                    </a:ln>
                    <a:solidFill>
                      <a:srgbClr val="FF0000"/>
                    </a:solidFill>
                  </a:rPr>
                  <a:t> 유지</a:t>
                </a:r>
                <a:endParaRPr lang="en-US" altLang="ko-KR" sz="1400" dirty="0">
                  <a:ln>
                    <a:solidFill>
                      <a:srgbClr val="FF0000">
                        <a:alpha val="50000"/>
                      </a:srgbClr>
                    </a:solidFill>
                  </a:ln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내용 개체 틀 3">
                <a:extLst>
                  <a:ext uri="{FF2B5EF4-FFF2-40B4-BE49-F238E27FC236}">
                    <a16:creationId xmlns:a16="http://schemas.microsoft.com/office/drawing/2014/main" id="{333F2C6F-A2A3-46C2-9B6D-FAEEBB549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5082" y="732265"/>
                <a:ext cx="1123293" cy="2950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178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9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8B7B1A2D-ECA3-4011-9B6D-D1E440D9AC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706374" cy="498598"/>
          </a:xfrm>
        </p:spPr>
        <p:txBody>
          <a:bodyPr/>
          <a:lstStyle/>
          <a:p>
            <a:r>
              <a:rPr lang="en-US" altLang="ko-KR" sz="3600" dirty="0"/>
              <a:t>Distributed Coordination Function (DCF)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895955F-1194-4734-8FE8-6E6AA8744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/>
          <a:p>
            <a:pPr marL="514350" indent="-514350">
              <a:buFont typeface="+mj-ea"/>
              <a:buAutoNum type="circleNumDbPlain" startAt="2"/>
            </a:pPr>
            <a:r>
              <a:rPr lang="en-US" altLang="ko-KR" dirty="0"/>
              <a:t>Random </a:t>
            </a:r>
            <a:r>
              <a:rPr lang="en-US" altLang="ko-KR" dirty="0" err="1"/>
              <a:t>Backoff</a:t>
            </a:r>
            <a:r>
              <a:rPr lang="en-US" altLang="ko-KR" dirty="0"/>
              <a:t> Time</a:t>
            </a:r>
          </a:p>
          <a:p>
            <a:pPr lvl="1"/>
            <a:r>
              <a:rPr lang="en-US" altLang="ko-KR" sz="2000" dirty="0"/>
              <a:t>Example</a:t>
            </a:r>
          </a:p>
          <a:p>
            <a:pPr lvl="2"/>
            <a:r>
              <a:rPr lang="en-US" altLang="ko-KR" sz="1800" dirty="0"/>
              <a:t>1</a:t>
            </a:r>
            <a:r>
              <a:rPr lang="ko-KR" altLang="en-US" sz="1800" dirty="0"/>
              <a:t>번째 시도에서 </a:t>
            </a:r>
            <a:r>
              <a:rPr lang="en-US" altLang="ko-KR" sz="1800" dirty="0"/>
              <a:t>CW </a:t>
            </a:r>
            <a:r>
              <a:rPr lang="ko-KR" altLang="en-US" sz="1800" dirty="0"/>
              <a:t>선택 범위</a:t>
            </a:r>
            <a:r>
              <a:rPr lang="en-US" altLang="ko-KR" sz="1800" dirty="0"/>
              <a:t>: 0 </a:t>
            </a:r>
            <a:r>
              <a:rPr lang="ko-KR" altLang="en-US" sz="1800" dirty="0"/>
              <a:t>≤ </a:t>
            </a:r>
            <a:r>
              <a:rPr lang="en-US" altLang="ko-KR" sz="1800" dirty="0"/>
              <a:t>CW </a:t>
            </a:r>
            <a:r>
              <a:rPr lang="ko-KR" altLang="en-US" sz="1800" dirty="0"/>
              <a:t>≤</a:t>
            </a:r>
            <a:r>
              <a:rPr lang="en-US" altLang="ko-KR" sz="1800" dirty="0"/>
              <a:t> 7 </a:t>
            </a:r>
          </a:p>
          <a:p>
            <a:pPr lvl="2"/>
            <a:r>
              <a:rPr lang="en-US" altLang="ko-KR" sz="1800" dirty="0"/>
              <a:t>2</a:t>
            </a:r>
            <a:r>
              <a:rPr lang="ko-KR" altLang="en-US" sz="1800" dirty="0"/>
              <a:t>번째 시도에서 </a:t>
            </a:r>
            <a:r>
              <a:rPr lang="en-US" altLang="ko-KR" sz="1800" dirty="0"/>
              <a:t>CW</a:t>
            </a:r>
            <a:r>
              <a:rPr lang="ko-KR" altLang="en-US" sz="1800" dirty="0"/>
              <a:t> 선택 범위</a:t>
            </a:r>
            <a:r>
              <a:rPr lang="en-US" altLang="ko-KR" sz="1800" dirty="0"/>
              <a:t>: 0 </a:t>
            </a:r>
            <a:r>
              <a:rPr lang="ko-KR" altLang="en-US" sz="1800" dirty="0"/>
              <a:t>≤ </a:t>
            </a:r>
            <a:r>
              <a:rPr lang="en-US" altLang="ko-KR" sz="1800" dirty="0"/>
              <a:t>CW </a:t>
            </a:r>
            <a:r>
              <a:rPr lang="ko-KR" altLang="en-US" sz="1800" dirty="0"/>
              <a:t>≤</a:t>
            </a:r>
            <a:r>
              <a:rPr lang="en-US" altLang="ko-KR" sz="1800" dirty="0"/>
              <a:t> 15</a:t>
            </a:r>
          </a:p>
          <a:p>
            <a:pPr lvl="1"/>
            <a:endParaRPr lang="en-US" altLang="ko-KR" sz="2000" dirty="0"/>
          </a:p>
          <a:p>
            <a:pPr marL="895350" lvl="3" indent="0">
              <a:buNone/>
            </a:pPr>
            <a:endParaRPr lang="en-US" altLang="ko-KR" sz="1600" dirty="0"/>
          </a:p>
          <a:p>
            <a:pPr marL="361950" lvl="1" indent="0">
              <a:buNone/>
            </a:pP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7EE6382-D2AA-48AC-82B4-4AC7758D5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06" y="2697306"/>
            <a:ext cx="9359188" cy="3681480"/>
          </a:xfrm>
          <a:prstGeom prst="rect">
            <a:avLst/>
          </a:prstGeom>
        </p:spPr>
      </p:pic>
      <p:sp>
        <p:nvSpPr>
          <p:cNvPr id="7" name="화살표: 왼쪽으로 구부러짐 6">
            <a:extLst>
              <a:ext uri="{FF2B5EF4-FFF2-40B4-BE49-F238E27FC236}">
                <a16:creationId xmlns:a16="http://schemas.microsoft.com/office/drawing/2014/main" id="{1B9A30F1-55E1-4205-80B9-77FFF24EDBF0}"/>
              </a:ext>
            </a:extLst>
          </p:cNvPr>
          <p:cNvSpPr/>
          <p:nvPr/>
        </p:nvSpPr>
        <p:spPr>
          <a:xfrm>
            <a:off x="5602871" y="1837815"/>
            <a:ext cx="182488" cy="498598"/>
          </a:xfrm>
          <a:prstGeom prst="curvedLef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4EBCBAF2-878A-4159-B82B-AEA36EC26C0C}"/>
              </a:ext>
            </a:extLst>
          </p:cNvPr>
          <p:cNvSpPr txBox="1">
            <a:spLocks/>
          </p:cNvSpPr>
          <p:nvPr/>
        </p:nvSpPr>
        <p:spPr>
          <a:xfrm>
            <a:off x="5882558" y="1916832"/>
            <a:ext cx="3750036" cy="340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dirty="0">
                <a:solidFill>
                  <a:srgbClr val="FF0000"/>
                </a:solidFill>
              </a:rPr>
              <a:t>전송 실패로 </a:t>
            </a:r>
            <a:r>
              <a:rPr lang="en-US" altLang="ko-KR" sz="1600" dirty="0">
                <a:solidFill>
                  <a:srgbClr val="FF0000"/>
                </a:solidFill>
              </a:rPr>
              <a:t>CW </a:t>
            </a:r>
            <a:r>
              <a:rPr lang="ko-KR" altLang="en-US" sz="1600" dirty="0">
                <a:solidFill>
                  <a:srgbClr val="FF0000"/>
                </a:solidFill>
              </a:rPr>
              <a:t>선택 범위가 두배가 됨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132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10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A535EB55-8D82-4316-AB7E-394CA05CD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/>
          <a:p>
            <a:r>
              <a:rPr lang="en-US" altLang="ko-KR" dirty="0"/>
              <a:t>Hidden station problem</a:t>
            </a:r>
          </a:p>
          <a:p>
            <a:pPr lvl="1"/>
            <a:r>
              <a:rPr lang="ko-KR" altLang="en-US" sz="1800" dirty="0"/>
              <a:t>무선 네트워크에서 자신의 전송 범위 내의 </a:t>
            </a:r>
            <a:r>
              <a:rPr lang="en-US" altLang="ko-KR" sz="1800" dirty="0"/>
              <a:t>station</a:t>
            </a:r>
            <a:r>
              <a:rPr lang="ko-KR" altLang="en-US" sz="1800" dirty="0"/>
              <a:t>은 보이지만 전송</a:t>
            </a:r>
            <a:r>
              <a:rPr lang="en-US" altLang="ko-KR" sz="1800" dirty="0"/>
              <a:t> </a:t>
            </a:r>
            <a:r>
              <a:rPr lang="ko-KR" altLang="en-US" sz="1800" dirty="0"/>
              <a:t>밖의 </a:t>
            </a:r>
            <a:r>
              <a:rPr lang="en-US" altLang="ko-KR" sz="1800" dirty="0"/>
              <a:t>station</a:t>
            </a:r>
            <a:r>
              <a:rPr lang="ko-KR" altLang="en-US" sz="1800" dirty="0"/>
              <a:t>이 전송 범위 안의 </a:t>
            </a:r>
            <a:r>
              <a:rPr lang="en-US" altLang="ko-KR" sz="1800" dirty="0"/>
              <a:t>station</a:t>
            </a:r>
            <a:r>
              <a:rPr lang="ko-KR" altLang="en-US" sz="1800" dirty="0"/>
              <a:t>과 통신하는 것을 보지 못하는 문제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marL="1238250" lvl="3" indent="-342900">
              <a:buFont typeface="+mj-ea"/>
              <a:buAutoNum type="circleNumDbPlain"/>
            </a:pPr>
            <a:r>
              <a:rPr lang="en-US" altLang="ko-KR" sz="1600" dirty="0"/>
              <a:t>B</a:t>
            </a:r>
            <a:r>
              <a:rPr lang="ko-KR" altLang="en-US" sz="1600" dirty="0"/>
              <a:t>는 </a:t>
            </a:r>
            <a:r>
              <a:rPr lang="en-US" altLang="ko-KR" sz="1600" dirty="0"/>
              <a:t>C</a:t>
            </a:r>
            <a:r>
              <a:rPr lang="ko-KR" altLang="en-US" sz="1600" dirty="0"/>
              <a:t>에 의해 전송되는 신호 감지를 못함</a:t>
            </a:r>
            <a:endParaRPr lang="en-US" altLang="ko-KR" sz="1600" dirty="0"/>
          </a:p>
          <a:p>
            <a:pPr marL="1238250" lvl="3" indent="-342900">
              <a:buFont typeface="+mj-ea"/>
              <a:buAutoNum type="circleNumDbPlain"/>
            </a:pPr>
            <a:r>
              <a:rPr lang="en-US" altLang="ko-KR" sz="1600" dirty="0"/>
              <a:t>C</a:t>
            </a:r>
            <a:r>
              <a:rPr lang="ko-KR" altLang="en-US" sz="1600" dirty="0"/>
              <a:t>는 </a:t>
            </a:r>
            <a:r>
              <a:rPr lang="en-US" altLang="ko-KR" sz="1600" dirty="0"/>
              <a:t>B</a:t>
            </a:r>
            <a:r>
              <a:rPr lang="ko-KR" altLang="en-US" sz="1600" dirty="0"/>
              <a:t>에 의해 전송되는 신호 감지를 못함</a:t>
            </a:r>
            <a:endParaRPr lang="en-US" altLang="ko-KR" sz="1600" dirty="0"/>
          </a:p>
          <a:p>
            <a:pPr marL="1238250" lvl="3" indent="-342900">
              <a:buFont typeface="+mj-ea"/>
              <a:buAutoNum type="circleNumDbPlain"/>
            </a:pPr>
            <a:r>
              <a:rPr lang="en-US" altLang="ko-KR" sz="1600" dirty="0"/>
              <a:t>B</a:t>
            </a:r>
            <a:r>
              <a:rPr lang="ko-KR" altLang="en-US" sz="1600" dirty="0"/>
              <a:t>에서 </a:t>
            </a:r>
            <a:r>
              <a:rPr lang="en-US" altLang="ko-KR" sz="1600" dirty="0"/>
              <a:t>A</a:t>
            </a:r>
            <a:r>
              <a:rPr lang="ko-KR" altLang="en-US" sz="1600" dirty="0"/>
              <a:t>로 데이터를 전송할 때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/>
              <a:t>B</a:t>
            </a:r>
            <a:r>
              <a:rPr lang="ko-KR" altLang="en-US" sz="1600" dirty="0"/>
              <a:t>의 신호가 </a:t>
            </a:r>
            <a:r>
              <a:rPr lang="en-US" altLang="ko-KR" sz="1600" dirty="0"/>
              <a:t>C</a:t>
            </a:r>
            <a:r>
              <a:rPr lang="ko-KR" altLang="en-US" sz="1600" dirty="0"/>
              <a:t>에 전달되지 않아</a:t>
            </a:r>
            <a:br>
              <a:rPr lang="en-US" altLang="ko-KR" sz="1600" dirty="0"/>
            </a:br>
            <a:r>
              <a:rPr lang="en-US" altLang="ko-KR" sz="1600" dirty="0"/>
              <a:t>C</a:t>
            </a:r>
            <a:r>
              <a:rPr lang="ko-KR" altLang="en-US" sz="1600" dirty="0"/>
              <a:t>는 </a:t>
            </a:r>
            <a:r>
              <a:rPr lang="en-US" altLang="ko-KR" sz="1600" dirty="0"/>
              <a:t>A</a:t>
            </a:r>
            <a:r>
              <a:rPr lang="ko-KR" altLang="en-US" sz="1600" dirty="0"/>
              <a:t>에게 전송을 시작하고 충돌 발생</a:t>
            </a:r>
            <a:endParaRPr lang="en-US" altLang="ko-KR" sz="1600" dirty="0"/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ko-KR" sz="1600" dirty="0"/>
              <a:t>IEEE 802.11 </a:t>
            </a:r>
            <a:r>
              <a:rPr lang="ko-KR" altLang="en-US" sz="1600" dirty="0"/>
              <a:t>에서는 </a:t>
            </a:r>
            <a:r>
              <a:rPr lang="en-US" altLang="ko-KR" sz="1600" dirty="0">
                <a:solidFill>
                  <a:srgbClr val="FF0000"/>
                </a:solidFill>
              </a:rPr>
              <a:t>RTS/CTS</a:t>
            </a:r>
            <a:r>
              <a:rPr lang="ko-KR" altLang="en-US" sz="1600" dirty="0">
                <a:solidFill>
                  <a:srgbClr val="FF0000"/>
                </a:solidFill>
              </a:rPr>
              <a:t>를 통해서 해결</a:t>
            </a:r>
            <a:r>
              <a:rPr lang="ko-KR" altLang="en-US" sz="1600" dirty="0"/>
              <a:t>할 수 있다</a:t>
            </a:r>
            <a:endParaRPr lang="en-US" altLang="ko-KR" sz="1600" dirty="0"/>
          </a:p>
          <a:p>
            <a:endParaRPr lang="en-US" altLang="ko-KR" sz="24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F25F15E5-18D3-45FE-9AC9-51AA39C369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762830" cy="498598"/>
          </a:xfrm>
        </p:spPr>
        <p:txBody>
          <a:bodyPr/>
          <a:lstStyle/>
          <a:p>
            <a:r>
              <a:rPr lang="en-US" altLang="ko-KR" sz="3600" dirty="0"/>
              <a:t>Distributed Coordination Function (DCF)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B812466-DAFA-4BF9-8224-2789A5485FFC}"/>
              </a:ext>
            </a:extLst>
          </p:cNvPr>
          <p:cNvGrpSpPr/>
          <p:nvPr/>
        </p:nvGrpSpPr>
        <p:grpSpPr>
          <a:xfrm>
            <a:off x="1914823" y="4249666"/>
            <a:ext cx="6076354" cy="1915638"/>
            <a:chOff x="2432117" y="2101854"/>
            <a:chExt cx="5024965" cy="1584176"/>
          </a:xfrm>
        </p:grpSpPr>
        <p:pic>
          <p:nvPicPr>
            <p:cNvPr id="7" name="Picture 4" descr="http://cfile4.uf.tistory.com/image/21419748569E152310C392">
              <a:extLst>
                <a:ext uri="{FF2B5EF4-FFF2-40B4-BE49-F238E27FC236}">
                  <a16:creationId xmlns:a16="http://schemas.microsoft.com/office/drawing/2014/main" id="{D006C8FB-B066-4FE9-BC26-D159D25F7E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618"/>
            <a:stretch/>
          </p:blipFill>
          <p:spPr bwMode="auto">
            <a:xfrm>
              <a:off x="2432117" y="2101854"/>
              <a:ext cx="5024965" cy="1584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오른쪽 화살표 7">
              <a:extLst>
                <a:ext uri="{FF2B5EF4-FFF2-40B4-BE49-F238E27FC236}">
                  <a16:creationId xmlns:a16="http://schemas.microsoft.com/office/drawing/2014/main" id="{C1788E79-62AD-46CC-B9F1-F5E721B6503D}"/>
                </a:ext>
              </a:extLst>
            </p:cNvPr>
            <p:cNvSpPr/>
            <p:nvPr/>
          </p:nvSpPr>
          <p:spPr>
            <a:xfrm>
              <a:off x="4160912" y="2780928"/>
              <a:ext cx="360040" cy="7200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오른쪽 화살표 16">
              <a:extLst>
                <a:ext uri="{FF2B5EF4-FFF2-40B4-BE49-F238E27FC236}">
                  <a16:creationId xmlns:a16="http://schemas.microsoft.com/office/drawing/2014/main" id="{A0D2C06F-921D-4A98-A188-F3B0E34259BA}"/>
                </a:ext>
              </a:extLst>
            </p:cNvPr>
            <p:cNvSpPr/>
            <p:nvPr/>
          </p:nvSpPr>
          <p:spPr>
            <a:xfrm rot="10800000">
              <a:off x="5304971" y="2780928"/>
              <a:ext cx="360040" cy="7200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FE12D481-8598-4400-8094-1D109D8359D8}"/>
              </a:ext>
            </a:extLst>
          </p:cNvPr>
          <p:cNvSpPr txBox="1">
            <a:spLocks/>
          </p:cNvSpPr>
          <p:nvPr/>
        </p:nvSpPr>
        <p:spPr>
          <a:xfrm>
            <a:off x="5445594" y="2386081"/>
            <a:ext cx="3700541" cy="5571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ln>
                  <a:solidFill>
                    <a:srgbClr val="FF0000">
                      <a:alpha val="50000"/>
                    </a:srgbClr>
                  </a:solidFill>
                </a:ln>
                <a:solidFill>
                  <a:srgbClr val="FF0000"/>
                </a:solidFill>
              </a:rPr>
              <a:t>B</a:t>
            </a:r>
            <a:r>
              <a:rPr lang="ko-KR" altLang="en-US" sz="1200" dirty="0">
                <a:ln>
                  <a:solidFill>
                    <a:srgbClr val="FF0000">
                      <a:alpha val="50000"/>
                    </a:srgbClr>
                  </a:solidFill>
                </a:ln>
                <a:solidFill>
                  <a:srgbClr val="FF0000"/>
                </a:solidFill>
              </a:rPr>
              <a:t>는 </a:t>
            </a:r>
            <a:r>
              <a:rPr lang="en-US" altLang="ko-KR" sz="1200" dirty="0">
                <a:ln>
                  <a:solidFill>
                    <a:srgbClr val="FF0000">
                      <a:alpha val="50000"/>
                    </a:srgbClr>
                  </a:solidFill>
                </a:ln>
                <a:solidFill>
                  <a:srgbClr val="FF0000"/>
                </a:solidFill>
              </a:rPr>
              <a:t>C</a:t>
            </a:r>
            <a:r>
              <a:rPr lang="ko-KR" altLang="en-US" sz="1200" dirty="0">
                <a:ln>
                  <a:solidFill>
                    <a:srgbClr val="FF0000">
                      <a:alpha val="50000"/>
                    </a:srgbClr>
                  </a:solidFill>
                </a:ln>
                <a:solidFill>
                  <a:srgbClr val="FF0000"/>
                </a:solidFill>
              </a:rPr>
              <a:t>범위 안에 없고</a:t>
            </a:r>
            <a:r>
              <a:rPr lang="en-US" altLang="ko-KR" sz="1200" dirty="0">
                <a:ln>
                  <a:solidFill>
                    <a:srgbClr val="FF0000">
                      <a:alpha val="50000"/>
                    </a:srgbClr>
                  </a:solidFill>
                </a:ln>
                <a:solidFill>
                  <a:srgbClr val="FF0000"/>
                </a:solidFill>
              </a:rPr>
              <a:t>, C</a:t>
            </a:r>
            <a:r>
              <a:rPr lang="ko-KR" altLang="en-US" sz="1200" dirty="0">
                <a:ln>
                  <a:solidFill>
                    <a:srgbClr val="FF0000">
                      <a:alpha val="50000"/>
                    </a:srgbClr>
                  </a:solidFill>
                </a:ln>
                <a:solidFill>
                  <a:srgbClr val="FF0000"/>
                </a:solidFill>
              </a:rPr>
              <a:t>도 </a:t>
            </a:r>
            <a:r>
              <a:rPr lang="en-US" altLang="ko-KR" sz="1200" dirty="0">
                <a:ln>
                  <a:solidFill>
                    <a:srgbClr val="FF0000">
                      <a:alpha val="50000"/>
                    </a:srgbClr>
                  </a:solidFill>
                </a:ln>
                <a:solidFill>
                  <a:srgbClr val="FF0000"/>
                </a:solidFill>
              </a:rPr>
              <a:t>B</a:t>
            </a:r>
            <a:r>
              <a:rPr lang="ko-KR" altLang="en-US" sz="1200" dirty="0">
                <a:ln>
                  <a:solidFill>
                    <a:srgbClr val="FF0000">
                      <a:alpha val="50000"/>
                    </a:srgbClr>
                  </a:solidFill>
                </a:ln>
                <a:solidFill>
                  <a:srgbClr val="FF0000"/>
                </a:solidFill>
              </a:rPr>
              <a:t>범위 안에 없기 때문에</a:t>
            </a:r>
            <a:endParaRPr lang="en-US" altLang="ko-KR" sz="1200" dirty="0">
              <a:ln>
                <a:solidFill>
                  <a:srgbClr val="FF0000">
                    <a:alpha val="50000"/>
                  </a:srgbClr>
                </a:solidFill>
              </a:ln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ko-KR" altLang="en-US" sz="1200" dirty="0">
                <a:ln>
                  <a:solidFill>
                    <a:srgbClr val="FF0000">
                      <a:alpha val="50000"/>
                    </a:srgbClr>
                  </a:solidFill>
                </a:ln>
                <a:solidFill>
                  <a:srgbClr val="FF0000"/>
                </a:solidFill>
              </a:rPr>
              <a:t>서로의 존재를 모름</a:t>
            </a:r>
            <a:endParaRPr lang="en-US" altLang="ko-KR" sz="1200" dirty="0">
              <a:ln>
                <a:solidFill>
                  <a:srgbClr val="FF0000">
                    <a:alpha val="50000"/>
                  </a:srgbClr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1" name="왼쪽 중괄호 10">
            <a:extLst>
              <a:ext uri="{FF2B5EF4-FFF2-40B4-BE49-F238E27FC236}">
                <a16:creationId xmlns:a16="http://schemas.microsoft.com/office/drawing/2014/main" id="{FF97B56B-E33D-449B-BA56-68AF3EDAD1E9}"/>
              </a:ext>
            </a:extLst>
          </p:cNvPr>
          <p:cNvSpPr/>
          <p:nvPr/>
        </p:nvSpPr>
        <p:spPr>
          <a:xfrm flipH="1">
            <a:off x="5221093" y="2435363"/>
            <a:ext cx="163955" cy="458588"/>
          </a:xfrm>
          <a:prstGeom prst="leftBrace">
            <a:avLst>
              <a:gd name="adj1" fmla="val 17199"/>
              <a:gd name="adj2" fmla="val 49418"/>
            </a:avLst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F2AB3F42-6930-4FD2-9F27-0F57112F8AB9}"/>
              </a:ext>
            </a:extLst>
          </p:cNvPr>
          <p:cNvSpPr txBox="1">
            <a:spLocks/>
          </p:cNvSpPr>
          <p:nvPr/>
        </p:nvSpPr>
        <p:spPr>
          <a:xfrm>
            <a:off x="7329264" y="2870038"/>
            <a:ext cx="2576736" cy="919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622300" indent="-2603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—"/>
              <a:tabLst>
                <a:tab pos="542925" algn="l"/>
              </a:tabLst>
              <a:defRPr sz="24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2pPr>
            <a:lvl3pPr marL="8128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  <a:defRPr sz="20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3pPr>
            <a:lvl4pPr marL="1168400" indent="-27305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4pPr>
            <a:lvl5pPr marL="1346200" indent="-269875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함초롬돋움" panose="020B0504000101010101" pitchFamily="50" charset="-127"/>
              <a:buChar char="»"/>
              <a:defRPr sz="1800" kern="1200" baseline="0">
                <a:ln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200" dirty="0">
                <a:ln>
                  <a:solidFill>
                    <a:srgbClr val="FF0000">
                      <a:alpha val="50000"/>
                    </a:srgbClr>
                  </a:solidFill>
                </a:ln>
                <a:solidFill>
                  <a:srgbClr val="FF0000"/>
                </a:solidFill>
              </a:rPr>
              <a:t>서로의 존재를 모르기 때문에</a:t>
            </a:r>
            <a:endParaRPr lang="en-US" altLang="ko-KR" sz="1200" dirty="0">
              <a:ln>
                <a:solidFill>
                  <a:srgbClr val="FF0000">
                    <a:alpha val="50000"/>
                  </a:srgbClr>
                </a:solidFill>
              </a:ln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ko-KR" altLang="en-US" sz="1200" dirty="0">
                <a:ln>
                  <a:solidFill>
                    <a:srgbClr val="FF0000">
                      <a:alpha val="50000"/>
                    </a:srgbClr>
                  </a:solidFill>
                </a:ln>
                <a:solidFill>
                  <a:srgbClr val="FF0000"/>
                </a:solidFill>
              </a:rPr>
              <a:t>동시에 전송하면 </a:t>
            </a:r>
            <a:r>
              <a:rPr lang="en-US" altLang="ko-KR" sz="1200" dirty="0">
                <a:ln>
                  <a:solidFill>
                    <a:srgbClr val="FF0000">
                      <a:alpha val="50000"/>
                    </a:srgbClr>
                  </a:solidFill>
                </a:ln>
                <a:solidFill>
                  <a:srgbClr val="FF0000"/>
                </a:solidFill>
              </a:rPr>
              <a:t>A</a:t>
            </a:r>
            <a:r>
              <a:rPr lang="ko-KR" altLang="en-US" sz="1200" dirty="0">
                <a:ln>
                  <a:solidFill>
                    <a:srgbClr val="FF0000">
                      <a:alpha val="50000"/>
                    </a:srgbClr>
                  </a:solidFill>
                </a:ln>
                <a:solidFill>
                  <a:srgbClr val="FF0000"/>
                </a:solidFill>
              </a:rPr>
              <a:t>에서 충돌할</a:t>
            </a:r>
            <a:endParaRPr lang="en-US" altLang="ko-KR" sz="1200" dirty="0">
              <a:ln>
                <a:solidFill>
                  <a:srgbClr val="FF0000">
                    <a:alpha val="50000"/>
                  </a:srgbClr>
                </a:solidFill>
              </a:ln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ko-KR" altLang="en-US" sz="1200" dirty="0">
                <a:ln>
                  <a:solidFill>
                    <a:srgbClr val="FF0000">
                      <a:alpha val="50000"/>
                    </a:srgbClr>
                  </a:solidFill>
                </a:ln>
                <a:solidFill>
                  <a:srgbClr val="FF0000"/>
                </a:solidFill>
              </a:rPr>
              <a:t>가능성이 있음</a:t>
            </a:r>
            <a:endParaRPr lang="en-US" altLang="ko-KR" sz="1200" dirty="0">
              <a:ln>
                <a:solidFill>
                  <a:srgbClr val="FF0000">
                    <a:alpha val="50000"/>
                  </a:srgbClr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2DBBDA8A-4826-41B8-BFE7-41DEBCF1B1B2}"/>
              </a:ext>
            </a:extLst>
          </p:cNvPr>
          <p:cNvSpPr/>
          <p:nvPr/>
        </p:nvSpPr>
        <p:spPr>
          <a:xfrm flipH="1">
            <a:off x="7093301" y="3058600"/>
            <a:ext cx="163955" cy="458588"/>
          </a:xfrm>
          <a:prstGeom prst="leftBrace">
            <a:avLst>
              <a:gd name="adj1" fmla="val 17199"/>
              <a:gd name="adj2" fmla="val 49418"/>
            </a:avLst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396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11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958C7552-4D70-4226-BA8D-1532C13240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8770270" cy="553998"/>
          </a:xfrm>
        </p:spPr>
        <p:txBody>
          <a:bodyPr/>
          <a:lstStyle/>
          <a:p>
            <a:r>
              <a:rPr lang="en-US" altLang="ko-KR" dirty="0"/>
              <a:t>Distributed Coordination Function</a:t>
            </a:r>
            <a:endParaRPr lang="ko-KR" altLang="en-US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BC1CC373-41AC-4CF7-BBC8-B01E0AD10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/>
          <a:p>
            <a:r>
              <a:rPr lang="en-US" altLang="ko-KR" dirty="0"/>
              <a:t>RTS/CTS access</a:t>
            </a:r>
          </a:p>
          <a:p>
            <a:pPr lvl="1"/>
            <a:r>
              <a:rPr lang="en-US" altLang="ko-KR" sz="1600" dirty="0"/>
              <a:t>IEEE 802.11</a:t>
            </a:r>
            <a:r>
              <a:rPr lang="ko-KR" altLang="en-US" sz="1600" dirty="0"/>
              <a:t>의 전송 옵션</a:t>
            </a:r>
            <a:endParaRPr lang="en-US" altLang="ko-KR" sz="1600" dirty="0"/>
          </a:p>
          <a:p>
            <a:pPr lvl="1"/>
            <a:r>
              <a:rPr lang="en-US" altLang="ko-KR" sz="1600" dirty="0"/>
              <a:t>4 way Handshaking (RTS-CTS-Data-ACK)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lvl="1"/>
            <a:r>
              <a:rPr lang="en-US" altLang="ko-KR" sz="1600" dirty="0"/>
              <a:t>RTS/CTS</a:t>
            </a:r>
            <a:r>
              <a:rPr lang="ko-KR" altLang="en-US" sz="1600" dirty="0"/>
              <a:t>는 빠른 </a:t>
            </a:r>
            <a:r>
              <a:rPr lang="en-US" altLang="ko-KR" sz="1600" dirty="0"/>
              <a:t>Collision inference</a:t>
            </a:r>
            <a:r>
              <a:rPr lang="ko-KR" altLang="en-US" sz="1600" dirty="0"/>
              <a:t>와 </a:t>
            </a:r>
            <a:r>
              <a:rPr lang="en-US" altLang="ko-KR" sz="1600" dirty="0"/>
              <a:t>transmission path check</a:t>
            </a:r>
            <a:r>
              <a:rPr lang="ko-KR" altLang="en-US" sz="1600" dirty="0"/>
              <a:t>가 가능한 것이 장점</a:t>
            </a:r>
            <a:endParaRPr lang="en-US" altLang="ko-KR" sz="1600" dirty="0"/>
          </a:p>
          <a:p>
            <a:pPr lvl="1"/>
            <a:r>
              <a:rPr lang="en-US" altLang="ko-KR" sz="1600" dirty="0"/>
              <a:t>Hidden station problem</a:t>
            </a:r>
            <a:r>
              <a:rPr lang="ko-KR" altLang="en-US" sz="1600" dirty="0"/>
              <a:t>을 해결할 수 있지만</a:t>
            </a:r>
            <a:r>
              <a:rPr lang="en-US" altLang="ko-KR" sz="1600" dirty="0"/>
              <a:t>, Exposed station problem</a:t>
            </a:r>
            <a:r>
              <a:rPr lang="ko-KR" altLang="en-US" sz="1600" dirty="0"/>
              <a:t>을 발생시킴</a:t>
            </a:r>
            <a:endParaRPr lang="en-US" altLang="ko-KR" sz="1600" dirty="0"/>
          </a:p>
          <a:p>
            <a:pPr lvl="1"/>
            <a:r>
              <a:rPr lang="en-US" altLang="ko-KR" sz="1600" dirty="0"/>
              <a:t>NAV (Network</a:t>
            </a:r>
            <a:r>
              <a:rPr lang="ko-KR" altLang="en-US" sz="1600" dirty="0"/>
              <a:t> </a:t>
            </a:r>
            <a:r>
              <a:rPr lang="en-US" altLang="ko-KR" sz="1600" dirty="0"/>
              <a:t>allocation</a:t>
            </a:r>
            <a:r>
              <a:rPr lang="ko-KR" altLang="en-US" sz="1600" dirty="0"/>
              <a:t> </a:t>
            </a:r>
            <a:r>
              <a:rPr lang="en-US" altLang="ko-KR" sz="1600" dirty="0"/>
              <a:t>vector)</a:t>
            </a:r>
          </a:p>
          <a:p>
            <a:pPr lvl="2"/>
            <a:r>
              <a:rPr lang="en-US" altLang="ko-KR" sz="1400" dirty="0"/>
              <a:t>Data</a:t>
            </a:r>
            <a:r>
              <a:rPr lang="ko-KR" altLang="en-US" sz="1400" dirty="0"/>
              <a:t>를 전송하는 </a:t>
            </a:r>
            <a:r>
              <a:rPr lang="en-US" altLang="ko-KR" sz="1400" dirty="0"/>
              <a:t>station</a:t>
            </a:r>
            <a:r>
              <a:rPr lang="ko-KR" altLang="en-US" sz="1400" dirty="0"/>
              <a:t>은 </a:t>
            </a:r>
            <a:r>
              <a:rPr lang="en-US" altLang="ko-KR" sz="1400" dirty="0"/>
              <a:t>RTS/CTS </a:t>
            </a:r>
            <a:r>
              <a:rPr lang="ko-KR" altLang="en-US" sz="1400" dirty="0"/>
              <a:t>프레임 혹은 실제 </a:t>
            </a:r>
            <a:r>
              <a:rPr lang="en-US" altLang="ko-KR" sz="1400" dirty="0"/>
              <a:t>Data frame</a:t>
            </a:r>
            <a:r>
              <a:rPr lang="ko-KR" altLang="en-US" sz="1400" dirty="0"/>
              <a:t>의 </a:t>
            </a:r>
            <a:r>
              <a:rPr lang="en-US" altLang="ko-KR" sz="1400" dirty="0"/>
              <a:t>Duration/ID field</a:t>
            </a:r>
            <a:r>
              <a:rPr lang="ko-KR" altLang="en-US" sz="1400" dirty="0"/>
              <a:t>를 통해서 다른 </a:t>
            </a:r>
            <a:r>
              <a:rPr lang="en-US" altLang="ko-KR" sz="1400" dirty="0"/>
              <a:t>station</a:t>
            </a:r>
            <a:r>
              <a:rPr lang="ko-KR" altLang="en-US" sz="1400" dirty="0"/>
              <a:t>들에게 시간정보를 전달하고 </a:t>
            </a:r>
            <a:r>
              <a:rPr lang="en-US" altLang="ko-KR" sz="1400" dirty="0"/>
              <a:t>medium</a:t>
            </a:r>
            <a:r>
              <a:rPr lang="ko-KR" altLang="en-US" sz="1400" dirty="0"/>
              <a:t>사용을 예약</a:t>
            </a:r>
            <a:endParaRPr lang="en-US" altLang="ko-KR" sz="1400" dirty="0"/>
          </a:p>
          <a:p>
            <a:pPr lvl="3"/>
            <a:r>
              <a:rPr lang="ko-KR" altLang="en-US" sz="1200" dirty="0"/>
              <a:t>일종의 매체 사용 예약 타이머 역할을 하는 값</a:t>
            </a:r>
            <a:endParaRPr lang="en-US" altLang="ko-KR" sz="1200" dirty="0"/>
          </a:p>
          <a:p>
            <a:pPr lvl="2"/>
            <a:r>
              <a:rPr lang="ko-KR" altLang="en-US" sz="1400" dirty="0"/>
              <a:t>시간정보를 전달받은 다른 </a:t>
            </a:r>
            <a:r>
              <a:rPr lang="en-US" altLang="ko-KR" sz="1400" dirty="0"/>
              <a:t>station</a:t>
            </a:r>
            <a:r>
              <a:rPr lang="ko-KR" altLang="en-US" sz="1400" dirty="0"/>
              <a:t>들은 그 시간만큼 대기함</a:t>
            </a:r>
            <a:endParaRPr lang="en-US" altLang="ko-KR" sz="1400" dirty="0"/>
          </a:p>
          <a:p>
            <a:pPr lvl="2"/>
            <a:r>
              <a:rPr lang="en-US" altLang="ko-KR" sz="1400" dirty="0"/>
              <a:t>Data frame</a:t>
            </a:r>
            <a:r>
              <a:rPr lang="ko-KR" altLang="en-US" sz="1400" dirty="0"/>
              <a:t>의 길이와 </a:t>
            </a:r>
            <a:r>
              <a:rPr lang="en-US" altLang="ko-KR" sz="1400" dirty="0"/>
              <a:t>ACK frame</a:t>
            </a:r>
            <a:r>
              <a:rPr lang="ko-KR" altLang="en-US" sz="1400" dirty="0"/>
              <a:t>의 길이 그리고 경우에 따라서 쓰이는 </a:t>
            </a:r>
            <a:r>
              <a:rPr lang="en-US" altLang="ko-KR" sz="1400" dirty="0"/>
              <a:t>IFS</a:t>
            </a:r>
            <a:r>
              <a:rPr lang="ko-KR" altLang="en-US" sz="1400" dirty="0"/>
              <a:t>의 길이를 포함하여 </a:t>
            </a:r>
            <a:r>
              <a:rPr lang="en-US" altLang="ko-KR" sz="1400" dirty="0"/>
              <a:t>NAV</a:t>
            </a:r>
            <a:r>
              <a:rPr lang="ko-KR" altLang="en-US" sz="1400" dirty="0"/>
              <a:t>가</a:t>
            </a:r>
            <a:r>
              <a:rPr lang="en-US" altLang="ko-KR" sz="1400" dirty="0"/>
              <a:t> </a:t>
            </a:r>
            <a:r>
              <a:rPr lang="ko-KR" altLang="en-US" sz="1400" dirty="0"/>
              <a:t>설정됨</a:t>
            </a:r>
            <a:endParaRPr lang="en-US" altLang="ko-KR" sz="1400" dirty="0"/>
          </a:p>
          <a:p>
            <a:pPr lvl="1"/>
            <a:endParaRPr lang="en-US" altLang="ko-KR" dirty="0"/>
          </a:p>
          <a:p>
            <a:endParaRPr lang="en-US" altLang="ko-KR" sz="1600" dirty="0"/>
          </a:p>
          <a:p>
            <a:pPr marL="361950" lvl="1" indent="0">
              <a:buNone/>
            </a:pPr>
            <a:endParaRPr lang="en-US" altLang="ko-KR" dirty="0"/>
          </a:p>
        </p:txBody>
      </p:sp>
      <p:pic>
        <p:nvPicPr>
          <p:cNvPr id="6" name="Picture 2" descr="http://www.invocom.et.put.poznan.pl/~invocom/C/P1-4/p1-4_en/figures/fig7_05.gif">
            <a:extLst>
              <a:ext uri="{FF2B5EF4-FFF2-40B4-BE49-F238E27FC236}">
                <a16:creationId xmlns:a16="http://schemas.microsoft.com/office/drawing/2014/main" id="{BFCC9FA7-3112-4B31-9E0A-E3B4EA2F6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00" y="4581128"/>
            <a:ext cx="4216467" cy="1805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BD99887-9470-4490-8E4F-01625DD891AD}"/>
              </a:ext>
            </a:extLst>
          </p:cNvPr>
          <p:cNvSpPr/>
          <p:nvPr/>
        </p:nvSpPr>
        <p:spPr>
          <a:xfrm>
            <a:off x="1672226" y="6525344"/>
            <a:ext cx="1972015" cy="231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/>
              <a:t>Basic Access Mechanism</a:t>
            </a:r>
            <a:endParaRPr lang="en-US" altLang="ko-KR" sz="1400" i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8395F9-C6F4-4720-8460-B1F634F4AE8D}"/>
              </a:ext>
            </a:extLst>
          </p:cNvPr>
          <p:cNvSpPr/>
          <p:nvPr/>
        </p:nvSpPr>
        <p:spPr>
          <a:xfrm>
            <a:off x="6227572" y="6525344"/>
            <a:ext cx="2200218" cy="2543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/>
              <a:t>RTS/CTS Access Mechanism</a:t>
            </a:r>
            <a:endParaRPr lang="en-US" altLang="ko-KR" sz="1400" i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3E33D6B-D6E6-4E7C-B70E-3C4B8FC28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467" y="4365104"/>
            <a:ext cx="4310431" cy="217437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64C5690-06F0-4410-B1B8-9FEADDE822E8}"/>
              </a:ext>
            </a:extLst>
          </p:cNvPr>
          <p:cNvSpPr/>
          <p:nvPr/>
        </p:nvSpPr>
        <p:spPr>
          <a:xfrm>
            <a:off x="7254006" y="908720"/>
            <a:ext cx="25079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RTS:</a:t>
            </a:r>
            <a:r>
              <a:rPr lang="ko-KR" altLang="en-US" dirty="0"/>
              <a:t> </a:t>
            </a:r>
            <a:r>
              <a:rPr lang="en-US" altLang="ko-KR" dirty="0"/>
              <a:t>Request to Send </a:t>
            </a: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CTS: Clear to Send</a:t>
            </a:r>
          </a:p>
        </p:txBody>
      </p:sp>
    </p:spTree>
    <p:extLst>
      <p:ext uri="{BB962C8B-B14F-4D97-AF65-F5344CB8AC3E}">
        <p14:creationId xmlns:p14="http://schemas.microsoft.com/office/powerpoint/2010/main" val="1052036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12</a:t>
            </a:fld>
            <a:endParaRPr lang="en-US" dirty="0">
              <a:cs typeface="Arial" panose="020B0604020202020204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01AB56F-7E03-43F5-B510-3431D9E57CEF}"/>
              </a:ext>
            </a:extLst>
          </p:cNvPr>
          <p:cNvGrpSpPr/>
          <p:nvPr/>
        </p:nvGrpSpPr>
        <p:grpSpPr>
          <a:xfrm>
            <a:off x="4748030" y="3861048"/>
            <a:ext cx="4813482" cy="2391810"/>
            <a:chOff x="4953000" y="3861048"/>
            <a:chExt cx="4813482" cy="2391810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B0653D77-F4D6-4776-8BF1-452264E2151A}"/>
                </a:ext>
              </a:extLst>
            </p:cNvPr>
            <p:cNvGrpSpPr/>
            <p:nvPr/>
          </p:nvGrpSpPr>
          <p:grpSpPr>
            <a:xfrm>
              <a:off x="4953000" y="3861048"/>
              <a:ext cx="4813482" cy="2391810"/>
              <a:chOff x="4953000" y="3861048"/>
              <a:chExt cx="4813482" cy="2391810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99A0AB12-68F7-4F22-891E-A5A14E78B0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25008" y="3861048"/>
                <a:ext cx="4741474" cy="2391810"/>
              </a:xfrm>
              <a:prstGeom prst="rect">
                <a:avLst/>
              </a:prstGeom>
            </p:spPr>
          </p:pic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A580142-3489-4D5E-8D8B-360FF9D7D072}"/>
                  </a:ext>
                </a:extLst>
              </p:cNvPr>
              <p:cNvSpPr/>
              <p:nvPr/>
            </p:nvSpPr>
            <p:spPr>
              <a:xfrm>
                <a:off x="4953000" y="3914326"/>
                <a:ext cx="655500" cy="18909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311055D6-2BD7-4E8C-83BB-C86EB1AC3B37}"/>
                  </a:ext>
                </a:extLst>
              </p:cNvPr>
              <p:cNvSpPr/>
              <p:nvPr/>
            </p:nvSpPr>
            <p:spPr>
              <a:xfrm>
                <a:off x="5550867" y="4725144"/>
                <a:ext cx="259281" cy="19729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14866A2-57A5-4796-8A52-26082F94588B}"/>
                </a:ext>
              </a:extLst>
            </p:cNvPr>
            <p:cNvSpPr txBox="1"/>
            <p:nvPr/>
          </p:nvSpPr>
          <p:spPr>
            <a:xfrm>
              <a:off x="5332623" y="4121691"/>
              <a:ext cx="268268" cy="305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Abadi" panose="020B0604020104020204" pitchFamily="34" charset="0"/>
                </a:rPr>
                <a:t>B</a:t>
              </a:r>
              <a:endParaRPr lang="ko-KR" altLang="en-US" dirty="0" err="1">
                <a:latin typeface="Abadi" panose="020B0604020104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8768C4-E304-4C6A-ABAB-08A4777C0D17}"/>
                </a:ext>
              </a:extLst>
            </p:cNvPr>
            <p:cNvSpPr txBox="1"/>
            <p:nvPr/>
          </p:nvSpPr>
          <p:spPr>
            <a:xfrm>
              <a:off x="5342402" y="4737111"/>
              <a:ext cx="2682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Abadi" panose="020B0604020104020204" pitchFamily="34" charset="0"/>
                </a:rPr>
                <a:t>A</a:t>
              </a:r>
              <a:endParaRPr lang="ko-KR" altLang="en-US" dirty="0" err="1">
                <a:latin typeface="Abadi" panose="020B0604020104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0DFCBD-3F70-4385-89A4-5534EBAA110C}"/>
                </a:ext>
              </a:extLst>
            </p:cNvPr>
            <p:cNvSpPr txBox="1"/>
            <p:nvPr/>
          </p:nvSpPr>
          <p:spPr>
            <a:xfrm>
              <a:off x="5332623" y="5366644"/>
              <a:ext cx="2682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Abadi" panose="020B0604020104020204" pitchFamily="34" charset="0"/>
                </a:rPr>
                <a:t>C</a:t>
              </a:r>
              <a:endParaRPr lang="ko-KR" altLang="en-US" dirty="0" err="1">
                <a:latin typeface="Abadi" panose="020B0604020104020204" pitchFamily="34" charset="0"/>
              </a:endParaRPr>
            </a:p>
          </p:txBody>
        </p:sp>
      </p:grpSp>
      <p:sp>
        <p:nvSpPr>
          <p:cNvPr id="12" name="내용 개체 틀 1">
            <a:extLst>
              <a:ext uri="{FF2B5EF4-FFF2-40B4-BE49-F238E27FC236}">
                <a16:creationId xmlns:a16="http://schemas.microsoft.com/office/drawing/2014/main" id="{240113D1-FF2F-4B13-A021-B4E37FE93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908720"/>
            <a:ext cx="9601200" cy="5328592"/>
          </a:xfrm>
        </p:spPr>
        <p:txBody>
          <a:bodyPr>
            <a:normAutofit/>
          </a:bodyPr>
          <a:lstStyle/>
          <a:p>
            <a:r>
              <a:rPr lang="en-US" altLang="ko-KR" dirty="0"/>
              <a:t>RTS/CTS access</a:t>
            </a:r>
            <a:r>
              <a:rPr lang="ko-KR" altLang="en-US" dirty="0"/>
              <a:t>를 통한 </a:t>
            </a:r>
            <a:r>
              <a:rPr lang="en-US" altLang="ko-KR" dirty="0"/>
              <a:t>Hidden station problem </a:t>
            </a:r>
            <a:r>
              <a:rPr lang="ko-KR" altLang="en-US" dirty="0"/>
              <a:t>해결</a:t>
            </a:r>
            <a:endParaRPr lang="en-US" altLang="ko-KR" dirty="0"/>
          </a:p>
          <a:p>
            <a:pPr marL="819150" lvl="1" indent="-457200">
              <a:buFont typeface="+mj-ea"/>
              <a:buAutoNum type="circleNumDbPlain"/>
            </a:pPr>
            <a:r>
              <a:rPr lang="en-US" altLang="ko-KR" sz="1800" dirty="0"/>
              <a:t>B</a:t>
            </a:r>
            <a:r>
              <a:rPr lang="ko-KR" altLang="en-US" sz="1800" dirty="0"/>
              <a:t>에서</a:t>
            </a:r>
            <a:r>
              <a:rPr lang="en-US" altLang="ko-KR" sz="1800" dirty="0"/>
              <a:t> A</a:t>
            </a:r>
            <a:r>
              <a:rPr lang="ko-KR" altLang="en-US" sz="1800" dirty="0"/>
              <a:t>로 </a:t>
            </a:r>
            <a:r>
              <a:rPr lang="en-US" altLang="ko-KR" sz="1800" dirty="0"/>
              <a:t>Date</a:t>
            </a:r>
            <a:r>
              <a:rPr lang="ko-KR" altLang="en-US" sz="1800" dirty="0"/>
              <a:t> 전송을 위해서 </a:t>
            </a:r>
            <a:r>
              <a:rPr lang="en-US" altLang="ko-KR" sz="1800" dirty="0"/>
              <a:t>RTS </a:t>
            </a:r>
            <a:r>
              <a:rPr lang="ko-KR" altLang="en-US" sz="1800" dirty="0"/>
              <a:t>전송</a:t>
            </a:r>
            <a:endParaRPr lang="en-US" altLang="ko-KR" sz="1800" dirty="0"/>
          </a:p>
          <a:p>
            <a:pPr marL="819150" lvl="1" indent="-457200">
              <a:buFont typeface="+mj-ea"/>
              <a:buAutoNum type="circleNumDbPlain"/>
            </a:pPr>
            <a:r>
              <a:rPr lang="en-US" altLang="ko-KR" sz="1800" dirty="0"/>
              <a:t>A</a:t>
            </a:r>
            <a:r>
              <a:rPr lang="ko-KR" altLang="en-US" sz="1800" dirty="0"/>
              <a:t>는 </a:t>
            </a:r>
            <a:r>
              <a:rPr lang="en-US" altLang="ko-KR" sz="1800" dirty="0"/>
              <a:t>RTS</a:t>
            </a:r>
            <a:r>
              <a:rPr lang="ko-KR" altLang="en-US" sz="1800" dirty="0"/>
              <a:t>를 받으면 </a:t>
            </a:r>
            <a:r>
              <a:rPr lang="en-US" altLang="ko-KR" sz="1800" dirty="0"/>
              <a:t>SIFS </a:t>
            </a:r>
            <a:r>
              <a:rPr lang="ko-KR" altLang="en-US" sz="1800" dirty="0"/>
              <a:t>대기 후 </a:t>
            </a:r>
            <a:r>
              <a:rPr lang="en-US" altLang="ko-KR" sz="1800" dirty="0"/>
              <a:t>B</a:t>
            </a:r>
            <a:r>
              <a:rPr lang="ko-KR" altLang="en-US" sz="1800" dirty="0"/>
              <a:t>로 </a:t>
            </a:r>
            <a:r>
              <a:rPr lang="en-US" altLang="ko-KR" sz="1800" dirty="0"/>
              <a:t>CTS </a:t>
            </a:r>
            <a:r>
              <a:rPr lang="ko-KR" altLang="en-US" sz="1800" dirty="0"/>
              <a:t>전송</a:t>
            </a:r>
            <a:endParaRPr lang="en-US" altLang="ko-KR" sz="1800" dirty="0"/>
          </a:p>
          <a:p>
            <a:pPr marL="819150" lvl="1" indent="-457200">
              <a:buFont typeface="+mj-ea"/>
              <a:buAutoNum type="circleNumDbPlain"/>
            </a:pPr>
            <a:r>
              <a:rPr lang="en-US" altLang="ko-KR" sz="1800" dirty="0"/>
              <a:t>C</a:t>
            </a:r>
            <a:r>
              <a:rPr lang="ko-KR" altLang="en-US" sz="1800" dirty="0"/>
              <a:t>는 </a:t>
            </a:r>
            <a:r>
              <a:rPr lang="en-US" altLang="ko-KR" sz="1800" dirty="0"/>
              <a:t>A</a:t>
            </a:r>
            <a:r>
              <a:rPr lang="ko-KR" altLang="en-US" sz="1800" dirty="0"/>
              <a:t>에서 전송한 </a:t>
            </a:r>
            <a:r>
              <a:rPr lang="en-US" altLang="ko-KR" sz="1800" dirty="0"/>
              <a:t>CTS</a:t>
            </a:r>
            <a:r>
              <a:rPr lang="ko-KR" altLang="en-US" sz="1800" dirty="0"/>
              <a:t>를 감지하여 </a:t>
            </a:r>
            <a:r>
              <a:rPr lang="en-US" altLang="ko-KR" sz="1800" dirty="0"/>
              <a:t>NAV</a:t>
            </a:r>
            <a:r>
              <a:rPr lang="ko-KR" altLang="en-US" sz="1800" dirty="0"/>
              <a:t>를 업데이트</a:t>
            </a:r>
            <a:endParaRPr lang="en-US" altLang="ko-KR" sz="1800" dirty="0"/>
          </a:p>
          <a:p>
            <a:pPr marL="819150" lvl="1" indent="-457200">
              <a:buFont typeface="+mj-ea"/>
              <a:buAutoNum type="circleNumDbPlain"/>
            </a:pPr>
            <a:r>
              <a:rPr lang="en-US" altLang="ko-KR" sz="1800" dirty="0"/>
              <a:t>B</a:t>
            </a:r>
            <a:r>
              <a:rPr lang="ko-KR" altLang="en-US" sz="1800" dirty="0"/>
              <a:t>는 </a:t>
            </a:r>
            <a:r>
              <a:rPr lang="en-US" altLang="ko-KR" sz="1800" dirty="0"/>
              <a:t>A</a:t>
            </a:r>
            <a:r>
              <a:rPr lang="ko-KR" altLang="en-US" sz="1800" dirty="0"/>
              <a:t>에서 </a:t>
            </a:r>
            <a:r>
              <a:rPr lang="en-US" altLang="ko-KR" sz="1800" dirty="0"/>
              <a:t>CTS</a:t>
            </a:r>
            <a:r>
              <a:rPr lang="ko-KR" altLang="en-US" sz="1800" dirty="0"/>
              <a:t>를 받으면 </a:t>
            </a:r>
            <a:r>
              <a:rPr lang="en-US" altLang="ko-KR" sz="1800" dirty="0"/>
              <a:t>SIFS </a:t>
            </a:r>
            <a:r>
              <a:rPr lang="ko-KR" altLang="en-US" sz="1800" dirty="0"/>
              <a:t>대기 후 </a:t>
            </a:r>
            <a:r>
              <a:rPr lang="en-US" altLang="ko-KR" sz="1800" dirty="0"/>
              <a:t>A</a:t>
            </a:r>
            <a:r>
              <a:rPr lang="ko-KR" altLang="en-US" sz="1800" dirty="0"/>
              <a:t>로 </a:t>
            </a:r>
            <a:r>
              <a:rPr lang="en-US" altLang="ko-KR" sz="1800" dirty="0"/>
              <a:t>Data </a:t>
            </a:r>
            <a:r>
              <a:rPr lang="ko-KR" altLang="en-US" sz="1800" dirty="0"/>
              <a:t>전송</a:t>
            </a:r>
            <a:endParaRPr lang="en-US" altLang="ko-KR" sz="1800" dirty="0"/>
          </a:p>
          <a:p>
            <a:pPr marL="819150" lvl="1" indent="-457200">
              <a:buFont typeface="+mj-ea"/>
              <a:buAutoNum type="circleNumDbPlain"/>
            </a:pPr>
            <a:r>
              <a:rPr lang="en-US" altLang="ko-KR" sz="1800" dirty="0"/>
              <a:t>A</a:t>
            </a:r>
            <a:r>
              <a:rPr lang="ko-KR" altLang="en-US" sz="1800" dirty="0"/>
              <a:t>에서 </a:t>
            </a:r>
            <a:r>
              <a:rPr lang="en-US" altLang="ko-KR" sz="1800" dirty="0"/>
              <a:t>Data</a:t>
            </a:r>
            <a:r>
              <a:rPr lang="ko-KR" altLang="en-US" sz="1800" dirty="0"/>
              <a:t>를 받으면 </a:t>
            </a:r>
            <a:r>
              <a:rPr lang="en-US" altLang="ko-KR" sz="1800" dirty="0"/>
              <a:t>SIFS </a:t>
            </a:r>
            <a:r>
              <a:rPr lang="ko-KR" altLang="en-US" sz="1800" dirty="0"/>
              <a:t>대기 후 </a:t>
            </a:r>
            <a:r>
              <a:rPr lang="en-US" altLang="ko-KR" sz="1800" dirty="0"/>
              <a:t>B</a:t>
            </a:r>
            <a:r>
              <a:rPr lang="ko-KR" altLang="en-US" sz="1800" dirty="0"/>
              <a:t>로 </a:t>
            </a:r>
            <a:r>
              <a:rPr lang="en-US" altLang="ko-KR" sz="1800" dirty="0"/>
              <a:t>ACK </a:t>
            </a:r>
            <a:r>
              <a:rPr lang="ko-KR" altLang="en-US" sz="1800" dirty="0"/>
              <a:t>전송</a:t>
            </a:r>
            <a:endParaRPr lang="en-US" altLang="ko-KR" sz="1800" dirty="0"/>
          </a:p>
          <a:p>
            <a:pPr lvl="2"/>
            <a:endParaRPr lang="en-US" altLang="ko-KR" sz="240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CDE783BC-C61F-471A-A057-4814AC165F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762830" cy="498598"/>
          </a:xfrm>
        </p:spPr>
        <p:txBody>
          <a:bodyPr/>
          <a:lstStyle/>
          <a:p>
            <a:r>
              <a:rPr lang="en-US" altLang="ko-KR" sz="3600" dirty="0"/>
              <a:t>Distributed Coordination Function (DCF)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69CE433-928C-43BC-95BF-1342479DB1EF}"/>
              </a:ext>
            </a:extLst>
          </p:cNvPr>
          <p:cNvGrpSpPr/>
          <p:nvPr/>
        </p:nvGrpSpPr>
        <p:grpSpPr>
          <a:xfrm>
            <a:off x="315737" y="4224523"/>
            <a:ext cx="4565255" cy="1454793"/>
            <a:chOff x="128464" y="4224523"/>
            <a:chExt cx="4565255" cy="1454793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E2AF944-5123-4F66-BADB-5B1B183DA239}"/>
                </a:ext>
              </a:extLst>
            </p:cNvPr>
            <p:cNvGrpSpPr/>
            <p:nvPr/>
          </p:nvGrpSpPr>
          <p:grpSpPr>
            <a:xfrm>
              <a:off x="128464" y="4240069"/>
              <a:ext cx="4565255" cy="1439247"/>
              <a:chOff x="2432117" y="2101854"/>
              <a:chExt cx="5024965" cy="1584176"/>
            </a:xfrm>
          </p:grpSpPr>
          <p:pic>
            <p:nvPicPr>
              <p:cNvPr id="17" name="Picture 4" descr="http://cfile4.uf.tistory.com/image/21419748569E152310C392">
                <a:extLst>
                  <a:ext uri="{FF2B5EF4-FFF2-40B4-BE49-F238E27FC236}">
                    <a16:creationId xmlns:a16="http://schemas.microsoft.com/office/drawing/2014/main" id="{EF8A0DE9-447D-407D-97F6-78967800F3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618"/>
              <a:stretch/>
            </p:blipFill>
            <p:spPr bwMode="auto">
              <a:xfrm>
                <a:off x="2432117" y="2101854"/>
                <a:ext cx="5024965" cy="15841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오른쪽 화살표 7">
                <a:extLst>
                  <a:ext uri="{FF2B5EF4-FFF2-40B4-BE49-F238E27FC236}">
                    <a16:creationId xmlns:a16="http://schemas.microsoft.com/office/drawing/2014/main" id="{F4AEAFAA-5027-48A7-BA2B-1537FC5DCF26}"/>
                  </a:ext>
                </a:extLst>
              </p:cNvPr>
              <p:cNvSpPr/>
              <p:nvPr/>
            </p:nvSpPr>
            <p:spPr>
              <a:xfrm>
                <a:off x="4160912" y="2780928"/>
                <a:ext cx="360040" cy="7200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오른쪽 화살표 16">
                <a:extLst>
                  <a:ext uri="{FF2B5EF4-FFF2-40B4-BE49-F238E27FC236}">
                    <a16:creationId xmlns:a16="http://schemas.microsoft.com/office/drawing/2014/main" id="{8B096AAF-4953-4106-866A-04E0471F10E8}"/>
                  </a:ext>
                </a:extLst>
              </p:cNvPr>
              <p:cNvSpPr/>
              <p:nvPr/>
            </p:nvSpPr>
            <p:spPr>
              <a:xfrm rot="10800000">
                <a:off x="5304971" y="2780928"/>
                <a:ext cx="360040" cy="7200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CAFD26A2-482F-421B-82ED-14C20676CE34}"/>
                </a:ext>
              </a:extLst>
            </p:cNvPr>
            <p:cNvSpPr/>
            <p:nvPr/>
          </p:nvSpPr>
          <p:spPr>
            <a:xfrm>
              <a:off x="928826" y="4224523"/>
              <a:ext cx="2964529" cy="144176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0408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13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F771595D-123D-4EA9-8C5E-0128B1697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908720"/>
            <a:ext cx="9762000" cy="5328592"/>
          </a:xfrm>
        </p:spPr>
        <p:txBody>
          <a:bodyPr>
            <a:normAutofit/>
          </a:bodyPr>
          <a:lstStyle/>
          <a:p>
            <a:r>
              <a:rPr lang="en-US" altLang="ko-KR" dirty="0"/>
              <a:t>Exposed station problem</a:t>
            </a:r>
          </a:p>
          <a:p>
            <a:pPr lvl="1"/>
            <a:r>
              <a:rPr lang="ko-KR" altLang="en-US" sz="1800" dirty="0"/>
              <a:t>무선 네트워크에서 자신의 전송 범위 내의 </a:t>
            </a:r>
            <a:r>
              <a:rPr lang="en-US" altLang="ko-KR" sz="1800" dirty="0"/>
              <a:t>station</a:t>
            </a:r>
            <a:r>
              <a:rPr lang="ko-KR" altLang="en-US" sz="1800" dirty="0"/>
              <a:t>이 다른 </a:t>
            </a:r>
            <a:r>
              <a:rPr lang="en-US" altLang="ko-KR" sz="1800" dirty="0"/>
              <a:t>station</a:t>
            </a:r>
            <a:r>
              <a:rPr lang="ko-KR" altLang="en-US" sz="1800" dirty="0"/>
              <a:t>의 전송 범위에 노출되어 데이터 전송을 시도할 때 서로 방해 받는 문제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marL="819150" lvl="1" indent="-457200">
              <a:buFont typeface="+mj-ea"/>
              <a:buAutoNum type="circleNumDbPlain"/>
            </a:pPr>
            <a:r>
              <a:rPr lang="ko-KR" altLang="en-US" sz="1800" dirty="0"/>
              <a:t>그림에서 </a:t>
            </a:r>
            <a:r>
              <a:rPr lang="en-US" altLang="ko-KR" sz="1800" dirty="0"/>
              <a:t>S1</a:t>
            </a:r>
            <a:r>
              <a:rPr lang="ko-KR" altLang="en-US" sz="1800" dirty="0"/>
              <a:t>이 </a:t>
            </a:r>
            <a:r>
              <a:rPr lang="en-US" altLang="ko-KR" sz="1800" dirty="0"/>
              <a:t>R1</a:t>
            </a:r>
            <a:r>
              <a:rPr lang="ko-KR" altLang="en-US" sz="1800" dirty="0"/>
              <a:t>으로 </a:t>
            </a:r>
            <a:r>
              <a:rPr lang="en-US" altLang="ko-KR" sz="1800" dirty="0"/>
              <a:t>frame</a:t>
            </a:r>
            <a:r>
              <a:rPr lang="ko-KR" altLang="en-US" sz="1800" dirty="0"/>
              <a:t>을 전송하기 위해서 </a:t>
            </a:r>
            <a:r>
              <a:rPr lang="en-US" altLang="ko-KR" sz="1800" dirty="0"/>
              <a:t>Medium Reservation</a:t>
            </a:r>
            <a:r>
              <a:rPr lang="ko-KR" altLang="en-US" sz="1800" dirty="0"/>
              <a:t>을 한다</a:t>
            </a:r>
            <a:r>
              <a:rPr lang="en-US" altLang="ko-KR" sz="1800" dirty="0"/>
              <a:t>.</a:t>
            </a:r>
          </a:p>
          <a:p>
            <a:pPr marL="819150" lvl="1" indent="-457200">
              <a:buFont typeface="+mj-ea"/>
              <a:buAutoNum type="circleNumDbPlain"/>
            </a:pPr>
            <a:r>
              <a:rPr lang="en-US" altLang="ko-KR" sz="1800" dirty="0"/>
              <a:t>S1</a:t>
            </a:r>
            <a:r>
              <a:rPr lang="ko-KR" altLang="en-US" sz="1800" dirty="0"/>
              <a:t>이 전송하는 </a:t>
            </a:r>
            <a:r>
              <a:rPr lang="en-US" altLang="ko-KR" sz="1800" dirty="0"/>
              <a:t>RTS </a:t>
            </a:r>
            <a:r>
              <a:rPr lang="ko-KR" altLang="en-US" sz="1800" dirty="0"/>
              <a:t>혹은 </a:t>
            </a:r>
            <a:r>
              <a:rPr lang="en-US" altLang="ko-KR" sz="1800" dirty="0"/>
              <a:t>Directed frame</a:t>
            </a:r>
            <a:r>
              <a:rPr lang="ko-KR" altLang="en-US" sz="1800" dirty="0"/>
              <a:t>을 통해서</a:t>
            </a:r>
            <a:r>
              <a:rPr lang="en-US" altLang="ko-KR" sz="1800" dirty="0"/>
              <a:t> Medium</a:t>
            </a:r>
            <a:r>
              <a:rPr lang="ko-KR" altLang="en-US" sz="1800" dirty="0"/>
              <a:t>이 예약된 것을 인지한 </a:t>
            </a:r>
            <a:r>
              <a:rPr lang="en-US" altLang="ko-KR" sz="1800" dirty="0"/>
              <a:t>S2</a:t>
            </a:r>
            <a:r>
              <a:rPr lang="ko-KR" altLang="en-US" sz="1800" dirty="0"/>
              <a:t>는 </a:t>
            </a:r>
            <a:r>
              <a:rPr lang="en-US" altLang="ko-KR" sz="1800" dirty="0"/>
              <a:t>R2</a:t>
            </a:r>
            <a:r>
              <a:rPr lang="ko-KR" altLang="en-US" sz="1800" dirty="0"/>
              <a:t>로의 데이터 전송을 미룬다</a:t>
            </a:r>
            <a:r>
              <a:rPr lang="en-US" altLang="ko-KR" sz="1800" dirty="0"/>
              <a:t>.</a:t>
            </a:r>
          </a:p>
          <a:p>
            <a:pPr lvl="2"/>
            <a:r>
              <a:rPr lang="ko-KR" altLang="en-US" sz="1400" dirty="0"/>
              <a:t>하지만 </a:t>
            </a:r>
            <a:r>
              <a:rPr lang="en-US" altLang="ko-KR" sz="1400" dirty="0"/>
              <a:t>R2</a:t>
            </a:r>
            <a:r>
              <a:rPr lang="ko-KR" altLang="en-US" sz="1400" dirty="0"/>
              <a:t>는 </a:t>
            </a:r>
            <a:r>
              <a:rPr lang="en-US" altLang="ko-KR" sz="1400" dirty="0"/>
              <a:t>S1</a:t>
            </a:r>
            <a:r>
              <a:rPr lang="ko-KR" altLang="en-US" sz="1400" dirty="0"/>
              <a:t>의 전송범위 밖이기 때문에 </a:t>
            </a:r>
            <a:r>
              <a:rPr lang="en-US" altLang="ko-KR" sz="1400" dirty="0"/>
              <a:t>S2</a:t>
            </a:r>
            <a:r>
              <a:rPr lang="ko-KR" altLang="en-US" sz="1400" dirty="0"/>
              <a:t>로부터 </a:t>
            </a:r>
            <a:r>
              <a:rPr lang="en-US" altLang="ko-KR" sz="1400" dirty="0"/>
              <a:t>Data</a:t>
            </a:r>
            <a:r>
              <a:rPr lang="ko-KR" altLang="en-US" sz="1400" dirty="0"/>
              <a:t>를 수신 받을 수 있다</a:t>
            </a:r>
            <a:r>
              <a:rPr lang="en-US" altLang="ko-KR" sz="1400" dirty="0"/>
              <a:t>.</a:t>
            </a:r>
            <a:endParaRPr lang="en-US" altLang="ko-KR" sz="1800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E70BDE3C-6EDB-452A-BE8A-63C02618BE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762830" cy="498598"/>
          </a:xfrm>
        </p:spPr>
        <p:txBody>
          <a:bodyPr/>
          <a:lstStyle/>
          <a:p>
            <a:r>
              <a:rPr lang="en-US" altLang="ko-KR" sz="3600" dirty="0"/>
              <a:t>Distributed Coordination Function (DCF)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4C10720-0573-4E54-89EE-EBF132762021}"/>
              </a:ext>
            </a:extLst>
          </p:cNvPr>
          <p:cNvGrpSpPr/>
          <p:nvPr/>
        </p:nvGrpSpPr>
        <p:grpSpPr>
          <a:xfrm>
            <a:off x="920552" y="4444312"/>
            <a:ext cx="8064898" cy="1504968"/>
            <a:chOff x="920552" y="4444312"/>
            <a:chExt cx="8064898" cy="1504968"/>
          </a:xfrm>
        </p:grpSpPr>
        <p:pic>
          <p:nvPicPr>
            <p:cNvPr id="7" name="Picture 2" descr="Exposed station problemì ëí ì´ë¯¸ì§ ê²ìê²°ê³¼">
              <a:extLst>
                <a:ext uri="{FF2B5EF4-FFF2-40B4-BE49-F238E27FC236}">
                  <a16:creationId xmlns:a16="http://schemas.microsoft.com/office/drawing/2014/main" id="{EF411804-307B-499B-AC87-98E42AEF8A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401" b="37924"/>
            <a:stretch/>
          </p:blipFill>
          <p:spPr bwMode="auto">
            <a:xfrm>
              <a:off x="2417445" y="4613859"/>
              <a:ext cx="5071110" cy="1047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F010D571-FE96-4EBF-A696-075A7B7F4ACE}"/>
                </a:ext>
              </a:extLst>
            </p:cNvPr>
            <p:cNvSpPr/>
            <p:nvPr/>
          </p:nvSpPr>
          <p:spPr>
            <a:xfrm>
              <a:off x="920552" y="4444313"/>
              <a:ext cx="3816424" cy="1504967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B336A637-C475-4E15-9A2D-72C8B632FE1A}"/>
                </a:ext>
              </a:extLst>
            </p:cNvPr>
            <p:cNvSpPr/>
            <p:nvPr/>
          </p:nvSpPr>
          <p:spPr>
            <a:xfrm>
              <a:off x="5169026" y="4444312"/>
              <a:ext cx="3816424" cy="1504967"/>
            </a:xfrm>
            <a:prstGeom prst="ellipse">
              <a:avLst/>
            </a:prstGeom>
            <a:solidFill>
              <a:srgbClr val="CBEAC0">
                <a:alpha val="20000"/>
              </a:srgb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4200B0D-66FC-4F8D-94CE-042911B8172A}"/>
                </a:ext>
              </a:extLst>
            </p:cNvPr>
            <p:cNvSpPr/>
            <p:nvPr/>
          </p:nvSpPr>
          <p:spPr>
            <a:xfrm>
              <a:off x="2251001" y="4444312"/>
              <a:ext cx="3816424" cy="1504967"/>
            </a:xfrm>
            <a:prstGeom prst="ellipse">
              <a:avLst/>
            </a:prstGeom>
            <a:solidFill>
              <a:srgbClr val="0070C0">
                <a:alpha val="20000"/>
              </a:srgbClr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034C736D-244E-4922-AF33-73DA1D7EDCFB}"/>
                </a:ext>
              </a:extLst>
            </p:cNvPr>
            <p:cNvSpPr/>
            <p:nvPr/>
          </p:nvSpPr>
          <p:spPr>
            <a:xfrm>
              <a:off x="3816871" y="4444312"/>
              <a:ext cx="3816424" cy="1504967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443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9E8EB2E0-14B6-4FBF-937C-B9230A6848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000" dirty="0"/>
                  <a:t>논문</a:t>
                </a:r>
                <a:r>
                  <a:rPr lang="en-US" altLang="ko-KR" sz="2000" dirty="0"/>
                  <a:t>: Bianchi, G. (2000). Performance analysis of the IEEE 802.11 distributed coordination function. IEEE Journal on selected areas in communications, 18(3), 535-547.Ideal channel condition</a:t>
                </a:r>
              </a:p>
              <a:p>
                <a:pPr lvl="1"/>
                <a:r>
                  <a:rPr lang="en-US" altLang="ko-KR" sz="1600" dirty="0"/>
                  <a:t>IEEE 802.11</a:t>
                </a:r>
                <a:r>
                  <a:rPr lang="ko-KR" altLang="en-US" sz="1600" dirty="0"/>
                  <a:t>의</a:t>
                </a:r>
                <a:r>
                  <a:rPr lang="en-US" altLang="ko-KR" sz="1600" dirty="0"/>
                  <a:t> saturation throughput</a:t>
                </a:r>
                <a:r>
                  <a:rPr lang="ko-KR" altLang="en-US" sz="1600" dirty="0"/>
                  <a:t>을 구하는 수학식을 도출하여 </a:t>
                </a:r>
                <a:r>
                  <a:rPr lang="en-US" altLang="ko-KR" sz="1600" dirty="0"/>
                  <a:t>IEEE 802.11</a:t>
                </a:r>
                <a:r>
                  <a:rPr lang="ko-KR" altLang="en-US" sz="1600" dirty="0"/>
                  <a:t>의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성능을 분석</a:t>
                </a:r>
                <a:endParaRPr lang="en-US" altLang="ko-KR" sz="1600" dirty="0"/>
              </a:p>
              <a:p>
                <a:pPr lvl="1"/>
                <a:r>
                  <a:rPr lang="en-US" altLang="ko-KR" sz="1600" dirty="0"/>
                  <a:t>Assumption</a:t>
                </a:r>
              </a:p>
              <a:p>
                <a:pPr lvl="2">
                  <a:buFont typeface="+mj-ea"/>
                  <a:buAutoNum type="circleNumDbPlain"/>
                </a:pPr>
                <a:r>
                  <a:rPr lang="en-US" altLang="ko-KR" sz="1400" dirty="0"/>
                  <a:t>Saturation condition: </a:t>
                </a:r>
                <a:r>
                  <a:rPr lang="ko-KR" altLang="en-US" sz="1400" dirty="0"/>
                  <a:t>각 </a:t>
                </a:r>
                <a:r>
                  <a:rPr lang="en-US" altLang="ko-KR" sz="1400" dirty="0"/>
                  <a:t>STA</a:t>
                </a:r>
                <a:r>
                  <a:rPr lang="ko-KR" altLang="en-US" sz="1400" dirty="0"/>
                  <a:t>가 끊임없이 전송할 </a:t>
                </a:r>
                <a:r>
                  <a:rPr lang="en-US" altLang="ko-KR" sz="1400" dirty="0"/>
                  <a:t>data</a:t>
                </a:r>
                <a:r>
                  <a:rPr lang="ko-KR" altLang="en-US" sz="1400" dirty="0"/>
                  <a:t>가 있는 상태</a:t>
                </a:r>
                <a:endParaRPr lang="en-US" altLang="ko-KR" sz="1400" dirty="0"/>
              </a:p>
              <a:p>
                <a:pPr lvl="2">
                  <a:buFont typeface="+mj-ea"/>
                  <a:buAutoNum type="circleNumDbPlain"/>
                </a:pPr>
                <a:r>
                  <a:rPr lang="en-US" altLang="ko-KR" sz="1400" dirty="0"/>
                  <a:t>A fixed number of STAs</a:t>
                </a:r>
              </a:p>
              <a:p>
                <a:pPr lvl="2">
                  <a:buFont typeface="+mj-ea"/>
                  <a:buAutoNum type="circleNumDbPlain"/>
                </a:pPr>
                <a:r>
                  <a:rPr lang="en-US" altLang="ko-KR" sz="1400" dirty="0"/>
                  <a:t>Ideal channel condition</a:t>
                </a:r>
              </a:p>
              <a:p>
                <a:pPr lvl="1"/>
                <a:endParaRPr lang="en-US" altLang="ko-KR" sz="1400" dirty="0"/>
              </a:p>
              <a:p>
                <a:pPr lvl="1"/>
                <a:r>
                  <a:rPr lang="en-US" altLang="ko-KR" sz="1600" dirty="0"/>
                  <a:t>Process</a:t>
                </a:r>
              </a:p>
              <a:p>
                <a:pPr lvl="2">
                  <a:buFont typeface="+mj-ea"/>
                  <a:buAutoNum type="circleNumDbPlain"/>
                </a:pPr>
                <a:r>
                  <a:rPr lang="ko-KR" altLang="en-US" sz="1400" dirty="0"/>
                  <a:t>하나의</a:t>
                </a:r>
                <a:r>
                  <a:rPr lang="en-US" altLang="ko-KR" sz="1400" dirty="0"/>
                  <a:t> STA</a:t>
                </a:r>
                <a:r>
                  <a:rPr lang="ko-KR" altLang="en-US" sz="1400" dirty="0"/>
                  <a:t>에서 일어나는 데이터의 각 전송 과정 확률을 </a:t>
                </a:r>
                <a:r>
                  <a:rPr lang="en-US" altLang="ko-KR" sz="1400" dirty="0"/>
                  <a:t>Markov chain</a:t>
                </a:r>
                <a:r>
                  <a:rPr lang="ko-KR" altLang="en-US" sz="1400" dirty="0"/>
                  <a:t>을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통해 분석</a:t>
                </a:r>
                <a:endParaRPr lang="en-US" altLang="ko-KR" sz="1400" dirty="0"/>
              </a:p>
              <a:p>
                <a:pPr lvl="2">
                  <a:buFont typeface="+mj-ea"/>
                  <a:buAutoNum type="circleNumDbPlain"/>
                </a:pPr>
                <a:r>
                  <a:rPr lang="ko-KR" altLang="en-US" sz="1400" dirty="0"/>
                  <a:t>분석을 통해 </a:t>
                </a:r>
                <a14:m>
                  <m:oMath xmlns:m="http://schemas.openxmlformats.org/officeDocument/2006/math">
                    <m:r>
                      <a:rPr lang="ko-KR" altLang="en-US" sz="1400" i="1" dirty="0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sz="1400" dirty="0"/>
                  <a:t>(tau)</a:t>
                </a:r>
                <a:r>
                  <a:rPr lang="ko-KR" altLang="en-US" sz="1400" dirty="0"/>
                  <a:t>를 구함</a:t>
                </a:r>
                <a:endParaRPr lang="en-US" altLang="ko-KR" sz="1400" dirty="0"/>
              </a:p>
              <a:p>
                <a:pPr lvl="3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 </a:t>
                </a:r>
                <a14:m>
                  <m:oMath xmlns:m="http://schemas.openxmlformats.org/officeDocument/2006/math">
                    <m:r>
                      <a:rPr lang="ko-KR" altLang="en-US" sz="1200" i="1" dirty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sz="1200" dirty="0"/>
                  <a:t>(tau): </a:t>
                </a:r>
                <a:r>
                  <a:rPr lang="ko-KR" altLang="en-US" sz="1200" dirty="0"/>
                  <a:t>하나의 </a:t>
                </a:r>
                <a:r>
                  <a:rPr lang="en-US" altLang="ko-KR" sz="1200" dirty="0"/>
                  <a:t>STA</a:t>
                </a:r>
                <a:r>
                  <a:rPr lang="ko-KR" altLang="en-US" sz="1200" dirty="0"/>
                  <a:t>이 임의의</a:t>
                </a:r>
                <a:r>
                  <a:rPr lang="en-US" altLang="ko-KR" sz="1200" dirty="0"/>
                  <a:t> time slot</a:t>
                </a:r>
                <a:r>
                  <a:rPr lang="ko-KR" altLang="en-US" sz="1200" dirty="0"/>
                  <a:t>에서 </a:t>
                </a:r>
                <a:r>
                  <a:rPr lang="en-US" altLang="ko-KR" sz="1200" dirty="0"/>
                  <a:t>data</a:t>
                </a:r>
                <a:r>
                  <a:rPr lang="ko-KR" altLang="en-US" sz="1200" dirty="0"/>
                  <a:t>를 전송할 확률</a:t>
                </a:r>
                <a:endParaRPr lang="en-US" altLang="ko-KR" sz="1200" dirty="0"/>
              </a:p>
              <a:p>
                <a:pPr lvl="2">
                  <a:buFont typeface="+mj-ea"/>
                  <a:buAutoNum type="circleNumDbPlain"/>
                </a:pPr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r>
                      <a:rPr lang="ko-KR" altLang="en-US" sz="1400" i="1" dirty="0">
                        <a:latin typeface="Cambria Math" panose="02040503050406030204" pitchFamily="18" charset="0"/>
                      </a:rPr>
                      <m:t>𝜏</m:t>
                    </m:r>
                    <m:r>
                      <m:rPr>
                        <m:nor/>
                      </m:rPr>
                      <a:rPr lang="en-US" altLang="ko-KR" sz="1400" dirty="0"/>
                      <m:t>(</m:t>
                    </m:r>
                    <m:r>
                      <m:rPr>
                        <m:nor/>
                      </m:rPr>
                      <a:rPr lang="en-US" altLang="ko-KR" sz="1400" dirty="0"/>
                      <m:t>tau</m:t>
                    </m:r>
                    <m:r>
                      <m:rPr>
                        <m:nor/>
                      </m:rPr>
                      <a:rPr lang="en-US" altLang="ko-KR" sz="1400" dirty="0"/>
                      <m:t>)</m:t>
                    </m:r>
                  </m:oMath>
                </a14:m>
                <a:r>
                  <a:rPr lang="ko-KR" altLang="en-US" sz="1400" dirty="0"/>
                  <a:t>를 이용해서 </a:t>
                </a:r>
                <a:r>
                  <a:rPr lang="en-US" altLang="ko-KR" sz="1400" dirty="0"/>
                  <a:t>Basic Model</a:t>
                </a:r>
                <a:r>
                  <a:rPr lang="ko-KR" altLang="en-US" sz="1400" dirty="0"/>
                  <a:t>과 </a:t>
                </a:r>
                <a:r>
                  <a:rPr lang="en-US" altLang="ko-KR" sz="1400" dirty="0"/>
                  <a:t>RTS/CTS Model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Saturation condition</a:t>
                </a:r>
                <a:r>
                  <a:rPr lang="ko-KR" altLang="en-US" sz="1400" dirty="0"/>
                  <a:t>을 구함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9E8EB2E0-14B6-4FBF-937C-B9230A6848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14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8D048-F104-4665-8ADA-E1BDB715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01200" cy="443198"/>
          </a:xfrm>
        </p:spPr>
        <p:txBody>
          <a:bodyPr/>
          <a:lstStyle/>
          <a:p>
            <a:r>
              <a:rPr lang="en-US" altLang="ko-KR" sz="3200" dirty="0"/>
              <a:t>IEEE 802.11 Performance Analysis – </a:t>
            </a:r>
            <a:r>
              <a:rPr lang="en-US" altLang="ko-KR" sz="2800" dirty="0"/>
              <a:t>Markov Chain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4154514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15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8D048-F104-4665-8ADA-E1BDB715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01200" cy="443198"/>
          </a:xfrm>
        </p:spPr>
        <p:txBody>
          <a:bodyPr/>
          <a:lstStyle/>
          <a:p>
            <a:r>
              <a:rPr lang="en-US" altLang="ko-KR" sz="3200" dirty="0"/>
              <a:t>IEEE 802.11 Performance Analysis – </a:t>
            </a:r>
            <a:r>
              <a:rPr lang="en-US" altLang="ko-KR" sz="2800" dirty="0"/>
              <a:t>Markov Chain</a:t>
            </a:r>
            <a:endParaRPr lang="en-US" altLang="ko-KR" sz="3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5BAE2B8-AEF0-4E20-A9DD-0BA08D289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580" y="944842"/>
            <a:ext cx="7560840" cy="4707834"/>
          </a:xfrm>
          <a:prstGeom prst="rect">
            <a:avLst/>
          </a:prstGeom>
        </p:spPr>
      </p:pic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AE7C07FF-0A79-4150-9346-5DAC384D5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764704"/>
            <a:ext cx="9489520" cy="5328592"/>
          </a:xfrm>
        </p:spPr>
        <p:txBody>
          <a:bodyPr>
            <a:normAutofit/>
          </a:bodyPr>
          <a:lstStyle/>
          <a:p>
            <a:r>
              <a:rPr lang="en-US" altLang="ko-KR" dirty="0"/>
              <a:t>Markov chain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BF71E7F6-D9BA-4248-B920-7A84E38EBB3D}"/>
                  </a:ext>
                </a:extLst>
              </p:cNvPr>
              <p:cNvSpPr/>
              <p:nvPr/>
            </p:nvSpPr>
            <p:spPr>
              <a:xfrm>
                <a:off x="2000672" y="5661248"/>
                <a:ext cx="2720205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: </a:t>
                </a:r>
                <a:r>
                  <a:rPr lang="en-US" altLang="ko-KR" dirty="0" err="1"/>
                  <a:t>backoff</a:t>
                </a:r>
                <a:r>
                  <a:rPr lang="en-US" altLang="ko-KR" dirty="0"/>
                  <a:t> time counter</a:t>
                </a:r>
              </a:p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: </a:t>
                </a:r>
                <a:r>
                  <a:rPr lang="en-US" altLang="ko-KR" dirty="0" err="1"/>
                  <a:t>backoff</a:t>
                </a:r>
                <a:r>
                  <a:rPr lang="en-US" altLang="ko-KR" dirty="0"/>
                  <a:t> stage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𝐶𝑊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ko-KR" baseline="-25000" dirty="0"/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BF71E7F6-D9BA-4248-B920-7A84E38EBB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672" y="5661248"/>
                <a:ext cx="2720205" cy="923330"/>
              </a:xfrm>
              <a:prstGeom prst="rect">
                <a:avLst/>
              </a:prstGeom>
              <a:blipFill>
                <a:blip r:embed="rId3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0622D4-DDB7-4990-BCF2-18D0DE879AEE}"/>
                  </a:ext>
                </a:extLst>
              </p:cNvPr>
              <p:cNvSpPr txBox="1"/>
              <p:nvPr/>
            </p:nvSpPr>
            <p:spPr>
              <a:xfrm>
                <a:off x="5185125" y="5445224"/>
                <a:ext cx="2720204" cy="1232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dirty="0"/>
                  <a:t>: maximum </a:t>
                </a:r>
                <a:r>
                  <a:rPr lang="en-US" altLang="ko-KR" dirty="0" err="1"/>
                  <a:t>backoff</a:t>
                </a:r>
                <a:r>
                  <a:rPr lang="en-US" altLang="ko-KR" dirty="0"/>
                  <a:t> stage</a:t>
                </a:r>
                <a:endParaRPr lang="en-US" altLang="ko-KR" baseline="-25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𝐶𝑊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dirty="0"/>
                  <a:t>: collision probability </a:t>
                </a:r>
                <a:endParaRPr lang="en-US" altLang="ko-KR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0622D4-DDB7-4990-BCF2-18D0DE879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125" y="5445224"/>
                <a:ext cx="2720204" cy="1232902"/>
              </a:xfrm>
              <a:prstGeom prst="rect">
                <a:avLst/>
              </a:prstGeom>
              <a:blipFill>
                <a:blip r:embed="rId4"/>
                <a:stretch>
                  <a:fillRect t="-1485" r="-1570" b="-54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507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A8957795-2F32-419E-B07D-6A7AA8428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688" y="2706184"/>
            <a:ext cx="5616624" cy="4107192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16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8D048-F104-4665-8ADA-E1BDB715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01200" cy="443198"/>
          </a:xfrm>
        </p:spPr>
        <p:txBody>
          <a:bodyPr/>
          <a:lstStyle/>
          <a:p>
            <a:r>
              <a:rPr lang="en-US" altLang="ko-KR" sz="3200" dirty="0"/>
              <a:t>IEEE 802.11 Performance Analysis – </a:t>
            </a:r>
            <a:r>
              <a:rPr lang="en-US" altLang="ko-KR" sz="2800" dirty="0"/>
              <a:t>Markov Chain</a:t>
            </a:r>
            <a:endParaRPr lang="en-US" altLang="ko-KR" sz="3200" dirty="0"/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6650AB1A-79E7-41F8-B188-FECDB9DC3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764704"/>
            <a:ext cx="9489520" cy="5328592"/>
          </a:xfrm>
        </p:spPr>
        <p:txBody>
          <a:bodyPr>
            <a:normAutofit/>
          </a:bodyPr>
          <a:lstStyle/>
          <a:p>
            <a:r>
              <a:rPr lang="en-US" altLang="ko-KR" u="wavy" dirty="0"/>
              <a:t>Transition</a:t>
            </a:r>
            <a:r>
              <a:rPr lang="en-US" altLang="ko-KR" dirty="0"/>
              <a:t> probability</a:t>
            </a:r>
          </a:p>
          <a:p>
            <a:pPr marL="361950" lvl="1" indent="0">
              <a:buNone/>
            </a:pPr>
            <a:endParaRPr lang="en-US" altLang="ko-KR" dirty="0"/>
          </a:p>
          <a:p>
            <a:pPr lvl="1"/>
            <a:endParaRPr lang="en-US" altLang="ko-KR" sz="600" dirty="0"/>
          </a:p>
          <a:p>
            <a:pPr lvl="1"/>
            <a:r>
              <a:rPr lang="ko-KR" altLang="en-US" sz="1400" dirty="0"/>
              <a:t>유효한 확률모델</a:t>
            </a:r>
            <a:endParaRPr lang="en-US" altLang="ko-KR" sz="1400" dirty="0"/>
          </a:p>
          <a:p>
            <a:pPr lvl="1"/>
            <a:endParaRPr lang="en-US" altLang="ko-KR" dirty="0"/>
          </a:p>
          <a:p>
            <a:pPr marL="361950" lvl="1" indent="0">
              <a:buNone/>
            </a:pPr>
            <a:r>
              <a:rPr lang="en-US" altLang="ko-KR" i="1" dirty="0">
                <a:latin typeface="Cambria Math" panose="02040503050406030204" pitchFamily="18" charset="0"/>
              </a:rPr>
              <a:t> </a:t>
            </a:r>
          </a:p>
          <a:p>
            <a:pPr lvl="1"/>
            <a:endParaRPr lang="en-US" altLang="ko-KR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8224A55-7E8F-413B-B516-76AD699B9564}"/>
              </a:ext>
            </a:extLst>
          </p:cNvPr>
          <p:cNvGrpSpPr/>
          <p:nvPr/>
        </p:nvGrpSpPr>
        <p:grpSpPr>
          <a:xfrm>
            <a:off x="2099431" y="1231679"/>
            <a:ext cx="7764682" cy="1549249"/>
            <a:chOff x="2099431" y="1231679"/>
            <a:chExt cx="7764682" cy="15492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83C52BC3-8DAC-414A-9E0B-F86460869CBA}"/>
                    </a:ext>
                  </a:extLst>
                </p:cNvPr>
                <p:cNvSpPr/>
                <p:nvPr/>
              </p:nvSpPr>
              <p:spPr>
                <a:xfrm>
                  <a:off x="2099431" y="1825079"/>
                  <a:ext cx="106400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83C52BC3-8DAC-414A-9E0B-F86460869C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9431" y="1825079"/>
                  <a:ext cx="1064009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1982E8E3-51F0-4DD1-A664-54C48C62FBAC}"/>
                    </a:ext>
                  </a:extLst>
                </p:cNvPr>
                <p:cNvSpPr/>
                <p:nvPr/>
              </p:nvSpPr>
              <p:spPr>
                <a:xfrm>
                  <a:off x="3005822" y="1235047"/>
                  <a:ext cx="530145" cy="14942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ko-KR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eqArr>
                                  <m:eqArrPr>
                                    <m:ctrlPr>
                                      <a:rPr lang="en-US" altLang="ko-K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eqAr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1982E8E3-51F0-4DD1-A664-54C48C62FB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5822" y="1235047"/>
                  <a:ext cx="530145" cy="149425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012EDF23-0A7E-4F3A-8B31-686CB0D8B414}"/>
                    </a:ext>
                  </a:extLst>
                </p:cNvPr>
                <p:cNvSpPr/>
                <p:nvPr/>
              </p:nvSpPr>
              <p:spPr>
                <a:xfrm>
                  <a:off x="3306391" y="1979399"/>
                  <a:ext cx="1909304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012EDF23-0A7E-4F3A-8B31-686CB0D8B4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6391" y="1979399"/>
                  <a:ext cx="1909304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8596DE22-8462-477A-ABB4-862F5D613339}"/>
                    </a:ext>
                  </a:extLst>
                </p:cNvPr>
                <p:cNvSpPr/>
                <p:nvPr/>
              </p:nvSpPr>
              <p:spPr>
                <a:xfrm>
                  <a:off x="3306391" y="2426461"/>
                  <a:ext cx="1867691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8596DE22-8462-477A-ABB4-862F5D6133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6391" y="2426461"/>
                  <a:ext cx="1867691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4C6EE4CB-7F90-479C-83C3-520668405B33}"/>
                    </a:ext>
                  </a:extLst>
                </p:cNvPr>
                <p:cNvSpPr/>
                <p:nvPr/>
              </p:nvSpPr>
              <p:spPr>
                <a:xfrm>
                  <a:off x="3311385" y="1534725"/>
                  <a:ext cx="2148665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=(1−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)/</m:t>
                        </m:r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4C6EE4CB-7F90-479C-83C3-520668405B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1385" y="1534725"/>
                  <a:ext cx="2148665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02AFF534-A4F2-4419-B5C7-09396D3AAF3C}"/>
                    </a:ext>
                  </a:extLst>
                </p:cNvPr>
                <p:cNvSpPr/>
                <p:nvPr/>
              </p:nvSpPr>
              <p:spPr>
                <a:xfrm>
                  <a:off x="3311385" y="1231679"/>
                  <a:ext cx="1649682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02AFF534-A4F2-4419-B5C7-09396D3AAF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1385" y="1231679"/>
                  <a:ext cx="1649682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F9B05AC0-8583-4417-9180-85786B21033E}"/>
                    </a:ext>
                  </a:extLst>
                </p:cNvPr>
                <p:cNvSpPr/>
                <p:nvPr/>
              </p:nvSpPr>
              <p:spPr>
                <a:xfrm>
                  <a:off x="5616014" y="1256954"/>
                  <a:ext cx="2438232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</m:t>
                            </m:r>
                            <m:sSub>
                              <m:sSub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oMath>
                    </m:oMathPara>
                  </a14:m>
                  <a:endParaRPr lang="en-US" altLang="ko-KR" sz="14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F9B05AC0-8583-4417-9180-85786B2103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6014" y="1256954"/>
                  <a:ext cx="2438232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D383DF0D-9EE7-4FA4-8C8A-B18DBD100664}"/>
                    </a:ext>
                  </a:extLst>
                </p:cNvPr>
                <p:cNvSpPr/>
                <p:nvPr/>
              </p:nvSpPr>
              <p:spPr>
                <a:xfrm>
                  <a:off x="5619329" y="1532708"/>
                  <a:ext cx="2422522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</m:t>
                            </m:r>
                            <m:sSub>
                              <m:sSub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oMath>
                    </m:oMathPara>
                  </a14:m>
                  <a:endParaRPr lang="en-US" altLang="ko-KR" sz="14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D383DF0D-9EE7-4FA4-8C8A-B18DBD1006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9329" y="1532708"/>
                  <a:ext cx="2422522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5C1F5AE2-6323-42ED-AEA0-E2C7109407AE}"/>
                    </a:ext>
                  </a:extLst>
                </p:cNvPr>
                <p:cNvSpPr/>
                <p:nvPr/>
              </p:nvSpPr>
              <p:spPr>
                <a:xfrm>
                  <a:off x="5619976" y="1977382"/>
                  <a:ext cx="2438232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</m:t>
                            </m:r>
                            <m:sSub>
                              <m:sSub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oMath>
                    </m:oMathPara>
                  </a14:m>
                  <a:endParaRPr lang="en-US" altLang="ko-KR" sz="14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5C1F5AE2-6323-42ED-AEA0-E2C7109407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9976" y="1977382"/>
                  <a:ext cx="2438232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BD7E833B-00FE-4434-8538-C73CEB952662}"/>
                    </a:ext>
                  </a:extLst>
                </p:cNvPr>
                <p:cNvSpPr/>
                <p:nvPr/>
              </p:nvSpPr>
              <p:spPr>
                <a:xfrm>
                  <a:off x="5614783" y="2421525"/>
                  <a:ext cx="1433213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</m:t>
                            </m:r>
                            <m:sSub>
                              <m:sSub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BD7E833B-00FE-4434-8538-C73CEB9526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4783" y="2421525"/>
                  <a:ext cx="1433213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628E5C1-7699-4250-ADC7-B80B109F3BCA}"/>
                </a:ext>
              </a:extLst>
            </p:cNvPr>
            <p:cNvSpPr txBox="1"/>
            <p:nvPr/>
          </p:nvSpPr>
          <p:spPr>
            <a:xfrm>
              <a:off x="7996422" y="1268760"/>
              <a:ext cx="18676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000" dirty="0" err="1">
                  <a:solidFill>
                    <a:srgbClr val="FF0000"/>
                  </a:solidFill>
                  <a:latin typeface="Abadi" panose="020B0604020104020204" pitchFamily="34" charset="0"/>
                </a:rPr>
                <a:t>Backoff</a:t>
              </a:r>
              <a:r>
                <a:rPr lang="en-US" altLang="ko-KR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 count</a:t>
              </a:r>
              <a:r>
                <a:rPr lang="ko-KR" altLang="en-US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가 감소될 확률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9B35AB3-8C42-468E-922F-577483DA32C5}"/>
                </a:ext>
              </a:extLst>
            </p:cNvPr>
            <p:cNvSpPr txBox="1"/>
            <p:nvPr/>
          </p:nvSpPr>
          <p:spPr>
            <a:xfrm>
              <a:off x="7996422" y="1516722"/>
              <a:ext cx="1867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전송에 성공했을 때 다시 </a:t>
              </a:r>
              <a:r>
                <a:rPr lang="en-US" altLang="ko-KR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stage</a:t>
              </a:r>
              <a:r>
                <a:rPr lang="ko-KR" altLang="en-US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 </a:t>
              </a:r>
              <a:r>
                <a:rPr lang="en-US" altLang="ko-KR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0</a:t>
              </a:r>
              <a:r>
                <a:rPr lang="ko-KR" altLang="en-US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에서 </a:t>
              </a:r>
              <a:r>
                <a:rPr lang="en-US" altLang="ko-KR" sz="1000" dirty="0" err="1">
                  <a:solidFill>
                    <a:srgbClr val="FF0000"/>
                  </a:solidFill>
                  <a:latin typeface="Abadi" panose="020B0604020104020204" pitchFamily="34" charset="0"/>
                </a:rPr>
                <a:t>Backoff</a:t>
              </a:r>
              <a:r>
                <a:rPr lang="ko-KR" altLang="en-US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될 확률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736C62D-A2B3-47E6-B066-04E8E7DCB8F9}"/>
                </a:ext>
              </a:extLst>
            </p:cNvPr>
            <p:cNvSpPr txBox="1"/>
            <p:nvPr/>
          </p:nvSpPr>
          <p:spPr>
            <a:xfrm>
              <a:off x="7996422" y="1948770"/>
              <a:ext cx="1867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전송에 실패했을 때 다음 </a:t>
              </a:r>
              <a:r>
                <a:rPr lang="en-US" altLang="ko-KR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stage</a:t>
              </a:r>
              <a:r>
                <a:rPr lang="ko-KR" altLang="en-US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에서 </a:t>
              </a:r>
              <a:r>
                <a:rPr lang="en-US" altLang="ko-KR" sz="1000" dirty="0" err="1">
                  <a:solidFill>
                    <a:srgbClr val="FF0000"/>
                  </a:solidFill>
                  <a:latin typeface="Abadi" panose="020B0604020104020204" pitchFamily="34" charset="0"/>
                </a:rPr>
                <a:t>Backoff</a:t>
              </a:r>
              <a:r>
                <a:rPr lang="ko-KR" altLang="en-US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될 확률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6CE1391-BBED-4724-B77D-84ACAFDCCFC6}"/>
                </a:ext>
              </a:extLst>
            </p:cNvPr>
            <p:cNvSpPr txBox="1"/>
            <p:nvPr/>
          </p:nvSpPr>
          <p:spPr>
            <a:xfrm>
              <a:off x="7996422" y="2380818"/>
              <a:ext cx="1867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>
                  <a:solidFill>
                    <a:srgbClr val="FF0000"/>
                  </a:solidFill>
                  <a:latin typeface="Abadi" panose="020B0604020104020204" pitchFamily="34" charset="0"/>
                </a:rPr>
                <a:t>Backoff</a:t>
              </a:r>
              <a:r>
                <a:rPr lang="en-US" altLang="ko-KR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 stage</a:t>
              </a:r>
              <a:r>
                <a:rPr lang="ko-KR" altLang="en-US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가 </a:t>
              </a:r>
              <a:r>
                <a:rPr lang="en-US" altLang="ko-KR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m</a:t>
              </a:r>
              <a:r>
                <a:rPr lang="ko-KR" altLang="en-US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에 도달했을 때 </a:t>
              </a:r>
              <a:r>
                <a:rPr lang="en-US" altLang="ko-KR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stage </a:t>
              </a:r>
              <a:r>
                <a:rPr lang="ko-KR" altLang="en-US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값은 </a:t>
              </a:r>
              <a:r>
                <a:rPr lang="en-US" altLang="ko-KR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m</a:t>
              </a:r>
              <a:r>
                <a:rPr lang="ko-KR" altLang="en-US" sz="1000" dirty="0">
                  <a:solidFill>
                    <a:srgbClr val="FF0000"/>
                  </a:solidFill>
                  <a:latin typeface="Abadi" panose="020B0604020104020204" pitchFamily="34" charset="0"/>
                </a:rPr>
                <a:t>유지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4040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17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8D048-F104-4665-8ADA-E1BDB715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01200" cy="443198"/>
          </a:xfrm>
        </p:spPr>
        <p:txBody>
          <a:bodyPr/>
          <a:lstStyle/>
          <a:p>
            <a:r>
              <a:rPr lang="en-US" altLang="ko-KR" sz="3200" dirty="0"/>
              <a:t>IEEE 802.11 Performance Analysis – </a:t>
            </a:r>
            <a:r>
              <a:rPr lang="en-US" altLang="ko-KR" sz="2800" dirty="0"/>
              <a:t>Markov Chain</a:t>
            </a:r>
            <a:endParaRPr lang="en-US" altLang="ko-K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텍스트 개체 틀 2">
                <a:extLst>
                  <a:ext uri="{FF2B5EF4-FFF2-40B4-BE49-F238E27FC236}">
                    <a16:creationId xmlns:a16="http://schemas.microsoft.com/office/drawing/2014/main" id="{BA76CCB3-1B72-4664-A2A4-1FC2BA9A99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000" y="764704"/>
                <a:ext cx="9489520" cy="5184576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u="wavy" dirty="0"/>
                  <a:t>Stationary</a:t>
                </a:r>
                <a:r>
                  <a:rPr lang="en-US" altLang="ko-KR" dirty="0"/>
                  <a:t> probability</a:t>
                </a:r>
              </a:p>
              <a:p>
                <a:pPr lvl="1"/>
                <a:r>
                  <a:rPr lang="ko-KR" altLang="en-US" sz="1600" dirty="0" err="1"/>
                  <a:t>무한번</a:t>
                </a:r>
                <a:r>
                  <a:rPr lang="ko-KR" altLang="en-US" sz="1600" dirty="0"/>
                  <a:t> 반복했을 때 각 </a:t>
                </a:r>
                <a:r>
                  <a:rPr lang="en-US" altLang="ko-KR" sz="1600" dirty="0"/>
                  <a:t>state</a:t>
                </a:r>
                <a:r>
                  <a:rPr lang="ko-KR" altLang="en-US" sz="1600" dirty="0"/>
                  <a:t>가 될 확률</a:t>
                </a:r>
                <a:endParaRPr lang="en-US" altLang="ko-KR" sz="1100" dirty="0"/>
              </a:p>
              <a:p>
                <a:pPr marL="895350" lvl="3" indent="0">
                  <a:buNone/>
                </a:pPr>
                <a:endParaRPr lang="en-US" altLang="ko-KR" dirty="0"/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ko-KR" altLang="en-US" sz="1400" dirty="0"/>
                  <a:t>모든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합은 </a:t>
                </a:r>
                <a:r>
                  <a:rPr lang="en-US" altLang="ko-KR" sz="1400" dirty="0"/>
                  <a:t>1</a:t>
                </a:r>
                <a:r>
                  <a:rPr lang="ko-KR" altLang="en-US" sz="1400" dirty="0"/>
                  <a:t>이 된다</a:t>
                </a:r>
                <a:r>
                  <a:rPr lang="en-US" altLang="ko-KR" sz="1600" dirty="0"/>
                  <a:t>.</a:t>
                </a:r>
              </a:p>
              <a:p>
                <a:pPr marL="895350" lvl="3" indent="0">
                  <a:buNone/>
                </a:pPr>
                <a:endParaRPr lang="en-US" altLang="ko-KR" sz="1400" dirty="0"/>
              </a:p>
              <a:p>
                <a:pPr lvl="1"/>
                <a:r>
                  <a:rPr lang="ko-KR" altLang="en-US" sz="1600" dirty="0"/>
                  <a:t>앞서 확인 유효한 확률 모델을 통해서 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state</a:t>
                </a:r>
                <a:r>
                  <a:rPr lang="ko-KR" altLang="en-US" sz="1600" dirty="0"/>
                  <a:t>의 확률을 정리한다</a:t>
                </a:r>
                <a:r>
                  <a:rPr lang="en-US" altLang="ko-KR" sz="1600" dirty="0"/>
                  <a:t>.</a:t>
                </a:r>
                <a:r>
                  <a:rPr lang="ko-KR" altLang="en-US" sz="1600" dirty="0"/>
                  <a:t> </a:t>
                </a:r>
                <a:endParaRPr lang="en-US" altLang="ko-KR" sz="1600" dirty="0"/>
              </a:p>
              <a:p>
                <a:pPr lvl="1"/>
                <a:endParaRPr lang="en-US" altLang="ko-KR" sz="1800" dirty="0"/>
              </a:p>
              <a:p>
                <a:pPr lvl="2">
                  <a:buFont typeface="Wingdings" panose="05000000000000000000" pitchFamily="2" charset="2"/>
                  <a:buChar char="§"/>
                </a:pPr>
                <a:endParaRPr lang="en-US" altLang="ko-KR" sz="600" i="1" dirty="0">
                  <a:latin typeface="Cambria Math" panose="02040503050406030204" pitchFamily="18" charset="0"/>
                </a:endParaRPr>
              </a:p>
              <a:p>
                <a:pPr marL="542925" lvl="2" indent="0">
                  <a:buNone/>
                </a:pPr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 lvl="2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−1,0</m:t>
                        </m:r>
                      </m:sub>
                    </m:sSub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1400" dirty="0">
                    <a:latin typeface="Abadi" panose="020B0604020104020204" pitchFamily="34" charset="0"/>
                  </a:rPr>
                  <a:t>서 실패하면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ko-KR" altLang="en-US" sz="1400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sz="1400" dirty="0">
                    <a:latin typeface="Abadi" panose="020B0604020104020204" pitchFamily="34" charset="0"/>
                  </a:rPr>
                  <a:t> 된다</a:t>
                </a:r>
                <a:r>
                  <a:rPr lang="en-US" altLang="ko-KR" sz="1400" dirty="0">
                    <a:latin typeface="Abadi" panose="020B0604020104020204" pitchFamily="34" charset="0"/>
                  </a:rPr>
                  <a:t>.</a:t>
                </a:r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ko-KR" altLang="en-US" sz="1400" dirty="0">
                    <a:latin typeface="Abadi" panose="020B0604020104020204" pitchFamily="34" charset="0"/>
                  </a:rPr>
                  <a:t>다음 </a:t>
                </a:r>
                <a:r>
                  <a:rPr lang="en-US" altLang="ko-KR" sz="1400" dirty="0">
                    <a:latin typeface="Abadi" panose="020B0604020104020204" pitchFamily="34" charset="0"/>
                  </a:rPr>
                  <a:t>stage</a:t>
                </a:r>
                <a:r>
                  <a:rPr lang="ko-KR" altLang="en-US" sz="1400" dirty="0">
                    <a:latin typeface="Abadi" panose="020B0604020104020204" pitchFamily="34" charset="0"/>
                  </a:rPr>
                  <a:t>에서 </a:t>
                </a:r>
                <a:r>
                  <a:rPr lang="en-US" altLang="ko-KR" sz="1400" dirty="0">
                    <a:latin typeface="Abadi" panose="020B0604020104020204" pitchFamily="34" charset="0"/>
                  </a:rPr>
                  <a:t>state</a:t>
                </a:r>
                <a:r>
                  <a:rPr lang="ko-KR" altLang="en-US" sz="1400" dirty="0">
                    <a:latin typeface="Abadi" panose="020B0604020104020204" pitchFamily="34" charset="0"/>
                  </a:rPr>
                  <a:t>는 임의로 선택되지만 어느 </a:t>
                </a:r>
                <a:r>
                  <a:rPr lang="en-US" altLang="ko-KR" sz="1400" dirty="0">
                    <a:latin typeface="Abadi" panose="020B0604020104020204" pitchFamily="34" charset="0"/>
                  </a:rPr>
                  <a:t>state</a:t>
                </a:r>
                <a:r>
                  <a:rPr lang="ko-KR" altLang="en-US" sz="1400" dirty="0">
                    <a:latin typeface="Abadi" panose="020B0604020104020204" pitchFamily="34" charset="0"/>
                  </a:rPr>
                  <a:t>가 선택되든지</a:t>
                </a:r>
                <a:endParaRPr lang="en-US" altLang="ko-KR" sz="1400" dirty="0">
                  <a:latin typeface="Abadi" panose="020B0604020104020204" pitchFamily="34" charset="0"/>
                </a:endParaRPr>
              </a:p>
              <a:p>
                <a:pPr marL="542925" lvl="2" indent="0">
                  <a:buNone/>
                </a:pPr>
                <a:r>
                  <a:rPr lang="en-US" altLang="ko-KR" sz="1400" dirty="0">
                    <a:latin typeface="Abadi" panose="020B0604020104020204" pitchFamily="34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ko-KR" altLang="en-US" sz="1400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sz="1400" dirty="0">
                    <a:latin typeface="Abadi" panose="020B0604020104020204" pitchFamily="34" charset="0"/>
                  </a:rPr>
                  <a:t> 될 확률이 </a:t>
                </a:r>
                <a:r>
                  <a:rPr lang="en-US" altLang="ko-KR" sz="1400" dirty="0">
                    <a:latin typeface="Abadi" panose="020B0604020104020204" pitchFamily="34" charset="0"/>
                  </a:rPr>
                  <a:t>1</a:t>
                </a:r>
                <a:r>
                  <a:rPr lang="ko-KR" altLang="en-US" sz="1400" dirty="0">
                    <a:latin typeface="Abadi" panose="020B0604020104020204" pitchFamily="34" charset="0"/>
                  </a:rPr>
                  <a:t>이기 때문에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ko-KR" altLang="en-US" sz="1400" i="1">
                        <a:latin typeface="Cambria Math" panose="02040503050406030204" pitchFamily="18" charset="0"/>
                      </a:rPr>
                      <m:t>라</m:t>
                    </m:r>
                  </m:oMath>
                </a14:m>
                <a:r>
                  <a:rPr lang="ko-KR" altLang="en-US" sz="1400" dirty="0">
                    <a:latin typeface="Abadi" panose="020B0604020104020204" pitchFamily="34" charset="0"/>
                  </a:rPr>
                  <a:t> 한다</a:t>
                </a:r>
                <a:r>
                  <a:rPr lang="en-US" altLang="ko-KR" sz="1400" dirty="0">
                    <a:latin typeface="Abadi" panose="020B0604020104020204" pitchFamily="34" charset="0"/>
                  </a:rPr>
                  <a:t>.</a:t>
                </a:r>
              </a:p>
              <a:p>
                <a:pPr lvl="2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Abadi" panose="020B0604020104020204" pitchFamily="34" charset="0"/>
                  </a:rPr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0,0</m:t>
                        </m:r>
                      </m:sub>
                    </m:sSub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1400" dirty="0">
                    <a:latin typeface="Abadi" panose="020B0604020104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sz="1400" dirty="0">
                    <a:latin typeface="Abadi" panose="020B0604020104020204" pitchFamily="34" charset="0"/>
                  </a:rPr>
                  <a:t>를</a:t>
                </a:r>
                <a:r>
                  <a:rPr lang="en-US" altLang="ko-KR" sz="1400" dirty="0">
                    <a:latin typeface="Abadi" panose="020B0604020104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ko-KR" altLang="en-US" sz="1400" i="1" dirty="0">
                        <a:latin typeface="Cambria Math" panose="02040503050406030204" pitchFamily="18" charset="0"/>
                      </a:rPr>
                      <m:t>번</m:t>
                    </m:r>
                  </m:oMath>
                </a14:m>
                <a:r>
                  <a:rPr lang="ko-KR" altLang="en-US" sz="1400" dirty="0">
                    <a:latin typeface="Abadi" panose="020B0604020104020204" pitchFamily="34" charset="0"/>
                  </a:rPr>
                  <a:t> 곱한 것과 같다</a:t>
                </a:r>
                <a:r>
                  <a:rPr lang="en-US" altLang="ko-KR" sz="1400" dirty="0">
                    <a:latin typeface="Abadi" panose="020B0604020104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텍스트 개체 틀 2">
                <a:extLst>
                  <a:ext uri="{FF2B5EF4-FFF2-40B4-BE49-F238E27FC236}">
                    <a16:creationId xmlns:a16="http://schemas.microsoft.com/office/drawing/2014/main" id="{BA76CCB3-1B72-4664-A2A4-1FC2BA9A99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000" y="764704"/>
                <a:ext cx="9489520" cy="518457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56C17B9A-0359-457C-AFD4-3CEA6EB7F96E}"/>
                  </a:ext>
                </a:extLst>
              </p:cNvPr>
              <p:cNvSpPr/>
              <p:nvPr/>
            </p:nvSpPr>
            <p:spPr>
              <a:xfrm>
                <a:off x="776536" y="1575906"/>
                <a:ext cx="2986395" cy="4129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56C17B9A-0359-457C-AFD4-3CEA6EB7F9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36" y="1575906"/>
                <a:ext cx="2986395" cy="4129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그룹 55">
            <a:extLst>
              <a:ext uri="{FF2B5EF4-FFF2-40B4-BE49-F238E27FC236}">
                <a16:creationId xmlns:a16="http://schemas.microsoft.com/office/drawing/2014/main" id="{CAF4C8D2-422A-4F88-8721-5007EDBE8EA7}"/>
              </a:ext>
            </a:extLst>
          </p:cNvPr>
          <p:cNvGrpSpPr/>
          <p:nvPr/>
        </p:nvGrpSpPr>
        <p:grpSpPr>
          <a:xfrm>
            <a:off x="709321" y="3068960"/>
            <a:ext cx="6331911" cy="394916"/>
            <a:chOff x="709321" y="2602036"/>
            <a:chExt cx="6331911" cy="3949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9C9CE286-052B-4E17-87C2-48A8D8F028B0}"/>
                    </a:ext>
                  </a:extLst>
                </p:cNvPr>
                <p:cNvSpPr/>
                <p:nvPr/>
              </p:nvSpPr>
              <p:spPr>
                <a:xfrm>
                  <a:off x="709321" y="2602036"/>
                  <a:ext cx="3332386" cy="3949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sub>
                        </m:sSub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/>
                </a:p>
              </p:txBody>
            </p:sp>
          </mc:Choice>
          <mc:Fallback xmlns=""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9C9CE286-052B-4E17-87C2-48A8D8F028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321" y="2602036"/>
                  <a:ext cx="3332386" cy="394916"/>
                </a:xfrm>
                <a:prstGeom prst="rect">
                  <a:avLst/>
                </a:prstGeom>
                <a:blipFill>
                  <a:blip r:embed="rId4"/>
                  <a:stretch>
                    <a:fillRect b="-468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5D974311-D77B-4AD6-A429-9B54DE71F986}"/>
                    </a:ext>
                  </a:extLst>
                </p:cNvPr>
                <p:cNvSpPr/>
                <p:nvPr/>
              </p:nvSpPr>
              <p:spPr>
                <a:xfrm>
                  <a:off x="5596606" y="2627619"/>
                  <a:ext cx="144462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𝒎</m:t>
                      </m:r>
                    </m:oMath>
                  </a14:m>
                  <a:r>
                    <a:rPr lang="en-US" altLang="ko-KR" b="1" dirty="0"/>
                    <a:t>)</a:t>
                  </a:r>
                  <a:endParaRPr lang="ko-KR" altLang="en-US" b="1" dirty="0"/>
                </a:p>
              </p:txBody>
            </p:sp>
          </mc:Choice>
          <mc:Fallback xmlns=""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5D974311-D77B-4AD6-A429-9B54DE71F9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6606" y="2627619"/>
                  <a:ext cx="1444626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10000" r="-2954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0B69695-382E-4E0B-A853-24FD4DE95D57}"/>
              </a:ext>
            </a:extLst>
          </p:cNvPr>
          <p:cNvGrpSpPr/>
          <p:nvPr/>
        </p:nvGrpSpPr>
        <p:grpSpPr>
          <a:xfrm>
            <a:off x="7113240" y="1196752"/>
            <a:ext cx="2623678" cy="5179682"/>
            <a:chOff x="7278861" y="1342755"/>
            <a:chExt cx="2385162" cy="4708802"/>
          </a:xfrm>
        </p:grpSpPr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05240C69-763D-4A8F-8A8C-D8E433342D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69675"/>
            <a:stretch/>
          </p:blipFill>
          <p:spPr>
            <a:xfrm>
              <a:off x="7717801" y="1342755"/>
              <a:ext cx="1775237" cy="4708802"/>
            </a:xfrm>
            <a:prstGeom prst="rect">
              <a:avLst/>
            </a:prstGeom>
          </p:spPr>
        </p:pic>
        <p:sp>
          <p:nvSpPr>
            <p:cNvPr id="46" name="화살표: 왼쪽으로 구부러짐 45">
              <a:extLst>
                <a:ext uri="{FF2B5EF4-FFF2-40B4-BE49-F238E27FC236}">
                  <a16:creationId xmlns:a16="http://schemas.microsoft.com/office/drawing/2014/main" id="{B005CA78-4C8D-4551-B564-1DB70EF3E4CD}"/>
                </a:ext>
              </a:extLst>
            </p:cNvPr>
            <p:cNvSpPr/>
            <p:nvPr/>
          </p:nvSpPr>
          <p:spPr>
            <a:xfrm>
              <a:off x="8545704" y="3103508"/>
              <a:ext cx="180593" cy="843415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5A24C5F0-E96E-4B94-BFC5-83E4AD91A55D}"/>
                    </a:ext>
                  </a:extLst>
                </p:cNvPr>
                <p:cNvSpPr/>
                <p:nvPr/>
              </p:nvSpPr>
              <p:spPr>
                <a:xfrm>
                  <a:off x="8630454" y="2911067"/>
                  <a:ext cx="1033569" cy="34932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ko-KR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ko-KR" altLang="en-US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5A24C5F0-E96E-4B94-BFC5-83E4AD91A5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0454" y="2911067"/>
                  <a:ext cx="1033569" cy="34932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화살표: 왼쪽으로 구부러짐 47">
              <a:extLst>
                <a:ext uri="{FF2B5EF4-FFF2-40B4-BE49-F238E27FC236}">
                  <a16:creationId xmlns:a16="http://schemas.microsoft.com/office/drawing/2014/main" id="{13620A15-FB6D-4720-BE41-8BB7394A1884}"/>
                </a:ext>
              </a:extLst>
            </p:cNvPr>
            <p:cNvSpPr/>
            <p:nvPr/>
          </p:nvSpPr>
          <p:spPr>
            <a:xfrm flipH="1">
              <a:off x="7959555" y="1962225"/>
              <a:ext cx="290846" cy="1988731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80BFFB58-7C0F-4EBB-B18B-2E11A73153A5}"/>
                    </a:ext>
                  </a:extLst>
                </p:cNvPr>
                <p:cNvSpPr/>
                <p:nvPr/>
              </p:nvSpPr>
              <p:spPr>
                <a:xfrm>
                  <a:off x="7278861" y="2182804"/>
                  <a:ext cx="776537" cy="36298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p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80BFFB58-7C0F-4EBB-B18B-2E11A73153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8861" y="2182804"/>
                  <a:ext cx="776537" cy="36298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32930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18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8D048-F104-4665-8ADA-E1BDB715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01200" cy="443198"/>
          </a:xfrm>
        </p:spPr>
        <p:txBody>
          <a:bodyPr/>
          <a:lstStyle/>
          <a:p>
            <a:r>
              <a:rPr lang="en-US" altLang="ko-KR" sz="3200" dirty="0"/>
              <a:t>IEEE 802.11 Performance Analysis – </a:t>
            </a:r>
            <a:r>
              <a:rPr lang="en-US" altLang="ko-KR" sz="2800" dirty="0"/>
              <a:t>Markov Chain</a:t>
            </a:r>
            <a:endParaRPr lang="en-US" altLang="ko-K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텍스트 개체 틀 2">
                <a:extLst>
                  <a:ext uri="{FF2B5EF4-FFF2-40B4-BE49-F238E27FC236}">
                    <a16:creationId xmlns:a16="http://schemas.microsoft.com/office/drawing/2014/main" id="{BA76CCB3-1B72-4664-A2A4-1FC2BA9A99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000" y="764704"/>
                <a:ext cx="9489520" cy="5184576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u="wavy" dirty="0"/>
                  <a:t>Stationary</a:t>
                </a:r>
                <a:r>
                  <a:rPr lang="en-US" altLang="ko-KR" dirty="0"/>
                  <a:t> probability</a:t>
                </a:r>
              </a:p>
              <a:p>
                <a:pPr marL="0" indent="0">
                  <a:buNone/>
                </a:pPr>
                <a:endParaRPr lang="en-US" altLang="ko-KR" sz="1600" dirty="0"/>
              </a:p>
              <a:p>
                <a:pPr marL="0" indent="0">
                  <a:buNone/>
                </a:pPr>
                <a:endParaRPr lang="en-US" altLang="ko-KR" sz="1600" dirty="0"/>
              </a:p>
              <a:p>
                <a:pPr lvl="2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Cambria Math" panose="02040503050406030204" pitchFamily="18" charset="0"/>
                  </a:rPr>
                  <a:t>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−1,0</m:t>
                        </m:r>
                      </m:sub>
                    </m:sSub>
                    <m:r>
                      <a:rPr lang="ko-KR" altLang="en-US" sz="1400">
                        <a:latin typeface="Cambria Math" panose="02040503050406030204" pitchFamily="18" charset="0"/>
                      </a:rPr>
                      <m:t>에서</m:t>
                    </m:r>
                  </m:oMath>
                </a14:m>
                <a:r>
                  <a:rPr lang="en-US" altLang="ko-KR" sz="1400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실패했을 때와 </a:t>
                </a:r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Cambria Math" panose="02040503050406030204" pitchFamily="18" charset="0"/>
                  </a:rPr>
                  <a:t>에서 실패했을 때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,</a:t>
                </a:r>
              </a:p>
              <a:p>
                <a:pPr marL="542925" lvl="2" indent="0">
                  <a:buNone/>
                </a:pPr>
                <a:r>
                  <a:rPr lang="en-US" altLang="ko-KR" sz="1400" dirty="0">
                    <a:latin typeface="Cambria Math" panose="02040503050406030204" pitchFamily="18" charset="0"/>
                  </a:rPr>
                  <a:t>	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두가지 경우가 있기 때문에 더해준다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.</a:t>
                </a:r>
              </a:p>
              <a:p>
                <a:pPr marL="542925" lvl="2" indent="0">
                  <a:buNone/>
                </a:pPr>
                <a:r>
                  <a:rPr lang="en-US" altLang="ko-KR" sz="1400" dirty="0"/>
                  <a:t>	</a:t>
                </a:r>
                <a:r>
                  <a:rPr lang="ko-KR" altLang="en-US" sz="1400" dirty="0"/>
                  <a:t>따라</a:t>
                </a:r>
                <a14:m>
                  <m:oMath xmlns:m="http://schemas.openxmlformats.org/officeDocument/2006/math">
                    <m:r>
                      <a:rPr lang="ko-KR" altLang="en-US" sz="1400" i="1" dirty="0">
                        <a:latin typeface="Cambria Math" panose="02040503050406030204" pitchFamily="18" charset="0"/>
                      </a:rPr>
                      <m:t>서</m:t>
                    </m:r>
                    <m:r>
                      <a:rPr lang="en-US" altLang="ko-KR" sz="1400" dirty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altLang="ko-KR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−1,0</m:t>
                        </m:r>
                      </m:sub>
                    </m:sSub>
                    <m:r>
                      <a:rPr lang="en-US" altLang="ko-KR" sz="140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endParaRPr lang="en-US" altLang="ko-KR" sz="1400" dirty="0">
                  <a:latin typeface="Abadi" panose="020B0604020104020204" pitchFamily="34" charset="0"/>
                </a:endParaRPr>
              </a:p>
              <a:p>
                <a:pPr marL="542925" lvl="2" indent="0">
                  <a:buNone/>
                </a:pPr>
                <a:r>
                  <a:rPr lang="en-US" altLang="ko-KR" sz="1400" dirty="0"/>
                  <a:t>	</a:t>
                </a:r>
                <a:r>
                  <a:rPr lang="ko-KR" altLang="en-US" sz="1400" dirty="0"/>
                  <a:t>식</a:t>
                </a:r>
                <a14:m>
                  <m:oMath xmlns:m="http://schemas.openxmlformats.org/officeDocument/2006/math">
                    <m:r>
                      <a:rPr lang="ko-KR" altLang="en-US" sz="1400" i="1" dirty="0">
                        <a:latin typeface="Cambria Math" panose="02040503050406030204" pitchFamily="18" charset="0"/>
                      </a:rPr>
                      <m:t>에서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400" dirty="0">
                    <a:latin typeface="Abadi" panose="020B0604020104020204" pitchFamily="34" charset="0"/>
                  </a:rPr>
                  <a:t>을</a:t>
                </a:r>
                <a:r>
                  <a:rPr lang="en-US" altLang="ko-KR" sz="1400" dirty="0">
                    <a:latin typeface="Abadi" panose="020B0604020104020204" pitchFamily="34" charset="0"/>
                  </a:rPr>
                  <a:t> </a:t>
                </a:r>
                <a:r>
                  <a:rPr lang="ko-KR" altLang="en-US" sz="1400" dirty="0">
                    <a:latin typeface="Abadi" panose="020B0604020104020204" pitchFamily="34" charset="0"/>
                  </a:rPr>
                  <a:t>이항하면</a:t>
                </a:r>
                <a:r>
                  <a:rPr lang="en-US" altLang="ko-KR" sz="1400" dirty="0">
                    <a:latin typeface="Abadi" panose="020B0604020104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ko-KR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altLang="ko-KR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−1,0</m:t>
                        </m:r>
                      </m:sub>
                    </m:sSub>
                    <m:r>
                      <a:rPr lang="ko-KR" altLang="en-US" sz="1400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sz="1400" dirty="0">
                    <a:latin typeface="Abadi" panose="020B0604020104020204" pitchFamily="34" charset="0"/>
                  </a:rPr>
                  <a:t> 된다</a:t>
                </a:r>
                <a:r>
                  <a:rPr lang="en-US" altLang="ko-KR" sz="1400" dirty="0">
                    <a:latin typeface="Abadi" panose="020B0604020104020204" pitchFamily="34" charset="0"/>
                  </a:rPr>
                  <a:t>.</a:t>
                </a:r>
                <a:endParaRPr lang="en-US" altLang="ko-KR" sz="1400" dirty="0"/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en-US" altLang="ko-KR" sz="1400" dirty="0"/>
                  <a:t> 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altLang="ko-KR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−1,0</m:t>
                        </m:r>
                      </m:sub>
                    </m:sSub>
                  </m:oMath>
                </a14:m>
                <a:endParaRPr lang="en-US" altLang="ko-KR" sz="1400" dirty="0">
                  <a:latin typeface="Abadi" panose="020B0604020104020204" pitchFamily="34" charset="0"/>
                </a:endParaRPr>
              </a:p>
              <a:p>
                <a:pPr marL="542925" lvl="2" indent="0">
                  <a:buNone/>
                </a:pPr>
                <a:r>
                  <a:rPr lang="en-US" altLang="ko-KR" sz="1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altLang="ko-KR" sz="1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sub>
                        </m:sSub>
                      </m:num>
                      <m:den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1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0,0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Abadi" panose="020B0604020104020204" pitchFamily="34" charset="0"/>
                  </a:rPr>
                  <a:t> </a:t>
                </a:r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 lvl="3"/>
                <a:endParaRPr lang="en-US" altLang="ko-KR" sz="1200" i="1" dirty="0">
                  <a:latin typeface="Cambria Math" panose="02040503050406030204" pitchFamily="18" charset="0"/>
                </a:endParaRPr>
              </a:p>
              <a:p>
                <a:pPr lvl="3"/>
                <a:endParaRPr lang="en-US" altLang="ko-KR" sz="1200" i="1" dirty="0">
                  <a:latin typeface="Cambria Math" panose="02040503050406030204" pitchFamily="18" charset="0"/>
                </a:endParaRPr>
              </a:p>
              <a:p>
                <a:pPr lvl="3"/>
                <a:endParaRPr lang="en-US" altLang="ko-KR" sz="1200" i="1" dirty="0">
                  <a:latin typeface="Cambria Math" panose="02040503050406030204" pitchFamily="18" charset="0"/>
                </a:endParaRPr>
              </a:p>
              <a:p>
                <a:pPr lvl="3"/>
                <a:endParaRPr lang="en-US" altLang="ko-KR" sz="120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0,0</m:t>
                        </m:r>
                      </m:sub>
                    </m:sSub>
                  </m:oMath>
                </a14:m>
                <a:r>
                  <a:rPr lang="ko-KR" altLang="en-US" sz="1600" dirty="0"/>
                  <a:t>를 알면 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state</a:t>
                </a:r>
                <a:r>
                  <a:rPr lang="ko-KR" altLang="en-US" sz="1600" dirty="0"/>
                  <a:t>에 대한 확률을 구할 수 있게 된다</a:t>
                </a:r>
                <a:r>
                  <a:rPr lang="en-US" altLang="ko-KR" sz="1600" dirty="0"/>
                  <a:t>.</a:t>
                </a:r>
              </a:p>
              <a:p>
                <a:endParaRPr lang="en-US" altLang="ko-KR" sz="3000" dirty="0"/>
              </a:p>
            </p:txBody>
          </p:sp>
        </mc:Choice>
        <mc:Fallback xmlns="">
          <p:sp>
            <p:nvSpPr>
              <p:cNvPr id="7" name="텍스트 개체 틀 2">
                <a:extLst>
                  <a:ext uri="{FF2B5EF4-FFF2-40B4-BE49-F238E27FC236}">
                    <a16:creationId xmlns:a16="http://schemas.microsoft.com/office/drawing/2014/main" id="{BA76CCB3-1B72-4664-A2A4-1FC2BA9A99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000" y="764704"/>
                <a:ext cx="9489520" cy="518457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8A578DF3-D818-4AFC-AD1A-3435A0804835}"/>
              </a:ext>
            </a:extLst>
          </p:cNvPr>
          <p:cNvGrpSpPr/>
          <p:nvPr/>
        </p:nvGrpSpPr>
        <p:grpSpPr>
          <a:xfrm>
            <a:off x="6835113" y="1196752"/>
            <a:ext cx="3070887" cy="5205206"/>
            <a:chOff x="6835113" y="1196752"/>
            <a:chExt cx="3070887" cy="5205206"/>
          </a:xfrm>
        </p:grpSpPr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05240C69-763D-4A8F-8A8C-D8E433342D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9675"/>
            <a:stretch/>
          </p:blipFill>
          <p:spPr>
            <a:xfrm>
              <a:off x="7596074" y="1196752"/>
              <a:ext cx="1952761" cy="5179682"/>
            </a:xfrm>
            <a:prstGeom prst="rect">
              <a:avLst/>
            </a:prstGeom>
          </p:spPr>
        </p:pic>
        <p:sp>
          <p:nvSpPr>
            <p:cNvPr id="46" name="화살표: 왼쪽으로 구부러짐 45">
              <a:extLst>
                <a:ext uri="{FF2B5EF4-FFF2-40B4-BE49-F238E27FC236}">
                  <a16:creationId xmlns:a16="http://schemas.microsoft.com/office/drawing/2014/main" id="{B005CA78-4C8D-4551-B564-1DB70EF3E4CD}"/>
                </a:ext>
              </a:extLst>
            </p:cNvPr>
            <p:cNvSpPr/>
            <p:nvPr/>
          </p:nvSpPr>
          <p:spPr>
            <a:xfrm>
              <a:off x="8570772" y="4725144"/>
              <a:ext cx="198652" cy="766741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80BFFB58-7C0F-4EBB-B18B-2E11A73153A5}"/>
                    </a:ext>
                  </a:extLst>
                </p:cNvPr>
                <p:cNvSpPr/>
                <p:nvPr/>
              </p:nvSpPr>
              <p:spPr>
                <a:xfrm>
                  <a:off x="6835113" y="2120806"/>
                  <a:ext cx="854191" cy="60696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p>
                                <m:r>
                                  <a:rPr lang="en-US" altLang="ko-KR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den>
                        </m:f>
                        <m:sSub>
                          <m:sSubPr>
                            <m:ctrlP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80BFFB58-7C0F-4EBB-B18B-2E11A73153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5113" y="2120806"/>
                  <a:ext cx="854191" cy="606961"/>
                </a:xfrm>
                <a:prstGeom prst="rect">
                  <a:avLst/>
                </a:prstGeom>
                <a:blipFill>
                  <a:blip r:embed="rId7"/>
                  <a:stretch>
                    <a:fillRect r="-1071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화살표: 왼쪽으로 구부러짐 15">
              <a:extLst>
                <a:ext uri="{FF2B5EF4-FFF2-40B4-BE49-F238E27FC236}">
                  <a16:creationId xmlns:a16="http://schemas.microsoft.com/office/drawing/2014/main" id="{2455AB60-0EC8-4F46-965E-53DD69519AD9}"/>
                </a:ext>
              </a:extLst>
            </p:cNvPr>
            <p:cNvSpPr/>
            <p:nvPr/>
          </p:nvSpPr>
          <p:spPr>
            <a:xfrm flipH="1">
              <a:off x="7779641" y="1916832"/>
              <a:ext cx="341711" cy="3711028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7" name="화살표: 왼쪽으로 구부러짐 16">
              <a:extLst>
                <a:ext uri="{FF2B5EF4-FFF2-40B4-BE49-F238E27FC236}">
                  <a16:creationId xmlns:a16="http://schemas.microsoft.com/office/drawing/2014/main" id="{8DDED9BD-1EEF-4CAA-8A31-2AAE50A6E5F8}"/>
                </a:ext>
              </a:extLst>
            </p:cNvPr>
            <p:cNvSpPr/>
            <p:nvPr/>
          </p:nvSpPr>
          <p:spPr>
            <a:xfrm flipV="1">
              <a:off x="8570772" y="5589240"/>
              <a:ext cx="198652" cy="766741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직사각형 1">
                  <a:extLst>
                    <a:ext uri="{FF2B5EF4-FFF2-40B4-BE49-F238E27FC236}">
                      <a16:creationId xmlns:a16="http://schemas.microsoft.com/office/drawing/2014/main" id="{B2BFEBDE-87C3-48D0-96C7-DE0481EB2926}"/>
                    </a:ext>
                  </a:extLst>
                </p:cNvPr>
                <p:cNvSpPr/>
                <p:nvPr/>
              </p:nvSpPr>
              <p:spPr>
                <a:xfrm>
                  <a:off x="8693873" y="4690839"/>
                  <a:ext cx="1212127" cy="3815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ko-KR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ko-K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ko-K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직사각형 1">
                  <a:extLst>
                    <a:ext uri="{FF2B5EF4-FFF2-40B4-BE49-F238E27FC236}">
                      <a16:creationId xmlns:a16="http://schemas.microsoft.com/office/drawing/2014/main" id="{B2BFEBDE-87C3-48D0-96C7-DE0481EB29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3873" y="4690839"/>
                  <a:ext cx="1212127" cy="381515"/>
                </a:xfrm>
                <a:prstGeom prst="rect">
                  <a:avLst/>
                </a:prstGeom>
                <a:blipFill>
                  <a:blip r:embed="rId8"/>
                  <a:stretch>
                    <a:fillRect b="-476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D1BFDA80-D5C1-4EA9-B74D-9057C2A595D7}"/>
                    </a:ext>
                  </a:extLst>
                </p:cNvPr>
                <p:cNvSpPr/>
                <p:nvPr/>
              </p:nvSpPr>
              <p:spPr>
                <a:xfrm>
                  <a:off x="8769424" y="6020443"/>
                  <a:ext cx="989309" cy="3815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ko-KR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ko-K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ko-K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D1BFDA80-D5C1-4EA9-B74D-9057C2A595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9424" y="6020443"/>
                  <a:ext cx="989309" cy="381515"/>
                </a:xfrm>
                <a:prstGeom prst="rect">
                  <a:avLst/>
                </a:prstGeom>
                <a:blipFill>
                  <a:blip r:embed="rId9"/>
                  <a:stretch>
                    <a:fillRect b="-48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DB580A97-C13C-4846-A0C0-39791F63AE36}"/>
              </a:ext>
            </a:extLst>
          </p:cNvPr>
          <p:cNvGrpSpPr/>
          <p:nvPr/>
        </p:nvGrpSpPr>
        <p:grpSpPr>
          <a:xfrm>
            <a:off x="704528" y="1317694"/>
            <a:ext cx="5934107" cy="671146"/>
            <a:chOff x="704528" y="1317694"/>
            <a:chExt cx="5934107" cy="6711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24118235-955E-412D-96C5-3EC7F8B09469}"/>
                    </a:ext>
                  </a:extLst>
                </p:cNvPr>
                <p:cNvSpPr/>
                <p:nvPr/>
              </p:nvSpPr>
              <p:spPr>
                <a:xfrm>
                  <a:off x="704528" y="1317694"/>
                  <a:ext cx="4670445" cy="67114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sub>
                        </m:sSub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den>
                        </m:f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/>
                </a:p>
              </p:txBody>
            </p:sp>
          </mc:Choice>
          <mc:Fallback xmlns=""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24118235-955E-412D-96C5-3EC7F8B094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528" y="1317694"/>
                  <a:ext cx="4670445" cy="67114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5DE82C13-53A0-4BC1-B58F-ED84D63D9CD4}"/>
                    </a:ext>
                  </a:extLst>
                </p:cNvPr>
                <p:cNvSpPr/>
                <p:nvPr/>
              </p:nvSpPr>
              <p:spPr>
                <a:xfrm>
                  <a:off x="5633232" y="1468601"/>
                  <a:ext cx="100540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𝒎</m:t>
                      </m:r>
                    </m:oMath>
                  </a14:m>
                  <a:r>
                    <a:rPr lang="en-US" altLang="ko-KR" b="1" dirty="0"/>
                    <a:t>)</a:t>
                  </a:r>
                  <a:endParaRPr lang="ko-KR" altLang="en-US" b="1" dirty="0"/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5DE82C13-53A0-4BC1-B58F-ED84D63D9C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3232" y="1468601"/>
                  <a:ext cx="1005403" cy="369332"/>
                </a:xfrm>
                <a:prstGeom prst="rect">
                  <a:avLst/>
                </a:prstGeom>
                <a:blipFill>
                  <a:blip r:embed="rId11"/>
                  <a:stretch>
                    <a:fillRect t="-10000" r="-4848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92412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19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8D048-F104-4665-8ADA-E1BDB715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01200" cy="443198"/>
          </a:xfrm>
        </p:spPr>
        <p:txBody>
          <a:bodyPr/>
          <a:lstStyle/>
          <a:p>
            <a:r>
              <a:rPr lang="en-US" altLang="ko-KR" sz="3200" dirty="0"/>
              <a:t>IEEE 802.11 Performance Analysis – </a:t>
            </a:r>
            <a:r>
              <a:rPr lang="en-US" altLang="ko-KR" sz="2800" dirty="0"/>
              <a:t>Markov Chain</a:t>
            </a:r>
            <a:endParaRPr lang="en-US" altLang="ko-K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텍스트 개체 틀 2">
                <a:extLst>
                  <a:ext uri="{FF2B5EF4-FFF2-40B4-BE49-F238E27FC236}">
                    <a16:creationId xmlns:a16="http://schemas.microsoft.com/office/drawing/2014/main" id="{3F11E0D2-18BD-406E-BF2F-9F78416CB8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000" y="764704"/>
                <a:ext cx="9489520" cy="5328592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u="wavy" dirty="0"/>
                  <a:t>Stationary</a:t>
                </a:r>
                <a:r>
                  <a:rPr lang="en-US" altLang="ko-KR" dirty="0"/>
                  <a:t> probability</a:t>
                </a:r>
              </a:p>
              <a:p>
                <a:pPr lvl="1"/>
                <a:r>
                  <a:rPr lang="ko-KR" altLang="en-US" sz="1600" dirty="0"/>
                  <a:t>앞서 정리한 식과 </a:t>
                </a:r>
                <a:r>
                  <a:rPr lang="en-US" altLang="ko-KR" sz="1600" dirty="0"/>
                  <a:t>Markov Chain</a:t>
                </a:r>
                <a:r>
                  <a:rPr lang="ko-KR" altLang="en-US" sz="1600" dirty="0"/>
                  <a:t>을 바탕으로 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상황에서의 확률을 정리한다</a:t>
                </a:r>
                <a:r>
                  <a:rPr lang="en-US" altLang="ko-KR" sz="1600" dirty="0"/>
                  <a:t>.</a:t>
                </a:r>
              </a:p>
              <a:p>
                <a:pPr lvl="1"/>
                <a:endParaRPr lang="en-US" altLang="ko-KR" sz="1600" dirty="0"/>
              </a:p>
              <a:p>
                <a:pPr lvl="1"/>
                <a:endParaRPr lang="en-US" altLang="ko-KR" sz="1900" dirty="0"/>
              </a:p>
              <a:p>
                <a:pPr lvl="1"/>
                <a:endParaRPr lang="en-US" altLang="ko-KR" sz="1900" dirty="0"/>
              </a:p>
              <a:p>
                <a:pPr marL="831850" lvl="2" indent="-285750"/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ko-KR" altLang="en-US" sz="1400" i="1" dirty="0">
                        <a:latin typeface="Cambria Math" panose="02040503050406030204" pitchFamily="18" charset="0"/>
                      </a:rPr>
                      <m:t>는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예를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들어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에서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ko-KR" altLang="en-US" sz="1400" dirty="0"/>
                  <a:t>로 전이할 수 없는 확률이다</a:t>
                </a:r>
                <a:r>
                  <a:rPr lang="en-US" altLang="ko-KR" sz="1400" dirty="0"/>
                  <a:t>.</a:t>
                </a:r>
              </a:p>
              <a:p>
                <a:pPr marL="542925" lvl="2" indent="0">
                  <a:buNone/>
                </a:pPr>
                <a:r>
                  <a:rPr lang="en-US" altLang="ko-KR" sz="1400" dirty="0"/>
                  <a:t>	ex)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ko-KR" altLang="en-US" sz="1400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0,1</m:t>
                        </m:r>
                      </m:sub>
                    </m:sSub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일</m:t>
                    </m:r>
                  </m:oMath>
                </a14:m>
                <a:r>
                  <a:rPr lang="ko-KR" altLang="en-US" sz="1400" dirty="0"/>
                  <a:t> 때의 확률은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ko-KR" sz="140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0,2</m:t>
                        </m:r>
                      </m:sub>
                    </m:sSub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일</m:t>
                    </m:r>
                  </m:oMath>
                </a14:m>
                <a:r>
                  <a:rPr lang="ko-KR" altLang="en-US" sz="1400" dirty="0"/>
                  <a:t> 때의 확률은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ko-KR" sz="1400" dirty="0"/>
                  <a:t>…</a:t>
                </a:r>
                <a:r>
                  <a:rPr lang="ko-KR" altLang="en-US" sz="1400" dirty="0"/>
                  <a:t> 이 된다</a:t>
                </a:r>
                <a:r>
                  <a:rPr lang="en-US" altLang="ko-KR" sz="1400" dirty="0"/>
                  <a:t>.</a:t>
                </a:r>
              </a:p>
            </p:txBody>
          </p:sp>
        </mc:Choice>
        <mc:Fallback xmlns="">
          <p:sp>
            <p:nvSpPr>
              <p:cNvPr id="23" name="텍스트 개체 틀 2">
                <a:extLst>
                  <a:ext uri="{FF2B5EF4-FFF2-40B4-BE49-F238E27FC236}">
                    <a16:creationId xmlns:a16="http://schemas.microsoft.com/office/drawing/2014/main" id="{3F11E0D2-18BD-406E-BF2F-9F78416CB8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000" y="764704"/>
                <a:ext cx="9489520" cy="53285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그룹 1">
            <a:extLst>
              <a:ext uri="{FF2B5EF4-FFF2-40B4-BE49-F238E27FC236}">
                <a16:creationId xmlns:a16="http://schemas.microsoft.com/office/drawing/2014/main" id="{A4C5A0A7-CD52-476C-BDB0-B5FBE20D74BA}"/>
              </a:ext>
            </a:extLst>
          </p:cNvPr>
          <p:cNvGrpSpPr/>
          <p:nvPr/>
        </p:nvGrpSpPr>
        <p:grpSpPr>
          <a:xfrm>
            <a:off x="704528" y="3771222"/>
            <a:ext cx="8309134" cy="2640979"/>
            <a:chOff x="704528" y="3771222"/>
            <a:chExt cx="8309134" cy="26409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DC761962-C301-4DF0-9F6A-65A995BD5051}"/>
                    </a:ext>
                  </a:extLst>
                </p:cNvPr>
                <p:cNvSpPr/>
                <p:nvPr/>
              </p:nvSpPr>
              <p:spPr>
                <a:xfrm>
                  <a:off x="704528" y="3771222"/>
                  <a:ext cx="8309134" cy="264097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342900" indent="-342900">
                    <a:lnSpc>
                      <a:spcPct val="150000"/>
                    </a:lnSpc>
                    <a:buFont typeface="+mj-lt"/>
                    <a:buAutoNum type="arabicPeriod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b="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altLang="ko-KR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nary>
                        <m:naryPr>
                          <m:chr m:val="∑"/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</m:e>
                      </m:nary>
                    </m:oMath>
                  </a14:m>
                  <a:endParaRPr lang="en-US" altLang="ko-KR" dirty="0">
                    <a:ea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ko-KR" dirty="0">
                      <a:ea typeface="Cambria Math" panose="02040503050406030204" pitchFamily="18" charset="0"/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altLang="ko-KR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nary>
                        <m:naryPr>
                          <m:chr m:val="∑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</m:e>
                      </m:nary>
                    </m:oMath>
                  </a14:m>
                  <a:endParaRPr lang="en-US" altLang="ko-KR" dirty="0">
                    <a:ea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             =</m:t>
                      </m:r>
                      <m:f>
                        <m:f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altLang="ko-KR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2,0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</m:e>
                      </m:d>
                    </m:oMath>
                  </a14:m>
                  <a:endParaRPr lang="en-US" altLang="ko-KR" dirty="0">
                    <a:ea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ko-KR" dirty="0"/>
                    <a:t>	    </a:t>
                  </a:r>
                  <a14:m>
                    <m:oMath xmlns:m="http://schemas.openxmlformats.org/officeDocument/2006/math"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altLang="ko-KR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DC761962-C301-4DF0-9F6A-65A995BD50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528" y="3771222"/>
                  <a:ext cx="8309134" cy="2640979"/>
                </a:xfrm>
                <a:prstGeom prst="rect">
                  <a:avLst/>
                </a:prstGeom>
                <a:blipFill>
                  <a:blip r:embed="rId5"/>
                  <a:stretch>
                    <a:fillRect l="-587" t="-831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09469A6F-3DA9-4F23-A584-A4AA73CC3C66}"/>
                    </a:ext>
                  </a:extLst>
                </p:cNvPr>
                <p:cNvSpPr/>
                <p:nvPr/>
              </p:nvSpPr>
              <p:spPr>
                <a:xfrm>
                  <a:off x="4525480" y="4016161"/>
                  <a:ext cx="85504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600" b="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=0)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09469A6F-3DA9-4F23-A584-A4AA73CC3C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5480" y="4016161"/>
                  <a:ext cx="855040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8692647D-83AE-4D6A-8B29-DA3EAB3D9C4B}"/>
                    </a:ext>
                  </a:extLst>
                </p:cNvPr>
                <p:cNvSpPr/>
                <p:nvPr/>
              </p:nvSpPr>
              <p:spPr>
                <a:xfrm>
                  <a:off x="5673080" y="4016161"/>
                  <a:ext cx="1500283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(1,</m:t>
                        </m:r>
                        <m:sSub>
                          <m:sSubPr>
                            <m:ctrlP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8692647D-83AE-4D6A-8B29-DA3EAB3D9C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3080" y="4016161"/>
                  <a:ext cx="1500283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01B3E081-4729-4043-8750-B6AD4889014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69675"/>
          <a:stretch/>
        </p:blipFill>
        <p:spPr>
          <a:xfrm>
            <a:off x="8199826" y="2322047"/>
            <a:ext cx="1333762" cy="3537792"/>
          </a:xfrm>
          <a:prstGeom prst="rect">
            <a:avLst/>
          </a:prstGeom>
        </p:spPr>
      </p:pic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C4FF3202-014D-46FB-9E8B-86812527E310}"/>
              </a:ext>
            </a:extLst>
          </p:cNvPr>
          <p:cNvCxnSpPr>
            <a:cxnSpLocks/>
          </p:cNvCxnSpPr>
          <p:nvPr/>
        </p:nvCxnSpPr>
        <p:spPr>
          <a:xfrm flipV="1">
            <a:off x="8409384" y="2492896"/>
            <a:ext cx="321918" cy="391292"/>
          </a:xfrm>
          <a:prstGeom prst="bentConnector3">
            <a:avLst>
              <a:gd name="adj1" fmla="val -62893"/>
            </a:avLst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FE7E97A0-6030-46C3-A055-AEC691E05033}"/>
              </a:ext>
            </a:extLst>
          </p:cNvPr>
          <p:cNvCxnSpPr>
            <a:cxnSpLocks/>
          </p:cNvCxnSpPr>
          <p:nvPr/>
        </p:nvCxnSpPr>
        <p:spPr>
          <a:xfrm flipV="1">
            <a:off x="8409384" y="2492896"/>
            <a:ext cx="321918" cy="1188000"/>
          </a:xfrm>
          <a:prstGeom prst="bentConnector3">
            <a:avLst>
              <a:gd name="adj1" fmla="val -62893"/>
            </a:avLst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7322D8A9-C7D0-4010-B74D-48C83FA1894F}"/>
              </a:ext>
            </a:extLst>
          </p:cNvPr>
          <p:cNvCxnSpPr>
            <a:cxnSpLocks/>
          </p:cNvCxnSpPr>
          <p:nvPr/>
        </p:nvCxnSpPr>
        <p:spPr>
          <a:xfrm flipV="1">
            <a:off x="8409384" y="2493088"/>
            <a:ext cx="321918" cy="1728000"/>
          </a:xfrm>
          <a:prstGeom prst="bentConnector3">
            <a:avLst>
              <a:gd name="adj1" fmla="val -62893"/>
            </a:avLst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9E1FD3BF-A631-481B-9FDF-6AAF2936AF6D}"/>
              </a:ext>
            </a:extLst>
          </p:cNvPr>
          <p:cNvCxnSpPr>
            <a:cxnSpLocks/>
          </p:cNvCxnSpPr>
          <p:nvPr/>
        </p:nvCxnSpPr>
        <p:spPr>
          <a:xfrm flipV="1">
            <a:off x="8409384" y="2493208"/>
            <a:ext cx="321918" cy="2808000"/>
          </a:xfrm>
          <a:prstGeom prst="bentConnector3">
            <a:avLst>
              <a:gd name="adj1" fmla="val -62893"/>
            </a:avLst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AA19BCA0-9B44-4728-84DC-70F03028D479}"/>
                  </a:ext>
                </a:extLst>
              </p:cNvPr>
              <p:cNvSpPr/>
              <p:nvPr/>
            </p:nvSpPr>
            <p:spPr>
              <a:xfrm>
                <a:off x="6928399" y="3156175"/>
                <a:ext cx="1336969" cy="7048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sz="1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nary>
                        <m:naryPr>
                          <m:chr m:val="∑"/>
                          <m:ctrlPr>
                            <a:rPr lang="en-US" altLang="ko-KR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AA19BCA0-9B44-4728-84DC-70F03028D4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399" y="3156175"/>
                <a:ext cx="1336969" cy="70487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C2E3473-7ECA-4774-BB04-4A73C4B4A300}"/>
              </a:ext>
            </a:extLst>
          </p:cNvPr>
          <p:cNvCxnSpPr/>
          <p:nvPr/>
        </p:nvCxnSpPr>
        <p:spPr>
          <a:xfrm flipH="1">
            <a:off x="8199826" y="2883853"/>
            <a:ext cx="252000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2B181952-A48F-48BA-80FA-F82A52309937}"/>
                  </a:ext>
                </a:extLst>
              </p:cNvPr>
              <p:cNvSpPr/>
              <p:nvPr/>
            </p:nvSpPr>
            <p:spPr>
              <a:xfrm>
                <a:off x="8121352" y="2863969"/>
                <a:ext cx="577081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altLang="ko-KR" sz="1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2B181952-A48F-48BA-80FA-F82A523099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352" y="2863969"/>
                <a:ext cx="57708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그룹 7">
            <a:extLst>
              <a:ext uri="{FF2B5EF4-FFF2-40B4-BE49-F238E27FC236}">
                <a16:creationId xmlns:a16="http://schemas.microsoft.com/office/drawing/2014/main" id="{EBB8AE4E-E23C-484B-96AB-E57AB8E4D6EF}"/>
              </a:ext>
            </a:extLst>
          </p:cNvPr>
          <p:cNvGrpSpPr/>
          <p:nvPr/>
        </p:nvGrpSpPr>
        <p:grpSpPr>
          <a:xfrm>
            <a:off x="128464" y="1628800"/>
            <a:ext cx="9649072" cy="909205"/>
            <a:chOff x="267979" y="1628800"/>
            <a:chExt cx="9649072" cy="90920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FBB851E-3C49-40F7-82C0-BB92E58242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r="2939"/>
            <a:stretch/>
          </p:blipFill>
          <p:spPr>
            <a:xfrm>
              <a:off x="267979" y="1628800"/>
              <a:ext cx="4757029" cy="90920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4C40655-C83D-4F63-9909-275759FBE0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r="2418" b="7594"/>
            <a:stretch/>
          </p:blipFill>
          <p:spPr>
            <a:xfrm>
              <a:off x="5269697" y="1772816"/>
              <a:ext cx="4647354" cy="608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0279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20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8D048-F104-4665-8ADA-E1BDB715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01200" cy="443198"/>
          </a:xfrm>
        </p:spPr>
        <p:txBody>
          <a:bodyPr/>
          <a:lstStyle/>
          <a:p>
            <a:r>
              <a:rPr lang="en-US" altLang="ko-KR" sz="3200" dirty="0"/>
              <a:t>IEEE 802.11 Performance Analysis – </a:t>
            </a:r>
            <a:r>
              <a:rPr lang="en-US" altLang="ko-KR" sz="2800" dirty="0"/>
              <a:t>Markov Chain</a:t>
            </a:r>
            <a:endParaRPr lang="en-US" altLang="ko-KR" sz="3200" dirty="0"/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3F11E0D2-18BD-406E-BF2F-9F78416CB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764704"/>
            <a:ext cx="9489520" cy="5328592"/>
          </a:xfrm>
        </p:spPr>
        <p:txBody>
          <a:bodyPr>
            <a:normAutofit/>
          </a:bodyPr>
          <a:lstStyle/>
          <a:p>
            <a:r>
              <a:rPr lang="en-US" altLang="ko-KR" u="wavy" dirty="0"/>
              <a:t>Stationary</a:t>
            </a:r>
            <a:r>
              <a:rPr lang="en-US" altLang="ko-KR" dirty="0"/>
              <a:t> probability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C3903A4-ED02-470A-AFA7-1DCFCFCA2BC4}"/>
              </a:ext>
            </a:extLst>
          </p:cNvPr>
          <p:cNvGrpSpPr/>
          <p:nvPr/>
        </p:nvGrpSpPr>
        <p:grpSpPr>
          <a:xfrm>
            <a:off x="210601" y="1267396"/>
            <a:ext cx="6962762" cy="2998963"/>
            <a:chOff x="210601" y="1267396"/>
            <a:chExt cx="6962762" cy="29989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C22A0A6D-0E19-4171-A03A-320898778A7A}"/>
                    </a:ext>
                  </a:extLst>
                </p:cNvPr>
                <p:cNvSpPr/>
                <p:nvPr/>
              </p:nvSpPr>
              <p:spPr>
                <a:xfrm>
                  <a:off x="210601" y="1267396"/>
                  <a:ext cx="4151842" cy="29989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342900" indent="-342900">
                    <a:lnSpc>
                      <a:spcPct val="150000"/>
                    </a:lnSpc>
                    <a:buFont typeface="+mj-lt"/>
                    <a:buAutoNum type="arabicPeriod" startAt="2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b="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altLang="ko-KR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−1,0</m:t>
                          </m:r>
                        </m:sub>
                      </m:sSub>
                    </m:oMath>
                  </a14:m>
                  <a:endParaRPr lang="en-US" altLang="ko-KR" dirty="0">
                    <a:ea typeface="Cambria Math" panose="02040503050406030204" pitchFamily="18" charset="0"/>
                  </a:endParaRPr>
                </a:p>
                <a:p>
                  <a:pPr marL="800100" lvl="1" indent="-342900">
                    <a:lnSpc>
                      <a:spcPct val="150000"/>
                    </a:lnSpc>
                    <a:buFont typeface="+mj-ea"/>
                    <a:buAutoNum type="circleNumDbPlain"/>
                  </a:pPr>
                  <a14:m>
                    <m:oMath xmlns:m="http://schemas.openxmlformats.org/officeDocument/2006/math">
                      <m:r>
                        <a:rPr lang="en-US" altLang="ko-KR" sz="16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6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r>
                    <a:rPr lang="ko-KR" altLang="en-US" sz="1600" i="0" dirty="0">
                      <a:latin typeface="+mj-lt"/>
                      <a:ea typeface="Cambria Math" panose="02040503050406030204" pitchFamily="18" charset="0"/>
                    </a:rPr>
                    <a:t>일</a:t>
                  </a:r>
                  <a:r>
                    <a:rPr lang="ko-KR" altLang="en-US" sz="1600" dirty="0">
                      <a:ea typeface="Cambria Math" panose="02040503050406030204" pitchFamily="18" charset="0"/>
                    </a:rPr>
                    <a:t>때</a:t>
                  </a:r>
                  <a:endParaRPr lang="en-US" altLang="ko-KR" sz="1600" dirty="0">
                    <a:ea typeface="Cambria Math" panose="02040503050406030204" pitchFamily="18" charset="0"/>
                  </a:endParaRPr>
                </a:p>
                <a:p>
                  <a:pPr lvl="1">
                    <a:lnSpc>
                      <a:spcPct val="150000"/>
                    </a:lnSpc>
                  </a:pPr>
                  <a:r>
                    <a:rPr lang="en-US" altLang="ko-KR" sz="1600" dirty="0">
                      <a:ea typeface="Cambria Math" panose="02040503050406030204" pitchFamily="18" charset="0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altLang="ko-KR" sz="1600" i="1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altLang="ko-KR" sz="16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 dirty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sz="16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16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 dirty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sz="16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nor/>
                            </m:rPr>
                            <a:rPr lang="en-US" altLang="ko-KR" sz="1600" i="1" dirty="0"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en-US" altLang="ko-KR" sz="1600" i="1" dirty="0">
                    <a:ea typeface="Cambria Math" panose="02040503050406030204" pitchFamily="18" charset="0"/>
                  </a:endParaRPr>
                </a:p>
                <a:p>
                  <a:pPr marL="800100" lvl="1" indent="-342900">
                    <a:lnSpc>
                      <a:spcPct val="150000"/>
                    </a:lnSpc>
                    <a:buFont typeface="+mj-ea"/>
                    <a:buAutoNum type="circleNumDbPlain" startAt="2"/>
                  </a:pPr>
                  <a14:m>
                    <m:oMath xmlns:m="http://schemas.openxmlformats.org/officeDocument/2006/math"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=2</m:t>
                      </m:r>
                    </m:oMath>
                  </a14:m>
                  <a:r>
                    <a:rPr lang="ko-KR" altLang="en-US" sz="1600" dirty="0">
                      <a:ea typeface="Cambria Math" panose="02040503050406030204" pitchFamily="18" charset="0"/>
                    </a:rPr>
                    <a:t>일때</a:t>
                  </a:r>
                  <a:endParaRPr lang="en-US" altLang="ko-KR" sz="1600" dirty="0">
                    <a:ea typeface="Cambria Math" panose="02040503050406030204" pitchFamily="18" charset="0"/>
                  </a:endParaRPr>
                </a:p>
                <a:p>
                  <a:pPr lvl="1">
                    <a:lnSpc>
                      <a:spcPct val="150000"/>
                    </a:lnSpc>
                  </a:pPr>
                  <a:r>
                    <a:rPr lang="en-US" altLang="ko-KR" sz="1600" dirty="0">
                      <a:ea typeface="Cambria Math" panose="02040503050406030204" pitchFamily="18" charset="0"/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16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altLang="ko-KR" sz="1600" i="1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altLang="ko-KR" sz="16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 dirty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sz="16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16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6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 dirty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sz="16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nor/>
                            </m:rPr>
                            <a:rPr lang="en-US" altLang="ko-KR" sz="1600" i="1" dirty="0"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</m:oMath>
                  </a14:m>
                  <a:endParaRPr lang="en-US" altLang="ko-KR" sz="1600" dirty="0">
                    <a:ea typeface="Cambria Math" panose="02040503050406030204" pitchFamily="18" charset="0"/>
                  </a:endParaRPr>
                </a:p>
                <a:p>
                  <a:pPr lvl="1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altLang="ko-KR" sz="16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C22A0A6D-0E19-4171-A03A-320898778A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601" y="1267396"/>
                  <a:ext cx="4151842" cy="2998963"/>
                </a:xfrm>
                <a:prstGeom prst="rect">
                  <a:avLst/>
                </a:prstGeom>
                <a:blipFill>
                  <a:blip r:embed="rId2"/>
                  <a:stretch>
                    <a:fillRect l="-117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72BE915B-2E0F-476E-8BBE-571E67094A84}"/>
                    </a:ext>
                  </a:extLst>
                </p:cNvPr>
                <p:cNvSpPr/>
                <p:nvPr/>
              </p:nvSpPr>
              <p:spPr>
                <a:xfrm>
                  <a:off x="4031553" y="1512335"/>
                  <a:ext cx="1297984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(0&lt;</m:t>
                        </m:r>
                        <m:r>
                          <a:rPr lang="en-US" altLang="ko-KR" sz="1600" b="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72BE915B-2E0F-476E-8BBE-571E67094A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1553" y="1512335"/>
                  <a:ext cx="1297984" cy="338554"/>
                </a:xfrm>
                <a:prstGeom prst="rect">
                  <a:avLst/>
                </a:prstGeom>
                <a:blipFill>
                  <a:blip r:embed="rId3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697F7162-D59F-4112-A2B3-C3E05F729F0C}"/>
                    </a:ext>
                  </a:extLst>
                </p:cNvPr>
                <p:cNvSpPr/>
                <p:nvPr/>
              </p:nvSpPr>
              <p:spPr>
                <a:xfrm>
                  <a:off x="5673080" y="1512335"/>
                  <a:ext cx="1500283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(1,</m:t>
                        </m:r>
                        <m:sSub>
                          <m:sSubPr>
                            <m:ctrlP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697F7162-D59F-4112-A2B3-C3E05F729F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3080" y="1512335"/>
                  <a:ext cx="1500283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5249BFF-447F-4727-846A-C7004E5E1C4B}"/>
              </a:ext>
            </a:extLst>
          </p:cNvPr>
          <p:cNvGrpSpPr/>
          <p:nvPr/>
        </p:nvGrpSpPr>
        <p:grpSpPr>
          <a:xfrm>
            <a:off x="210601" y="4221088"/>
            <a:ext cx="8214813" cy="2362122"/>
            <a:chOff x="210601" y="4249397"/>
            <a:chExt cx="8214813" cy="2362122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C4FA03E6-7F4F-48C8-B27C-00ED7D5EF2DA}"/>
                </a:ext>
              </a:extLst>
            </p:cNvPr>
            <p:cNvGrpSpPr/>
            <p:nvPr/>
          </p:nvGrpSpPr>
          <p:grpSpPr>
            <a:xfrm>
              <a:off x="210601" y="4249397"/>
              <a:ext cx="8214813" cy="2362122"/>
              <a:chOff x="704528" y="3771222"/>
              <a:chExt cx="8214813" cy="236212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직사각형 12">
                    <a:extLst>
                      <a:ext uri="{FF2B5EF4-FFF2-40B4-BE49-F238E27FC236}">
                        <a16:creationId xmlns:a16="http://schemas.microsoft.com/office/drawing/2014/main" id="{FE7EBC43-F19A-41DA-9310-E1081C5E8483}"/>
                      </a:ext>
                    </a:extLst>
                  </p:cNvPr>
                  <p:cNvSpPr/>
                  <p:nvPr/>
                </p:nvSpPr>
                <p:spPr>
                  <a:xfrm>
                    <a:off x="704528" y="3771222"/>
                    <a:ext cx="8214813" cy="236212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342900" indent="-342900">
                      <a:lnSpc>
                        <a:spcPct val="150000"/>
                      </a:lnSpc>
                      <a:buFont typeface="+mj-lt"/>
                      <a:buAutoNum type="arabicPeriod" startAt="3"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ko-KR" b="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b="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ko-KR" b="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lang="en-US" altLang="ko-KR" dirty="0">
                        <a:ea typeface="Cambria Math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oMath>
                    </a14:m>
                    <a:r>
                      <a:rPr lang="en-US" altLang="ko-KR" dirty="0">
                        <a:ea typeface="Cambria Math" panose="02040503050406030204" pitchFamily="18" charset="0"/>
                      </a:rPr>
                      <a:t>)</a:t>
                    </a:r>
                  </a:p>
                  <a:p>
                    <a:pPr>
                      <a:lnSpc>
                        <a:spcPct val="150000"/>
                      </a:lnSpc>
                    </a:pPr>
                    <a:r>
                      <a:rPr lang="en-US" altLang="ko-KR" dirty="0">
                        <a:ea typeface="Cambria Math" panose="02040503050406030204" pitchFamily="18" charset="0"/>
                      </a:rPr>
                      <a:t>  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lang="en-US" altLang="ko-KR" dirty="0">
                        <a:ea typeface="Cambria Math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+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oMath>
                    </a14:m>
                    <a:r>
                      <a:rPr lang="en-US" altLang="ko-KR" dirty="0">
                        <a:ea typeface="Cambria Math" panose="02040503050406030204" pitchFamily="18" charset="0"/>
                      </a:rPr>
                      <a:t>)</a:t>
                    </a:r>
                  </a:p>
                  <a:p>
                    <a:pPr lvl="1">
                      <a:lnSpc>
                        <a:spcPct val="150000"/>
                      </a:lnSpc>
                    </a:pPr>
                    <a:r>
                      <a:rPr lang="en-US" altLang="ko-KR" dirty="0">
                        <a:ea typeface="Cambria Math" panose="02040503050406030204" pitchFamily="18" charset="0"/>
                      </a:rPr>
                      <a:t>     </a:t>
                    </a:r>
                    <a14:m>
                      <m:oMath xmlns:m="http://schemas.openxmlformats.org/officeDocument/2006/math"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lang="en-US" altLang="ko-KR" dirty="0">
                        <a:ea typeface="Cambria Math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oMath>
                    </a14:m>
                    <a:endParaRPr lang="en-US" altLang="ko-KR" dirty="0">
                      <a:ea typeface="Cambria Math" panose="02040503050406030204" pitchFamily="18" charset="0"/>
                    </a:endParaRPr>
                  </a:p>
                  <a:p>
                    <a:pPr marL="742950" lvl="1" indent="-285750">
                      <a:lnSpc>
                        <a:spcPct val="150000"/>
                      </a:lnSpc>
                      <a:buFont typeface="Wingdings" panose="05000000000000000000" pitchFamily="2" charset="2"/>
                      <a:buChar char="ü"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oMath>
                    </a14:m>
                    <a:r>
                      <a: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은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−1,0</m:t>
                            </m:r>
                          </m:sub>
                        </m:sSub>
                        <m:r>
                          <a:rPr lang="ko-KR" altLang="en-US" sz="1400">
                            <a:latin typeface="Cambria Math" panose="02040503050406030204" pitchFamily="18" charset="0"/>
                          </a:rPr>
                          <m:t>에서</m:t>
                        </m:r>
                      </m:oMath>
                    </a14:m>
                    <a:r>
                      <a:rPr lang="en-US" altLang="ko-KR" sz="14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</a:t>
                    </a:r>
                    <a:r>
                      <a: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실패했을 때와 </a:t>
                    </a:r>
                    <a:r>
                      <a:rPr lang="en-US" altLang="ko-KR" sz="14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oMath>
                    </a14:m>
                    <a:r>
                      <a: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에서 실패했을 때</a:t>
                    </a:r>
                    <a:r>
                      <a:rPr lang="en-US" altLang="ko-KR" sz="14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,</a:t>
                    </a:r>
                    <a:r>
                      <a: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 두가지 경우가 있기 때문에 더해준다</a:t>
                    </a:r>
                    <a:r>
                      <a:rPr lang="en-US" altLang="ko-KR" sz="1400" dirty="0">
                        <a:latin typeface="Calibri" panose="020F0502020204030204" pitchFamily="34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a:t>.</a:t>
                    </a:r>
                  </a:p>
                </p:txBody>
              </p:sp>
            </mc:Choice>
            <mc:Fallback xmlns="">
              <p:sp>
                <p:nvSpPr>
                  <p:cNvPr id="13" name="직사각형 12">
                    <a:extLst>
                      <a:ext uri="{FF2B5EF4-FFF2-40B4-BE49-F238E27FC236}">
                        <a16:creationId xmlns:a16="http://schemas.microsoft.com/office/drawing/2014/main" id="{FE7EBC43-F19A-41DA-9310-E1081C5E848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528" y="3771222"/>
                    <a:ext cx="8214813" cy="236212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594" b="-154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8EF5F095-903D-4616-B388-DC91060ED5C5}"/>
                      </a:ext>
                    </a:extLst>
                  </p:cNvPr>
                  <p:cNvSpPr/>
                  <p:nvPr/>
                </p:nvSpPr>
                <p:spPr>
                  <a:xfrm>
                    <a:off x="4525480" y="4016161"/>
                    <a:ext cx="91627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600" b="0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1600" dirty="0"/>
                  </a:p>
                </p:txBody>
              </p:sp>
            </mc:Choice>
            <mc:Fallback xmlns=""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8EF5F095-903D-4616-B388-DC91060ED5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25480" y="4016161"/>
                    <a:ext cx="916276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892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653EABA9-65C0-4609-B2D6-E7C9E7E0B05D}"/>
                    </a:ext>
                  </a:extLst>
                </p:cNvPr>
                <p:cNvSpPr/>
                <p:nvPr/>
              </p:nvSpPr>
              <p:spPr>
                <a:xfrm>
                  <a:off x="5673080" y="4494336"/>
                  <a:ext cx="1500283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(1,</m:t>
                        </m:r>
                        <m:sSub>
                          <m:sSubPr>
                            <m:ctrlP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653EABA9-65C0-4609-B2D6-E7C9E7E0B0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3080" y="4494336"/>
                  <a:ext cx="1500283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F617A929-2619-40F1-AC12-55A85B39A148}"/>
              </a:ext>
            </a:extLst>
          </p:cNvPr>
          <p:cNvGrpSpPr/>
          <p:nvPr/>
        </p:nvGrpSpPr>
        <p:grpSpPr>
          <a:xfrm>
            <a:off x="4016896" y="5231544"/>
            <a:ext cx="3281024" cy="766741"/>
            <a:chOff x="4016896" y="5231544"/>
            <a:chExt cx="3281024" cy="766741"/>
          </a:xfrm>
        </p:grpSpPr>
        <p:sp>
          <p:nvSpPr>
            <p:cNvPr id="17" name="화살표: 왼쪽으로 구부러짐 16">
              <a:extLst>
                <a:ext uri="{FF2B5EF4-FFF2-40B4-BE49-F238E27FC236}">
                  <a16:creationId xmlns:a16="http://schemas.microsoft.com/office/drawing/2014/main" id="{4B6562A0-BDBD-414E-B176-89889C40A481}"/>
                </a:ext>
              </a:extLst>
            </p:cNvPr>
            <p:cNvSpPr/>
            <p:nvPr/>
          </p:nvSpPr>
          <p:spPr>
            <a:xfrm>
              <a:off x="4016896" y="5231544"/>
              <a:ext cx="198652" cy="766741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803121E-A046-46C9-BFC2-5699E6E47EDE}"/>
                    </a:ext>
                  </a:extLst>
                </p:cNvPr>
                <p:cNvSpPr txBox="1"/>
                <p:nvPr/>
              </p:nvSpPr>
              <p:spPr>
                <a:xfrm>
                  <a:off x="4262871" y="5424156"/>
                  <a:ext cx="3035049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US" altLang="ko-KR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sub>
                      </m:sSub>
                      <m:r>
                        <a:rPr lang="en-US" altLang="ko-KR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US" altLang="ko-KR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</m:oMath>
                  </a14:m>
                  <a:endParaRPr lang="ko-KR" altLang="en-US" dirty="0" err="1">
                    <a:solidFill>
                      <a:srgbClr val="FF0000"/>
                    </a:solidFill>
                    <a:latin typeface="Abadi" panose="020B0604020104020204" pitchFamily="34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803121E-A046-46C9-BFC2-5699E6E47E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2871" y="5424156"/>
                  <a:ext cx="3035049" cy="381515"/>
                </a:xfrm>
                <a:prstGeom prst="rect">
                  <a:avLst/>
                </a:prstGeom>
                <a:blipFill>
                  <a:blip r:embed="rId8"/>
                  <a:stretch>
                    <a:fillRect b="-48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D3457C-B1C9-4329-80E9-44F7E050C9D0}"/>
                  </a:ext>
                </a:extLst>
              </p:cNvPr>
              <p:cNvSpPr txBox="1"/>
              <p:nvPr/>
            </p:nvSpPr>
            <p:spPr>
              <a:xfrm>
                <a:off x="4318007" y="2979854"/>
                <a:ext cx="1557459" cy="394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US" altLang="ko-KR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b>
                        <m:sSub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sub>
                      </m:sSub>
                    </m:oMath>
                  </m:oMathPara>
                </a14:m>
                <a:endParaRPr lang="ko-KR" altLang="en-US" dirty="0" err="1">
                  <a:solidFill>
                    <a:srgbClr val="FF0000"/>
                  </a:solidFill>
                  <a:latin typeface="Abadi" panose="020B0604020104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D3457C-B1C9-4329-80E9-44F7E050C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007" y="2979854"/>
                <a:ext cx="1557459" cy="394916"/>
              </a:xfrm>
              <a:prstGeom prst="rect">
                <a:avLst/>
              </a:prstGeom>
              <a:blipFill>
                <a:blip r:embed="rId9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그룹 8">
            <a:extLst>
              <a:ext uri="{FF2B5EF4-FFF2-40B4-BE49-F238E27FC236}">
                <a16:creationId xmlns:a16="http://schemas.microsoft.com/office/drawing/2014/main" id="{439BA1CF-5847-407A-A2F2-E94B7F2FDEDC}"/>
              </a:ext>
            </a:extLst>
          </p:cNvPr>
          <p:cNvGrpSpPr/>
          <p:nvPr/>
        </p:nvGrpSpPr>
        <p:grpSpPr>
          <a:xfrm>
            <a:off x="6249144" y="1916832"/>
            <a:ext cx="3512857" cy="2550244"/>
            <a:chOff x="6249144" y="1916832"/>
            <a:chExt cx="3512857" cy="2550244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4AD86A6F-8AAF-4103-BEA4-90D093A78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249144" y="1916832"/>
              <a:ext cx="3487482" cy="2550244"/>
            </a:xfrm>
            <a:prstGeom prst="rect">
              <a:avLst/>
            </a:prstGeom>
          </p:spPr>
        </p:pic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67B03634-0B53-4F4A-92BA-78F53B86424F}"/>
                </a:ext>
              </a:extLst>
            </p:cNvPr>
            <p:cNvSpPr/>
            <p:nvPr/>
          </p:nvSpPr>
          <p:spPr>
            <a:xfrm>
              <a:off x="6393159" y="3913851"/>
              <a:ext cx="3368841" cy="285287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9E9D793B-8652-4575-8A3D-31F97B18047D}"/>
                </a:ext>
              </a:extLst>
            </p:cNvPr>
            <p:cNvSpPr/>
            <p:nvPr/>
          </p:nvSpPr>
          <p:spPr>
            <a:xfrm>
              <a:off x="6393160" y="3140968"/>
              <a:ext cx="3368841" cy="285287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1843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21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8D048-F104-4665-8ADA-E1BDB715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01200" cy="443198"/>
          </a:xfrm>
        </p:spPr>
        <p:txBody>
          <a:bodyPr/>
          <a:lstStyle/>
          <a:p>
            <a:r>
              <a:rPr lang="en-US" altLang="ko-KR" sz="3200" dirty="0"/>
              <a:t>IEEE 802.11 Performance Analysis – </a:t>
            </a:r>
            <a:r>
              <a:rPr lang="en-US" altLang="ko-KR" sz="2800" dirty="0"/>
              <a:t>Markov Chain</a:t>
            </a:r>
            <a:endParaRPr lang="en-US" altLang="ko-K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텍스트 개체 틀 2">
                <a:extLst>
                  <a:ext uri="{FF2B5EF4-FFF2-40B4-BE49-F238E27FC236}">
                    <a16:creationId xmlns:a16="http://schemas.microsoft.com/office/drawing/2014/main" id="{3F11E0D2-18BD-406E-BF2F-9F78416CB8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000" y="764704"/>
                <a:ext cx="9489520" cy="5328592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u="wavy" dirty="0"/>
                  <a:t>Stationary</a:t>
                </a:r>
                <a:r>
                  <a:rPr lang="en-US" altLang="ko-KR" dirty="0"/>
                  <a:t> probability</a:t>
                </a:r>
              </a:p>
              <a:p>
                <a:pPr lvl="1"/>
                <a:r>
                  <a:rPr lang="ko-KR" altLang="en-US" sz="1600" dirty="0"/>
                  <a:t>앞서 정리한 식과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nary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0,0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den>
                    </m:f>
                  </m:oMath>
                </a14:m>
                <a:r>
                  <a:rPr lang="ko-KR" altLang="en-US" sz="1600" dirty="0"/>
                  <a:t>을 이용해 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상황에서의 확률을 재정리한다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23" name="텍스트 개체 틀 2">
                <a:extLst>
                  <a:ext uri="{FF2B5EF4-FFF2-40B4-BE49-F238E27FC236}">
                    <a16:creationId xmlns:a16="http://schemas.microsoft.com/office/drawing/2014/main" id="{3F11E0D2-18BD-406E-BF2F-9F78416CB8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000" y="764704"/>
                <a:ext cx="9489520" cy="53285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그룹 59">
            <a:extLst>
              <a:ext uri="{FF2B5EF4-FFF2-40B4-BE49-F238E27FC236}">
                <a16:creationId xmlns:a16="http://schemas.microsoft.com/office/drawing/2014/main" id="{233DE895-57FF-4FF3-A3CC-91D709D0783D}"/>
              </a:ext>
            </a:extLst>
          </p:cNvPr>
          <p:cNvGrpSpPr/>
          <p:nvPr/>
        </p:nvGrpSpPr>
        <p:grpSpPr>
          <a:xfrm>
            <a:off x="560512" y="1161330"/>
            <a:ext cx="9300444" cy="3498089"/>
            <a:chOff x="560512" y="1089322"/>
            <a:chExt cx="9300444" cy="3498089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48AE8414-B0C7-4D5F-8D11-F4BC7E1B64F6}"/>
                </a:ext>
              </a:extLst>
            </p:cNvPr>
            <p:cNvGrpSpPr/>
            <p:nvPr/>
          </p:nvGrpSpPr>
          <p:grpSpPr>
            <a:xfrm>
              <a:off x="560512" y="1089322"/>
              <a:ext cx="9227012" cy="2276136"/>
              <a:chOff x="560512" y="2060848"/>
              <a:chExt cx="9227012" cy="227613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직사각형 49">
                    <a:extLst>
                      <a:ext uri="{FF2B5EF4-FFF2-40B4-BE49-F238E27FC236}">
                        <a16:creationId xmlns:a16="http://schemas.microsoft.com/office/drawing/2014/main" id="{788B0FDC-2DD6-4B55-A759-7140ED9D1B67}"/>
                      </a:ext>
                    </a:extLst>
                  </p:cNvPr>
                  <p:cNvSpPr/>
                  <p:nvPr/>
                </p:nvSpPr>
                <p:spPr>
                  <a:xfrm>
                    <a:off x="560512" y="2060848"/>
                    <a:ext cx="5321008" cy="227613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nor/>
                            </m:rPr>
                            <a:rPr lang="en-US" altLang="ko-KR" dirty="0"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altLang="ko-KR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  <m:nary>
                                    <m:naryPr>
                                      <m:chr m:val="∑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=0</m:t>
                                      </m:r>
                                    </m:sub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,0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altLang="ko-KR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  <m:r>
                                    <a:rPr lang="en-US" altLang="ko-K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f>
                                    <m:f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0,0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d>
                                        <m:d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US" altLang="ko-KR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ko-K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−1,0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−1,0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                            </m:t>
                                  </m:r>
                                </m:e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ko-K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−1,0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,0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altLang="ko-KR" dirty="0"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,0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             </m:t>
                                  </m:r>
                                </m:e>
                              </m:eqArr>
                            </m:e>
                          </m:d>
                        </m:oMath>
                      </m:oMathPara>
                    </a14:m>
                    <a:endParaRPr lang="en-US" altLang="ko-KR" dirty="0"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0" name="직사각형 49">
                    <a:extLst>
                      <a:ext uri="{FF2B5EF4-FFF2-40B4-BE49-F238E27FC236}">
                        <a16:creationId xmlns:a16="http://schemas.microsoft.com/office/drawing/2014/main" id="{788B0FDC-2DD6-4B55-A759-7140ED9D1B6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512" y="2060848"/>
                    <a:ext cx="5321008" cy="227613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직사각형 33">
                    <a:extLst>
                      <a:ext uri="{FF2B5EF4-FFF2-40B4-BE49-F238E27FC236}">
                        <a16:creationId xmlns:a16="http://schemas.microsoft.com/office/drawing/2014/main" id="{68E90506-F0A3-4CC9-8856-61BEC5E5D346}"/>
                      </a:ext>
                    </a:extLst>
                  </p:cNvPr>
                  <p:cNvSpPr/>
                  <p:nvPr/>
                </p:nvSpPr>
                <p:spPr>
                  <a:xfrm>
                    <a:off x="6177136" y="3016512"/>
                    <a:ext cx="9405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34" name="직사각형 33">
                    <a:extLst>
                      <a:ext uri="{FF2B5EF4-FFF2-40B4-BE49-F238E27FC236}">
                        <a16:creationId xmlns:a16="http://schemas.microsoft.com/office/drawing/2014/main" id="{68E90506-F0A3-4CC9-8856-61BEC5E5D34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77136" y="3016512"/>
                    <a:ext cx="940579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311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직사각형 50">
                    <a:extLst>
                      <a:ext uri="{FF2B5EF4-FFF2-40B4-BE49-F238E27FC236}">
                        <a16:creationId xmlns:a16="http://schemas.microsoft.com/office/drawing/2014/main" id="{6A33527A-F036-443F-B4C5-14C89473A340}"/>
                      </a:ext>
                    </a:extLst>
                  </p:cNvPr>
                  <p:cNvSpPr/>
                  <p:nvPr/>
                </p:nvSpPr>
                <p:spPr>
                  <a:xfrm>
                    <a:off x="6177136" y="3613333"/>
                    <a:ext cx="143988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a:rPr lang="en-US" altLang="ko-KR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51" name="직사각형 50">
                    <a:extLst>
                      <a:ext uri="{FF2B5EF4-FFF2-40B4-BE49-F238E27FC236}">
                        <a16:creationId xmlns:a16="http://schemas.microsoft.com/office/drawing/2014/main" id="{6A33527A-F036-443F-B4C5-14C89473A34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77136" y="3613333"/>
                    <a:ext cx="143988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311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직사각형 51">
                    <a:extLst>
                      <a:ext uri="{FF2B5EF4-FFF2-40B4-BE49-F238E27FC236}">
                        <a16:creationId xmlns:a16="http://schemas.microsoft.com/office/drawing/2014/main" id="{773DA0B7-E06E-4086-B1F3-50C5347569D8}"/>
                      </a:ext>
                    </a:extLst>
                  </p:cNvPr>
                  <p:cNvSpPr/>
                  <p:nvPr/>
                </p:nvSpPr>
                <p:spPr>
                  <a:xfrm>
                    <a:off x="6177136" y="3929110"/>
                    <a:ext cx="101027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52" name="직사각형 51">
                    <a:extLst>
                      <a:ext uri="{FF2B5EF4-FFF2-40B4-BE49-F238E27FC236}">
                        <a16:creationId xmlns:a16="http://schemas.microsoft.com/office/drawing/2014/main" id="{773DA0B7-E06E-4086-B1F3-50C5347569D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77136" y="3929110"/>
                    <a:ext cx="1010277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147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24E2A40C-B777-43BE-8FA2-7473D1680D96}"/>
                      </a:ext>
                    </a:extLst>
                  </p:cNvPr>
                  <p:cNvSpPr txBox="1"/>
                  <p:nvPr/>
                </p:nvSpPr>
                <p:spPr>
                  <a:xfrm>
                    <a:off x="7833320" y="3607241"/>
                    <a:ext cx="1954204" cy="3815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⇐</m:t>
                        </m:r>
                        <m:r>
                          <m:rPr>
                            <m:nor/>
                          </m:rPr>
                          <a:rPr lang="en-US" altLang="ko-KR" b="0" i="0" dirty="0" smtClean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oMath>
                    </a14:m>
                    <a:r>
                      <a:rPr lang="ko-KR" altLang="en-US" dirty="0">
                        <a:solidFill>
                          <a:srgbClr val="FF0000"/>
                        </a:solidFill>
                        <a:latin typeface="Abadi" panose="020B0604020104020204" pitchFamily="34" charset="0"/>
                      </a:rPr>
                      <a:t> </a:t>
                    </a:r>
                    <a:endParaRPr lang="ko-KR" altLang="en-US" dirty="0" err="1">
                      <a:solidFill>
                        <a:srgbClr val="FF0000"/>
                      </a:solidFill>
                      <a:latin typeface="Abadi" panose="020B0604020104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24E2A40C-B777-43BE-8FA2-7473D1680D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33320" y="3607241"/>
                    <a:ext cx="1954204" cy="38151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4762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1043E1CC-4DD5-406E-9D48-CBEEE21977A1}"/>
                </a:ext>
              </a:extLst>
            </p:cNvPr>
            <p:cNvGrpSpPr/>
            <p:nvPr/>
          </p:nvGrpSpPr>
          <p:grpSpPr>
            <a:xfrm>
              <a:off x="626991" y="3691204"/>
              <a:ext cx="6340051" cy="896207"/>
              <a:chOff x="626991" y="4555300"/>
              <a:chExt cx="6340051" cy="89620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직사각형 38">
                    <a:extLst>
                      <a:ext uri="{FF2B5EF4-FFF2-40B4-BE49-F238E27FC236}">
                        <a16:creationId xmlns:a16="http://schemas.microsoft.com/office/drawing/2014/main" id="{A49D1501-CA7E-4003-9340-5ADA7EB829F8}"/>
                      </a:ext>
                    </a:extLst>
                  </p:cNvPr>
                  <p:cNvSpPr/>
                  <p:nvPr/>
                </p:nvSpPr>
                <p:spPr>
                  <a:xfrm>
                    <a:off x="626991" y="4555300"/>
                    <a:ext cx="2630913" cy="89620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285750" indent="-285750">
                      <a:lnSpc>
                        <a:spcPct val="150000"/>
                      </a:lnSpc>
                      <a:buFont typeface="Wingdings" panose="05000000000000000000" pitchFamily="2" charset="2"/>
                      <a:buChar char="§"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altLang="ko-KR" sz="2400" b="1" i="1" dirty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2400" b="1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1" i="1" dirty="0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altLang="ko-KR" sz="2400" b="1" i="1" dirty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ko-KR" sz="2400" b="1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40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1" i="1" dirty="0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altLang="ko-KR" sz="2400" b="1" i="1" dirty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oMath>
                    </a14:m>
                    <a:r>
                      <a:rPr lang="en-US" altLang="ko-KR" sz="2400" b="1" dirty="0">
                        <a:ea typeface="Cambria Math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altLang="ko-K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a14:m>
                    <a:endParaRPr lang="en-US" altLang="ko-KR" sz="2400" b="1" dirty="0"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9" name="직사각형 38">
                    <a:extLst>
                      <a:ext uri="{FF2B5EF4-FFF2-40B4-BE49-F238E27FC236}">
                        <a16:creationId xmlns:a16="http://schemas.microsoft.com/office/drawing/2014/main" id="{A49D1501-CA7E-4003-9340-5ADA7EB829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91" y="4555300"/>
                    <a:ext cx="2630913" cy="89620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3F13C341-6057-47D5-B217-A1B3376321A4}"/>
                  </a:ext>
                </a:extLst>
              </p:cNvPr>
              <p:cNvGrpSpPr/>
              <p:nvPr/>
            </p:nvGrpSpPr>
            <p:grpSpPr>
              <a:xfrm>
                <a:off x="3720868" y="4901098"/>
                <a:ext cx="3246174" cy="400110"/>
                <a:chOff x="4717095" y="4718686"/>
                <a:chExt cx="3246174" cy="40011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직사각형 53">
                      <a:extLst>
                        <a:ext uri="{FF2B5EF4-FFF2-40B4-BE49-F238E27FC236}">
                          <a16:creationId xmlns:a16="http://schemas.microsoft.com/office/drawing/2014/main" id="{B0D069C9-5F9B-4168-B7E7-F527697AC9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7095" y="4718686"/>
                      <a:ext cx="1338123" cy="40011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ko-KR" sz="2000" b="1" i="1" dirty="0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ko-KR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ko-KR" sz="2000" b="1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000" b="1" i="1" dirty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ko-KR" sz="2000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000" b="1" i="1" dirty="0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ko-KR" sz="2000" b="1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ko-KR" altLang="en-US" sz="2000" b="1" dirty="0"/>
                    </a:p>
                  </p:txBody>
                </p:sp>
              </mc:Choice>
              <mc:Fallback xmlns="">
                <p:sp>
                  <p:nvSpPr>
                    <p:cNvPr id="54" name="직사각형 53">
                      <a:extLst>
                        <a:ext uri="{FF2B5EF4-FFF2-40B4-BE49-F238E27FC236}">
                          <a16:creationId xmlns:a16="http://schemas.microsoft.com/office/drawing/2014/main" id="{B0D069C9-5F9B-4168-B7E7-F527697AC95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17095" y="4718686"/>
                      <a:ext cx="1338123" cy="40011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151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직사각형 54">
                      <a:extLst>
                        <a:ext uri="{FF2B5EF4-FFF2-40B4-BE49-F238E27FC236}">
                          <a16:creationId xmlns:a16="http://schemas.microsoft.com/office/drawing/2014/main" id="{3CE60FFB-0E0F-4F4C-A816-D75F7E5F98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66276" y="4718686"/>
                      <a:ext cx="1896993" cy="40011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ko-KR" sz="2000" b="1" i="1" dirty="0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ko-KR" sz="20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ko-KR" sz="2000" b="1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000" b="1" i="1" dirty="0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ko-KR" sz="2000" b="1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20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000" b="1" i="1" dirty="0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altLang="ko-KR" sz="2000" b="1" i="1" dirty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ko-KR" sz="2000" b="1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ko-KR" altLang="en-US" sz="2000" b="1" dirty="0"/>
                    </a:p>
                  </p:txBody>
                </p:sp>
              </mc:Choice>
              <mc:Fallback xmlns="">
                <p:sp>
                  <p:nvSpPr>
                    <p:cNvPr id="55" name="직사각형 54">
                      <a:extLst>
                        <a:ext uri="{FF2B5EF4-FFF2-40B4-BE49-F238E27FC236}">
                          <a16:creationId xmlns:a16="http://schemas.microsoft.com/office/drawing/2014/main" id="{3CE60FFB-0E0F-4F4C-A816-D75F7E5F980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66276" y="4718686"/>
                      <a:ext cx="1896993" cy="400110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151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600E2CF8-9973-4EA3-9D85-5B6E501516A4}"/>
                    </a:ext>
                  </a:extLst>
                </p:cNvPr>
                <p:cNvSpPr/>
                <p:nvPr/>
              </p:nvSpPr>
              <p:spPr>
                <a:xfrm>
                  <a:off x="7867782" y="2037003"/>
                  <a:ext cx="1993174" cy="52790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dirty="0">
                      <a:solidFill>
                        <a:srgbClr val="FF0000"/>
                      </a:solidFill>
                      <a:ea typeface="Cambria Math" panose="02040503050406030204" pitchFamily="18" charset="0"/>
                    </a:rPr>
                    <a:t>⇐ </a:t>
                  </a:r>
                  <a14:m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f>
                        <m:fPr>
                          <m:ctrlP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0,0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ko-KR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</m:oMath>
                  </a14:m>
                  <a:endParaRPr lang="ko-KR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600E2CF8-9973-4EA3-9D85-5B6E501516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7782" y="2037003"/>
                  <a:ext cx="1993174" cy="527901"/>
                </a:xfrm>
                <a:prstGeom prst="rect">
                  <a:avLst/>
                </a:prstGeom>
                <a:blipFill>
                  <a:blip r:embed="rId11"/>
                  <a:stretch>
                    <a:fillRect l="-4587" t="-70115" b="-11264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34984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22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8D048-F104-4665-8ADA-E1BDB715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01200" cy="443198"/>
          </a:xfrm>
        </p:spPr>
        <p:txBody>
          <a:bodyPr/>
          <a:lstStyle/>
          <a:p>
            <a:r>
              <a:rPr lang="en-US" altLang="ko-KR" sz="3200" dirty="0"/>
              <a:t>IEEE 802.11 Performance Analysis – </a:t>
            </a:r>
            <a:r>
              <a:rPr lang="en-US" altLang="ko-KR" sz="2800" dirty="0"/>
              <a:t>Markov Chain</a:t>
            </a:r>
            <a:endParaRPr lang="en-US" altLang="ko-K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텍스트 개체 틀 2">
                <a:extLst>
                  <a:ext uri="{FF2B5EF4-FFF2-40B4-BE49-F238E27FC236}">
                    <a16:creationId xmlns:a16="http://schemas.microsoft.com/office/drawing/2014/main" id="{1292CAAE-6730-490E-AAF0-E3CA1C6164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000" y="764704"/>
                <a:ext cx="9489520" cy="5328592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u="wavy" dirty="0"/>
                  <a:t>Stationary</a:t>
                </a:r>
                <a:r>
                  <a:rPr lang="en-US" altLang="ko-KR" dirty="0"/>
                  <a:t> probability</a:t>
                </a:r>
              </a:p>
              <a:p>
                <a:pPr lvl="1"/>
                <a:r>
                  <a:rPr lang="ko-KR" altLang="en-US" sz="1600" dirty="0"/>
                  <a:t>모든 </a:t>
                </a:r>
                <a:r>
                  <a:rPr lang="en-US" altLang="ko-KR" sz="1600" dirty="0" err="1"/>
                  <a:t>Backoff</a:t>
                </a:r>
                <a:r>
                  <a:rPr lang="ko-KR" altLang="en-US" sz="1600" dirty="0"/>
                  <a:t>상태의 확률을 더한 값은 </a:t>
                </a:r>
                <a:r>
                  <a:rPr lang="en-US" altLang="ko-KR" sz="1600" dirty="0"/>
                  <a:t>1 </a:t>
                </a:r>
                <a:r>
                  <a:rPr lang="ko-KR" altLang="en-US" sz="1600" dirty="0"/>
                  <a:t>이 된다</a:t>
                </a:r>
                <a:r>
                  <a:rPr lang="en-US" altLang="ko-KR" sz="1600" dirty="0"/>
                  <a:t>.</a:t>
                </a:r>
              </a:p>
              <a:p>
                <a:pPr lvl="1"/>
                <a:r>
                  <a:rPr lang="ko-KR" altLang="en-US" sz="1600" dirty="0"/>
                  <a:t>이 식을 정리하면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sub>
                    </m:sSub>
                  </m:oMath>
                </a14:m>
                <a:r>
                  <a:rPr lang="ko-KR" altLang="en-US" sz="1600" dirty="0"/>
                  <a:t>을 구하는 식을 얻을 수 있다</a:t>
                </a:r>
                <a:r>
                  <a:rPr lang="en-US" altLang="ko-KR" sz="1600" dirty="0"/>
                  <a:t>.</a:t>
                </a:r>
              </a:p>
              <a:p>
                <a:pPr lvl="1"/>
                <a:endParaRPr lang="en-US" altLang="ko-KR" sz="2000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sz="1600" i="1" dirty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ko-KR" altLang="en-US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>
                    <a:latin typeface="Cambria Math" panose="02040503050406030204" pitchFamily="18" charset="0"/>
                  </a:rPr>
                  <a:t>: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임의의 노드가 임의의 시간에서 전송할 확률</a:t>
                </a:r>
                <a:endParaRPr lang="en-US" altLang="ko-KR" sz="160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sz="1600" i="1" dirty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sz="1600" dirty="0"/>
                  <a:t>(tau)</a:t>
                </a:r>
                <a:r>
                  <a:rPr lang="ko-KR" altLang="en-US" sz="1600" dirty="0"/>
                  <a:t>는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어떤 </a:t>
                </a:r>
                <a:r>
                  <a:rPr lang="en-US" altLang="ko-KR" sz="1600" dirty="0"/>
                  <a:t>stage</a:t>
                </a:r>
                <a:r>
                  <a:rPr lang="ko-KR" altLang="en-US" sz="1600" dirty="0"/>
                  <a:t>이던지 </a:t>
                </a:r>
                <a:r>
                  <a:rPr lang="en-US" altLang="ko-KR" sz="1600" dirty="0" err="1"/>
                  <a:t>backoff</a:t>
                </a:r>
                <a:r>
                  <a:rPr lang="en-US" altLang="ko-KR" sz="1600" dirty="0"/>
                  <a:t> counter</a:t>
                </a:r>
                <a:r>
                  <a:rPr lang="ko-KR" altLang="en-US" sz="1600" dirty="0"/>
                  <a:t>가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이 되면 전송하기 때문에 아래와 같이 표현되고 정리 될 수 있다</a:t>
                </a:r>
                <a:r>
                  <a:rPr lang="en-US" altLang="ko-KR" sz="1600" dirty="0"/>
                  <a:t>.</a:t>
                </a:r>
              </a:p>
              <a:p>
                <a:pPr lvl="1"/>
                <a:endParaRPr lang="en-US" altLang="ko-KR" sz="1600" dirty="0"/>
              </a:p>
              <a:p>
                <a:pPr lvl="1"/>
                <a:endParaRPr lang="en-US" altLang="ko-KR" sz="1600" dirty="0"/>
              </a:p>
              <a:p>
                <a:pPr lvl="1"/>
                <a:endParaRPr lang="en-US" altLang="ko-KR" sz="1600" dirty="0"/>
              </a:p>
              <a:p>
                <a:pPr lvl="1"/>
                <a:r>
                  <a:rPr lang="ko-KR" altLang="en-US" sz="1600" dirty="0"/>
                  <a:t>부가적으로 </a:t>
                </a:r>
                <a:r>
                  <a:rPr lang="en-US" altLang="ko-KR" sz="1600" dirty="0"/>
                  <a:t>m=0</a:t>
                </a:r>
                <a:r>
                  <a:rPr lang="ko-KR" altLang="en-US" sz="1600" dirty="0"/>
                  <a:t>일 때 </a:t>
                </a:r>
                <a14:m>
                  <m:oMath xmlns:m="http://schemas.openxmlformats.org/officeDocument/2006/math">
                    <m:r>
                      <a:rPr lang="ko-KR" altLang="en-US" sz="1600" i="1" dirty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sz="1600" dirty="0"/>
                  <a:t>는 아래와 같이 간단히 표현되며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ko-KR" altLang="en-US" sz="1600" i="1" dirty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ko-KR" altLang="en-US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/>
                  <a:t>와 </a:t>
                </a:r>
                <a:r>
                  <a:rPr lang="en-US" altLang="ko-KR" sz="1600" dirty="0"/>
                  <a:t>p</a:t>
                </a:r>
                <a:r>
                  <a:rPr lang="ko-KR" altLang="en-US" sz="1600" dirty="0"/>
                  <a:t>는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관계가 없어지는 것을 확인 할 수 있다</a:t>
                </a:r>
                <a:r>
                  <a:rPr lang="en-US" altLang="ko-KR" sz="1600" dirty="0"/>
                  <a:t>.</a:t>
                </a:r>
                <a:r>
                  <a:rPr lang="ko-KR" altLang="en-US" sz="1600" dirty="0"/>
                  <a:t> 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9" name="텍스트 개체 틀 2">
                <a:extLst>
                  <a:ext uri="{FF2B5EF4-FFF2-40B4-BE49-F238E27FC236}">
                    <a16:creationId xmlns:a16="http://schemas.microsoft.com/office/drawing/2014/main" id="{1292CAAE-6730-490E-AAF0-E3CA1C6164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000" y="764704"/>
                <a:ext cx="9489520" cy="53285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89538279-E548-42F9-96B9-5F311E3C4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736" y="5727960"/>
            <a:ext cx="1196529" cy="65336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8488EC-253F-4FA5-9D6E-B8991B700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9624" y="2276872"/>
            <a:ext cx="3817872" cy="7242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C75930C-8FFC-43BA-BA49-3C85F5F1B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44" y="1932449"/>
            <a:ext cx="4658734" cy="135253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91D4C04-8E4C-491B-BDBA-0A9FF1FF0E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0376" y="4172043"/>
            <a:ext cx="5085248" cy="91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453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23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8D048-F104-4665-8ADA-E1BDB715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01200" cy="443198"/>
          </a:xfrm>
        </p:spPr>
        <p:txBody>
          <a:bodyPr/>
          <a:lstStyle/>
          <a:p>
            <a:r>
              <a:rPr lang="en-US" altLang="ko-KR" sz="3200" dirty="0"/>
              <a:t>IEEE 802.11 Performance Analysis – </a:t>
            </a:r>
            <a:r>
              <a:rPr lang="en-US" altLang="ko-KR" sz="2800" dirty="0"/>
              <a:t>Markov Chain</a:t>
            </a:r>
            <a:endParaRPr lang="en-US" altLang="ko-KR" sz="3200" dirty="0"/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3F11E0D2-18BD-406E-BF2F-9F78416CB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764704"/>
            <a:ext cx="9489520" cy="5328592"/>
          </a:xfrm>
        </p:spPr>
        <p:txBody>
          <a:bodyPr>
            <a:normAutofit/>
          </a:bodyPr>
          <a:lstStyle/>
          <a:p>
            <a:r>
              <a:rPr lang="en-US" altLang="ko-KR" u="wavy" dirty="0"/>
              <a:t>Stationary</a:t>
            </a:r>
            <a:r>
              <a:rPr lang="en-US" altLang="ko-KR" dirty="0"/>
              <a:t> probability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E331E034-9084-4876-9EB3-F709C8841F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04" y="1301499"/>
            <a:ext cx="8079969" cy="53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67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24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8D048-F104-4665-8ADA-E1BDB715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01200" cy="443198"/>
          </a:xfrm>
        </p:spPr>
        <p:txBody>
          <a:bodyPr/>
          <a:lstStyle/>
          <a:p>
            <a:r>
              <a:rPr lang="en-US" altLang="ko-KR" sz="3200" dirty="0"/>
              <a:t>IEEE 802.11 Performance Analysis – </a:t>
            </a:r>
            <a:r>
              <a:rPr lang="en-US" altLang="ko-KR" sz="2800" dirty="0"/>
              <a:t>Markov Chain</a:t>
            </a:r>
            <a:endParaRPr lang="en-US" altLang="ko-KR" sz="3200" dirty="0"/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3F11E0D2-18BD-406E-BF2F-9F78416CB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764704"/>
            <a:ext cx="9489520" cy="5328592"/>
          </a:xfrm>
        </p:spPr>
        <p:txBody>
          <a:bodyPr>
            <a:normAutofit/>
          </a:bodyPr>
          <a:lstStyle/>
          <a:p>
            <a:r>
              <a:rPr lang="en-US" altLang="ko-KR" u="wavy" dirty="0"/>
              <a:t>Stationary</a:t>
            </a:r>
            <a:r>
              <a:rPr lang="en-US" altLang="ko-KR" dirty="0"/>
              <a:t> probability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B9B28A-16F1-45C2-A7E5-CAA5C68942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12" y="1303680"/>
            <a:ext cx="2952328" cy="5509696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2A3866B-4054-46A4-BAA6-B80CDCE1B123}"/>
              </a:ext>
            </a:extLst>
          </p:cNvPr>
          <p:cNvCxnSpPr/>
          <p:nvPr/>
        </p:nvCxnSpPr>
        <p:spPr>
          <a:xfrm flipH="1">
            <a:off x="1353104" y="3861048"/>
            <a:ext cx="287528" cy="7200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A16A90C-001A-49F9-8CF0-EB06FFE39D89}"/>
              </a:ext>
            </a:extLst>
          </p:cNvPr>
          <p:cNvCxnSpPr/>
          <p:nvPr/>
        </p:nvCxnSpPr>
        <p:spPr>
          <a:xfrm flipH="1">
            <a:off x="2217200" y="3861048"/>
            <a:ext cx="287528" cy="7200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9856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25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8D048-F104-4665-8ADA-E1BDB715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01200" cy="443198"/>
          </a:xfrm>
        </p:spPr>
        <p:txBody>
          <a:bodyPr/>
          <a:lstStyle/>
          <a:p>
            <a:r>
              <a:rPr lang="en-US" altLang="ko-KR" sz="3200" dirty="0"/>
              <a:t>IEEE 802.11 Performance Analysis – </a:t>
            </a:r>
            <a:r>
              <a:rPr lang="en-US" altLang="ko-KR" sz="2800" dirty="0"/>
              <a:t>Markov Chain</a:t>
            </a:r>
            <a:endParaRPr lang="en-US" altLang="ko-KR" sz="3200" dirty="0"/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3F11E0D2-18BD-406E-BF2F-9F78416CB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" y="764704"/>
            <a:ext cx="9489520" cy="5328592"/>
          </a:xfrm>
        </p:spPr>
        <p:txBody>
          <a:bodyPr>
            <a:normAutofit/>
          </a:bodyPr>
          <a:lstStyle/>
          <a:p>
            <a:r>
              <a:rPr lang="en-US" altLang="ko-KR" u="wavy" dirty="0"/>
              <a:t>Stationary</a:t>
            </a:r>
            <a:r>
              <a:rPr lang="en-US" altLang="ko-KR" dirty="0"/>
              <a:t> probability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81701D-41E2-4EE8-AD83-9C20346AAB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04" y="1268760"/>
            <a:ext cx="3216774" cy="29006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8F07DC4-9A00-4712-8430-5F8AF015EC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04" y="4400884"/>
            <a:ext cx="3198180" cy="2268476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2428D5C-66A7-457F-9E18-644062BD7E20}"/>
              </a:ext>
            </a:extLst>
          </p:cNvPr>
          <p:cNvCxnSpPr/>
          <p:nvPr/>
        </p:nvCxnSpPr>
        <p:spPr>
          <a:xfrm flipH="1">
            <a:off x="2374128" y="2703122"/>
            <a:ext cx="560311" cy="127567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330463C-771A-4523-BEC3-79216247B538}"/>
              </a:ext>
            </a:extLst>
          </p:cNvPr>
          <p:cNvCxnSpPr/>
          <p:nvPr/>
        </p:nvCxnSpPr>
        <p:spPr>
          <a:xfrm flipH="1">
            <a:off x="2000672" y="3315397"/>
            <a:ext cx="560311" cy="127567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E4A3DE3-344D-4AF4-BFCC-8688B0D5F664}"/>
              </a:ext>
            </a:extLst>
          </p:cNvPr>
          <p:cNvCxnSpPr/>
          <p:nvPr/>
        </p:nvCxnSpPr>
        <p:spPr>
          <a:xfrm flipH="1">
            <a:off x="1398059" y="5471338"/>
            <a:ext cx="560311" cy="127567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A724D54-12D9-429A-AE46-48C5DBC66F1A}"/>
              </a:ext>
            </a:extLst>
          </p:cNvPr>
          <p:cNvCxnSpPr/>
          <p:nvPr/>
        </p:nvCxnSpPr>
        <p:spPr>
          <a:xfrm flipH="1">
            <a:off x="992560" y="5805264"/>
            <a:ext cx="560311" cy="127567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57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26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8D048-F104-4665-8ADA-E1BDB715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01200" cy="443198"/>
          </a:xfrm>
        </p:spPr>
        <p:txBody>
          <a:bodyPr/>
          <a:lstStyle/>
          <a:p>
            <a:r>
              <a:rPr lang="en-US" altLang="ko-KR" sz="3200" dirty="0"/>
              <a:t>IEEE 802.11 Performance Analysis – </a:t>
            </a:r>
            <a:r>
              <a:rPr lang="en-US" altLang="ko-KR" sz="2800" dirty="0"/>
              <a:t>Markov Chain</a:t>
            </a:r>
            <a:endParaRPr lang="en-US" altLang="ko-K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텍스트 개체 틀 2">
                <a:extLst>
                  <a:ext uri="{FF2B5EF4-FFF2-40B4-BE49-F238E27FC236}">
                    <a16:creationId xmlns:a16="http://schemas.microsoft.com/office/drawing/2014/main" id="{DE271200-5B17-4DF5-B05B-56B8932518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000" y="764704"/>
                <a:ext cx="9489520" cy="5328592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u="wavy" dirty="0"/>
                  <a:t>Collision</a:t>
                </a:r>
                <a:r>
                  <a:rPr lang="en-US" altLang="ko-KR" dirty="0"/>
                  <a:t> probability</a:t>
                </a:r>
              </a:p>
              <a:p>
                <a:pPr lvl="1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ko-KR" altLang="en-US" sz="1800" i="1" dirty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sz="1800" dirty="0"/>
                  <a:t>를 구하는 식을 보면 알 수 있듯 </a:t>
                </a:r>
                <a14:m>
                  <m:oMath xmlns:m="http://schemas.openxmlformats.org/officeDocument/2006/math">
                    <m:r>
                      <a:rPr lang="ko-KR" altLang="en-US" sz="1800" i="1" dirty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sz="1800" dirty="0"/>
                  <a:t>값은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sz="1800" dirty="0"/>
                  <a:t>값에 따라서 달라진다</a:t>
                </a:r>
                <a:r>
                  <a:rPr lang="en-US" altLang="ko-KR" sz="1800" dirty="0"/>
                  <a:t>.</a:t>
                </a:r>
              </a:p>
              <a:p>
                <a:pPr lvl="1">
                  <a:buFontTx/>
                  <a:buChar char="-"/>
                </a:pPr>
                <a:r>
                  <a:rPr lang="ko-KR" altLang="en-US" sz="1800" dirty="0"/>
                  <a:t>아래의 사항을 고려하면 </a:t>
                </a:r>
                <a14:m>
                  <m:oMath xmlns:m="http://schemas.openxmlformats.org/officeDocument/2006/math"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1800" dirty="0"/>
                  <a:t> </a:t>
                </a:r>
                <a:r>
                  <a:rPr lang="ko-KR" altLang="en-US" sz="1800" dirty="0"/>
                  <a:t>값을 도출하는 식을 얻을 수 있다</a:t>
                </a:r>
                <a:r>
                  <a:rPr lang="en-US" altLang="ko-KR" sz="1800" dirty="0"/>
                  <a:t>.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/>
                  <a:t>는 하나의 </a:t>
                </a:r>
                <a:r>
                  <a:rPr lang="en-US" altLang="ko-KR" sz="1600" dirty="0"/>
                  <a:t>STA</a:t>
                </a:r>
                <a:r>
                  <a:rPr lang="ko-KR" altLang="en-US" sz="1600" dirty="0"/>
                  <a:t>이</a:t>
                </a:r>
                <a:r>
                  <a:rPr lang="en-US" altLang="ko-KR" sz="1600" dirty="0"/>
                  <a:t> data</a:t>
                </a:r>
                <a:r>
                  <a:rPr lang="ko-KR" altLang="en-US" sz="1600" dirty="0"/>
                  <a:t>를 전송할 때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𝑐𝑜𝑙𝑙𝑖𝑠𝑖𝑜𝑛</m:t>
                    </m:r>
                  </m:oMath>
                </a14:m>
                <a:r>
                  <a:rPr lang="ko-KR" altLang="en-US" sz="1600" dirty="0"/>
                  <a:t>을 만날 확률이다</a:t>
                </a:r>
                <a:r>
                  <a:rPr lang="en-US" altLang="ko-KR" sz="1600" dirty="0"/>
                  <a:t>.</a:t>
                </a:r>
              </a:p>
              <a:p>
                <a:pPr lvl="3"/>
                <a:r>
                  <a:rPr lang="ko-KR" altLang="en-US" sz="1600" dirty="0"/>
                  <a:t>다르게 말하면 하나의 </a:t>
                </a:r>
                <a:r>
                  <a:rPr lang="en-US" altLang="ko-KR" sz="1600" dirty="0"/>
                  <a:t>STA</a:t>
                </a:r>
                <a:r>
                  <a:rPr lang="ko-KR" altLang="en-US" sz="1600" dirty="0"/>
                  <a:t>이 </a:t>
                </a:r>
                <a:r>
                  <a:rPr lang="en-US" altLang="ko-KR" sz="1600" dirty="0"/>
                  <a:t>data</a:t>
                </a:r>
                <a:r>
                  <a:rPr lang="ko-KR" altLang="en-US" sz="1600" dirty="0"/>
                  <a:t>를 전송할 때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sz="1600" dirty="0"/>
                  <a:t>개의 다른 </a:t>
                </a:r>
                <a:r>
                  <a:rPr lang="en-US" altLang="ko-KR" sz="1600" dirty="0"/>
                  <a:t>STAs</a:t>
                </a:r>
                <a:r>
                  <a:rPr lang="ko-KR" altLang="en-US" sz="1600" dirty="0"/>
                  <a:t>중 적어도 하나 이상의 </a:t>
                </a:r>
                <a:r>
                  <a:rPr lang="en-US" altLang="ko-KR" sz="1600" dirty="0"/>
                  <a:t>STA</a:t>
                </a:r>
                <a:r>
                  <a:rPr lang="ko-KR" altLang="en-US" sz="1600" dirty="0"/>
                  <a:t>이 동시에 전송을 시도할 확률이다</a:t>
                </a:r>
                <a:r>
                  <a:rPr lang="en-US" altLang="ko-KR" sz="1600" dirty="0"/>
                  <a:t>.</a:t>
                </a:r>
              </a:p>
              <a:p>
                <a:pPr lvl="3"/>
                <a:r>
                  <a:rPr lang="ko-KR" altLang="en-US" sz="1600" dirty="0"/>
                  <a:t>이를 수학식으로 표현하면 아래와 같다</a:t>
                </a:r>
                <a:r>
                  <a:rPr lang="en-US" altLang="ko-KR" sz="1600" dirty="0"/>
                  <a:t>.</a:t>
                </a:r>
              </a:p>
              <a:p>
                <a:pPr lvl="1">
                  <a:buFontTx/>
                  <a:buChar char="-"/>
                </a:pPr>
                <a:endParaRPr lang="en-US" altLang="ko-KR" sz="1400" dirty="0"/>
              </a:p>
              <a:p>
                <a:pPr lvl="1">
                  <a:buFontTx/>
                  <a:buChar char="-"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9" name="텍스트 개체 틀 2">
                <a:extLst>
                  <a:ext uri="{FF2B5EF4-FFF2-40B4-BE49-F238E27FC236}">
                    <a16:creationId xmlns:a16="http://schemas.microsoft.com/office/drawing/2014/main" id="{DE271200-5B17-4DF5-B05B-56B8932518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000" y="764704"/>
                <a:ext cx="9489520" cy="53285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그룹 1">
            <a:extLst>
              <a:ext uri="{FF2B5EF4-FFF2-40B4-BE49-F238E27FC236}">
                <a16:creationId xmlns:a16="http://schemas.microsoft.com/office/drawing/2014/main" id="{609370F5-D3E8-422C-85EF-681D3186B40F}"/>
              </a:ext>
            </a:extLst>
          </p:cNvPr>
          <p:cNvGrpSpPr/>
          <p:nvPr/>
        </p:nvGrpSpPr>
        <p:grpSpPr>
          <a:xfrm>
            <a:off x="4086795" y="3501008"/>
            <a:ext cx="4044902" cy="980515"/>
            <a:chOff x="4086795" y="3577586"/>
            <a:chExt cx="4044902" cy="980515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1B91F5D-1067-4351-8E66-D3A043D92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6795" y="3600085"/>
              <a:ext cx="1732410" cy="404979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B61A676-765C-4E89-B752-5686B589A208}"/>
                </a:ext>
              </a:extLst>
            </p:cNvPr>
            <p:cNvSpPr/>
            <p:nvPr/>
          </p:nvSpPr>
          <p:spPr>
            <a:xfrm>
              <a:off x="4808984" y="3577586"/>
              <a:ext cx="1029714" cy="427478"/>
            </a:xfrm>
            <a:prstGeom prst="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cxnSp>
          <p:nvCxnSpPr>
            <p:cNvPr id="7" name="연결선: 꺾임 6">
              <a:extLst>
                <a:ext uri="{FF2B5EF4-FFF2-40B4-BE49-F238E27FC236}">
                  <a16:creationId xmlns:a16="http://schemas.microsoft.com/office/drawing/2014/main" id="{98273F4D-A763-49C8-B500-2F9B1E000AF4}"/>
                </a:ext>
              </a:extLst>
            </p:cNvPr>
            <p:cNvCxnSpPr/>
            <p:nvPr/>
          </p:nvCxnSpPr>
          <p:spPr>
            <a:xfrm>
              <a:off x="4953000" y="4005064"/>
              <a:ext cx="222097" cy="196730"/>
            </a:xfrm>
            <a:prstGeom prst="bentConnector3">
              <a:avLst>
                <a:gd name="adj1" fmla="val 5"/>
              </a:avLst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A0C824B-1AC5-49AC-97B4-691D77E416D9}"/>
                    </a:ext>
                  </a:extLst>
                </p:cNvPr>
                <p:cNvSpPr txBox="1"/>
                <p:nvPr/>
              </p:nvSpPr>
              <p:spPr>
                <a:xfrm>
                  <a:off x="5179369" y="4096436"/>
                  <a:ext cx="295232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200" dirty="0"/>
                    <a:t>하나의 </a:t>
                  </a:r>
                  <a:r>
                    <a:rPr lang="en-US" altLang="ko-KR" sz="1200" dirty="0"/>
                    <a:t>STA</a:t>
                  </a:r>
                  <a:r>
                    <a:rPr lang="ko-KR" altLang="en-US" sz="1200" dirty="0"/>
                    <a:t>를 제외한 나머지 </a:t>
                  </a:r>
                  <a14:m>
                    <m:oMath xmlns:m="http://schemas.openxmlformats.org/officeDocument/2006/math">
                      <m:r>
                        <a:rPr lang="en-US" altLang="ko-KR" sz="12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sz="1200" i="1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a14:m>
                  <a:r>
                    <a:rPr lang="ko-KR" altLang="en-US" sz="1200" dirty="0"/>
                    <a:t>개의 </a:t>
                  </a:r>
                  <a:r>
                    <a:rPr lang="en-US" altLang="ko-KR" sz="1200" dirty="0"/>
                    <a:t>STA</a:t>
                  </a:r>
                  <a:r>
                    <a:rPr lang="ko-KR" altLang="en-US" sz="1200" dirty="0"/>
                    <a:t>이 모두 전송을 시도하지 않을 확률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A0C824B-1AC5-49AC-97B4-691D77E41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9369" y="4096436"/>
                  <a:ext cx="2952328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207" t="-2667" b="-12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7B47BB50-68E5-4607-85E0-779C519410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0" y="4725144"/>
            <a:ext cx="4445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41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27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8D048-F104-4665-8ADA-E1BDB715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601200" cy="443198"/>
          </a:xfrm>
        </p:spPr>
        <p:txBody>
          <a:bodyPr/>
          <a:lstStyle/>
          <a:p>
            <a:r>
              <a:rPr lang="en-US" altLang="ko-KR" sz="3200" dirty="0"/>
              <a:t>IEEE 802.11 Performance Analysis – </a:t>
            </a:r>
            <a:r>
              <a:rPr lang="en-US" altLang="ko-KR" sz="2800" dirty="0"/>
              <a:t>Markov Chain</a:t>
            </a:r>
            <a:endParaRPr lang="en-US" altLang="ko-K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텍스트 개체 틀 2">
                <a:extLst>
                  <a:ext uri="{FF2B5EF4-FFF2-40B4-BE49-F238E27FC236}">
                    <a16:creationId xmlns:a16="http://schemas.microsoft.com/office/drawing/2014/main" id="{DE271200-5B17-4DF5-B05B-56B8932518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000" y="764704"/>
                <a:ext cx="9489520" cy="5328592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u="wavy" dirty="0"/>
                  <a:t>Throughput</a:t>
                </a:r>
              </a:p>
              <a:p>
                <a:pPr lvl="1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ko-KR" sz="1800" dirty="0"/>
                  <a:t>:</a:t>
                </a:r>
                <a:r>
                  <a:rPr lang="ko-KR" altLang="en-US" sz="1800" dirty="0"/>
                  <a:t> </a:t>
                </a:r>
                <a:r>
                  <a:rPr lang="ko-KR" altLang="en-US" sz="1800" dirty="0" err="1"/>
                  <a:t>정규화된</a:t>
                </a:r>
                <a:r>
                  <a:rPr lang="ko-KR" altLang="en-US" sz="1800" dirty="0"/>
                  <a:t> 시스템의 처리량</a:t>
                </a:r>
                <a:endParaRPr lang="en-US" altLang="ko-KR" sz="1800" dirty="0"/>
              </a:p>
              <a:p>
                <a:pPr lvl="2"/>
                <a:r>
                  <a:rPr lang="ko-KR" altLang="en-US" sz="1600" dirty="0"/>
                  <a:t>정규화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데이터를 일정한 규칙에 따라 변형하여 이용하기 쉽게 만듦</a:t>
                </a:r>
                <a:endParaRPr lang="en-US" altLang="ko-KR" sz="1600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1600" dirty="0"/>
                  <a:t>를 구하기 위해서는 임의로 선택된 </a:t>
                </a:r>
                <a:r>
                  <a:rPr lang="en-US" altLang="ko-KR" sz="1600" dirty="0"/>
                  <a:t>slot time</a:t>
                </a:r>
                <a:r>
                  <a:rPr lang="ko-KR" altLang="en-US" sz="1600" dirty="0"/>
                  <a:t>에서 어떤 일이 일어날 수 있는지 알아야 한다</a:t>
                </a:r>
                <a:r>
                  <a:rPr lang="en-US" altLang="ko-KR" sz="1600" dirty="0"/>
                  <a:t>.</a:t>
                </a:r>
              </a:p>
              <a:p>
                <a:pPr lvl="1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𝑡𝑟</m:t>
                        </m:r>
                      </m:sub>
                    </m:sSub>
                  </m:oMath>
                </a14:m>
                <a:r>
                  <a:rPr lang="en-US" altLang="ko-KR" sz="1800" dirty="0"/>
                  <a:t>:</a:t>
                </a:r>
                <a:r>
                  <a:rPr lang="ko-KR" altLang="en-US" sz="1800" dirty="0"/>
                  <a:t> 해당하는 </a:t>
                </a:r>
                <a:r>
                  <a:rPr lang="en-US" altLang="ko-KR" sz="1800" dirty="0"/>
                  <a:t>slot time </a:t>
                </a:r>
                <a:r>
                  <a:rPr lang="ko-KR" altLang="en-US" sz="1800" dirty="0"/>
                  <a:t>동안 적어도 한 </a:t>
                </a:r>
                <a:r>
                  <a:rPr lang="en-US" altLang="ko-KR" sz="1800" dirty="0"/>
                  <a:t>STA </a:t>
                </a:r>
                <a:r>
                  <a:rPr lang="ko-KR" altLang="en-US" sz="1800" dirty="0"/>
                  <a:t>이상 전송이 발생할 확률</a:t>
                </a:r>
                <a:endParaRPr lang="en-US" altLang="ko-KR" sz="1800" dirty="0"/>
              </a:p>
              <a:p>
                <a:pPr lvl="1">
                  <a:buFontTx/>
                  <a:buChar char="-"/>
                </a:pPr>
                <a:endParaRPr lang="en-US" altLang="ko-KR" sz="1800" dirty="0"/>
              </a:p>
              <a:p>
                <a:pPr lvl="1">
                  <a:buFontTx/>
                  <a:buChar char="-"/>
                </a:pPr>
                <a:endParaRPr lang="en-US" altLang="ko-KR" sz="1800" dirty="0"/>
              </a:p>
              <a:p>
                <a:pPr lvl="1">
                  <a:buFontTx/>
                  <a:buChar char="-"/>
                </a:pPr>
                <a:endParaRPr lang="en-US" altLang="ko-KR" sz="1800" dirty="0"/>
              </a:p>
              <a:p>
                <a:pPr lvl="1">
                  <a:buFontTx/>
                  <a:buChar char="-"/>
                </a:pPr>
                <a:endParaRPr lang="en-US" altLang="ko-KR" sz="1800" dirty="0"/>
              </a:p>
              <a:p>
                <a:pPr marL="361950" lvl="1" indent="0">
                  <a:buNone/>
                </a:pPr>
                <a:endParaRPr lang="en-US" altLang="ko-KR" sz="1800" dirty="0"/>
              </a:p>
              <a:p>
                <a:pPr lvl="1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ko-KR" sz="1800" dirty="0"/>
                  <a:t>: </a:t>
                </a:r>
                <a:r>
                  <a:rPr lang="ko-KR" altLang="en-US" sz="1800" dirty="0"/>
                  <a:t>정확히 한 </a:t>
                </a:r>
                <a:r>
                  <a:rPr lang="en-US" altLang="ko-KR" sz="1800" dirty="0"/>
                  <a:t>STA</a:t>
                </a:r>
                <a:r>
                  <a:rPr lang="ko-KR" altLang="en-US" sz="1800" dirty="0"/>
                  <a:t>만 전송을 시도할 확률</a:t>
                </a:r>
                <a:endParaRPr lang="en-US" altLang="ko-KR" sz="1800" dirty="0"/>
              </a:p>
              <a:p>
                <a:pPr lvl="1">
                  <a:buFontTx/>
                  <a:buChar char="-"/>
                </a:pPr>
                <a:endParaRPr lang="en-US" altLang="ko-KR" sz="1800" dirty="0"/>
              </a:p>
            </p:txBody>
          </p:sp>
        </mc:Choice>
        <mc:Fallback xmlns="">
          <p:sp>
            <p:nvSpPr>
              <p:cNvPr id="9" name="텍스트 개체 틀 2">
                <a:extLst>
                  <a:ext uri="{FF2B5EF4-FFF2-40B4-BE49-F238E27FC236}">
                    <a16:creationId xmlns:a16="http://schemas.microsoft.com/office/drawing/2014/main" id="{DE271200-5B17-4DF5-B05B-56B8932518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000" y="764704"/>
                <a:ext cx="9489520" cy="53285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E04BE5B0-31A4-4EBB-AC34-B6407C3E362C}"/>
              </a:ext>
            </a:extLst>
          </p:cNvPr>
          <p:cNvGrpSpPr/>
          <p:nvPr/>
        </p:nvGrpSpPr>
        <p:grpSpPr>
          <a:xfrm>
            <a:off x="4120544" y="2708920"/>
            <a:ext cx="4144824" cy="805127"/>
            <a:chOff x="4120544" y="2780928"/>
            <a:chExt cx="4144824" cy="80512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38BCEE4-B958-46D3-A506-93E9E4B92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0544" y="2780928"/>
              <a:ext cx="1664913" cy="427478"/>
            </a:xfrm>
            <a:prstGeom prst="rect">
              <a:avLst/>
            </a:prstGeom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C73615B1-981E-4806-86B9-750E348CF7C5}"/>
                </a:ext>
              </a:extLst>
            </p:cNvPr>
            <p:cNvSpPr/>
            <p:nvPr/>
          </p:nvSpPr>
          <p:spPr>
            <a:xfrm>
              <a:off x="4953000" y="2780928"/>
              <a:ext cx="851004" cy="427478"/>
            </a:xfrm>
            <a:prstGeom prst="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cxnSp>
          <p:nvCxnSpPr>
            <p:cNvPr id="7" name="연결선: 꺾임 6">
              <a:extLst>
                <a:ext uri="{FF2B5EF4-FFF2-40B4-BE49-F238E27FC236}">
                  <a16:creationId xmlns:a16="http://schemas.microsoft.com/office/drawing/2014/main" id="{673F7A89-F723-4B20-9080-E66A169EC107}"/>
                </a:ext>
              </a:extLst>
            </p:cNvPr>
            <p:cNvCxnSpPr/>
            <p:nvPr/>
          </p:nvCxnSpPr>
          <p:spPr>
            <a:xfrm>
              <a:off x="5090943" y="3210691"/>
              <a:ext cx="222097" cy="196730"/>
            </a:xfrm>
            <a:prstGeom prst="bentConnector3">
              <a:avLst>
                <a:gd name="adj1" fmla="val 5"/>
              </a:avLst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6720EEB-DF59-48AA-A452-DEBD08AE844D}"/>
                </a:ext>
              </a:extLst>
            </p:cNvPr>
            <p:cNvSpPr txBox="1"/>
            <p:nvPr/>
          </p:nvSpPr>
          <p:spPr>
            <a:xfrm>
              <a:off x="5313040" y="3309056"/>
              <a:ext cx="29523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모든 </a:t>
              </a:r>
              <a:r>
                <a:rPr lang="en-US" altLang="ko-KR" sz="1200" dirty="0"/>
                <a:t>STA</a:t>
              </a:r>
              <a:r>
                <a:rPr lang="ko-KR" altLang="en-US" sz="1200" dirty="0"/>
                <a:t>이 전송하지 않을 확률</a:t>
              </a: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79284C84-6C6A-4077-A6B2-D2B2181465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586" y="4725144"/>
            <a:ext cx="3284828" cy="8099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395E9A4-0032-4A23-BD6C-DF4C20D56BD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0" y="3619872"/>
            <a:ext cx="4343400" cy="4572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1B3F2DF-1076-4218-9C57-0094881D76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050" y="5746204"/>
            <a:ext cx="58039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950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28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8D048-F104-4665-8ADA-E1BDB715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762830" cy="443198"/>
          </a:xfrm>
        </p:spPr>
        <p:txBody>
          <a:bodyPr/>
          <a:lstStyle/>
          <a:p>
            <a:r>
              <a:rPr lang="en-US" altLang="ko-KR" sz="3200" dirty="0"/>
              <a:t>802.11 Performance Analysis – </a:t>
            </a:r>
            <a:r>
              <a:rPr lang="en-US" altLang="ko-KR" sz="2800" dirty="0"/>
              <a:t>Throughput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텍스트 개체 틀 2">
                <a:extLst>
                  <a:ext uri="{FF2B5EF4-FFF2-40B4-BE49-F238E27FC236}">
                    <a16:creationId xmlns:a16="http://schemas.microsoft.com/office/drawing/2014/main" id="{E3080B5E-1FA8-4AEC-B3E0-9819B8D746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000" y="764704"/>
                <a:ext cx="9489520" cy="5904656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u="wavy" dirty="0"/>
                  <a:t>Throughput</a:t>
                </a:r>
              </a:p>
              <a:p>
                <a:pPr lvl="1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𝑡𝑟</m:t>
                        </m:r>
                      </m:sub>
                    </m:sSub>
                  </m:oMath>
                </a14:m>
                <a:r>
                  <a:rPr lang="ko-KR" altLang="en-US" sz="1800" dirty="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ko-KR" altLang="en-US" sz="1800" dirty="0"/>
                  <a:t>를 통해</a:t>
                </a:r>
                <a:r>
                  <a:rPr lang="en-US" altLang="ko-KR" sz="18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1800" dirty="0"/>
                  <a:t>를 비율로 표현할 수 있다</a:t>
                </a:r>
                <a:r>
                  <a:rPr lang="en-US" altLang="ko-KR" sz="1800" dirty="0"/>
                  <a:t>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평균 패킷 </a:t>
                </a:r>
                <a:r>
                  <a:rPr lang="en-US" altLang="ko-KR" sz="1600" dirty="0"/>
                  <a:t>Payload</a:t>
                </a:r>
                <a:r>
                  <a:rPr lang="ko-KR" altLang="en-US" sz="1600" dirty="0"/>
                  <a:t>의 크기</a:t>
                </a:r>
                <a:endParaRPr lang="en-US" altLang="ko-KR" sz="16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𝑡𝑟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성공적인 전송 확률</a:t>
                </a:r>
                <a:endParaRPr lang="en-US" altLang="ko-KR" sz="1600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𝑝𝑎𝑦𝑙𝑜𝑎𝑑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𝑖𝑛𝑓𝑜𝑟𝑚𝑎𝑡𝑖𝑜𝑛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𝑡𝑟𝑎𝑛𝑠𝑚𝑖𝑡𝑡𝑒𝑑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𝑠𝑙𝑜𝑡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𝑡𝑖𝑚𝑒</m:t>
                        </m:r>
                      </m:e>
                    </m:d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400" dirty="0"/>
                  <a:t>평균 패킷 </a:t>
                </a:r>
                <a:r>
                  <a:rPr lang="en-US" altLang="ko-KR" sz="1400" dirty="0"/>
                  <a:t>Payload</a:t>
                </a:r>
                <a:r>
                  <a:rPr lang="ko-KR" altLang="en-US" sz="1400" dirty="0"/>
                  <a:t>의 크기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ko-KR" altLang="en-US" sz="1400" dirty="0"/>
                  <a:t>성공적인 전송 확률</a:t>
                </a:r>
                <a:r>
                  <a:rPr lang="en-US" altLang="ko-KR" sz="1400" dirty="0"/>
                  <a:t>						  </a:t>
                </a:r>
                <a:r>
                  <a:rPr lang="en-US" altLang="ko-KR" sz="16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𝑡𝑟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dirty="0"/>
              </a:p>
              <a:p>
                <a:pPr lvl="2"/>
                <a:r>
                  <a:rPr lang="ko-KR" altLang="en-US" sz="1600" dirty="0"/>
                  <a:t>한 </a:t>
                </a:r>
                <a:r>
                  <a:rPr lang="en-US" altLang="ko-KR" sz="1600" dirty="0"/>
                  <a:t>slot time</a:t>
                </a:r>
                <a:r>
                  <a:rPr lang="ko-KR" altLang="en-US" sz="1600" dirty="0"/>
                  <a:t>에서의 평균적인 처리량</a:t>
                </a:r>
                <a:endParaRPr lang="en-US" altLang="ko-KR" sz="1600" dirty="0"/>
              </a:p>
              <a:p>
                <a:pPr marL="3619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𝑃𝑎𝑦𝑙𝑜𝑎𝑑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𝑖𝑛𝑓𝑜𝑟𝑚𝑎𝑡𝑖𝑜𝑛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𝑡𝑟𝑎𝑛𝑠𝑚𝑖𝑡𝑡𝑒𝑑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𝑠𝑙𝑜𝑡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𝑡𝑖𝑚𝑒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𝑙𝑒𝑛𝑔𝑡h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𝑠𝑙𝑜𝑡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𝑡𝑖𝑚𝑒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altLang="ko-KR" sz="1800" dirty="0"/>
              </a:p>
              <a:p>
                <a:pPr marL="361950" lvl="1" indent="0">
                  <a:buNone/>
                </a:pPr>
                <a:endParaRPr lang="en-US" altLang="ko-KR" sz="1800" dirty="0"/>
              </a:p>
              <a:p>
                <a:pPr marL="361950" lvl="1" indent="0">
                  <a:buNone/>
                </a:pPr>
                <a:endParaRPr lang="en-US" altLang="ko-KR" sz="1800" dirty="0"/>
              </a:p>
              <a:p>
                <a:pPr marL="361950" lvl="1" indent="0">
                  <a:buNone/>
                </a:pPr>
                <a:endParaRPr lang="en-US" altLang="ko-KR" sz="1800" dirty="0"/>
              </a:p>
              <a:p>
                <a:pPr marL="542925" lvl="2" indent="0">
                  <a:buNone/>
                </a:pPr>
                <a:endParaRPr lang="en-US" altLang="ko-KR" sz="14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ko-KR" sz="1400" dirty="0"/>
                  <a:t>: </a:t>
                </a:r>
                <a:r>
                  <a:rPr lang="ko-KR" altLang="en-US" sz="1400" dirty="0"/>
                  <a:t>성공적인 전송으로 인해 채널이 사용 중임을 감지한 평균 시간</a:t>
                </a:r>
                <a:endParaRPr lang="en-US" altLang="ko-KR" sz="14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4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𝑐𝑜𝑙𝑙𝑖𝑠𝑖𝑜𝑛</m:t>
                    </m:r>
                  </m:oMath>
                </a14:m>
                <a:r>
                  <a:rPr lang="ko-KR" altLang="en-US" sz="1400" dirty="0"/>
                  <a:t>으로 인해 채널이 사용 중임을 감지한 평균 시간</a:t>
                </a:r>
                <a:endParaRPr lang="en-US" altLang="ko-KR" sz="1400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𝑡𝑟</m:t>
                            </m:r>
                          </m:sub>
                        </m:sSub>
                      </m:e>
                    </m:d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ko-KR" sz="1400" dirty="0"/>
                  <a:t>: </a:t>
                </a:r>
                <a:r>
                  <a:rPr lang="ko-KR" altLang="en-US" sz="1400" dirty="0"/>
                  <a:t>슬롯이 </a:t>
                </a:r>
                <a:r>
                  <a:rPr lang="ko-KR" altLang="en-US" sz="1400" dirty="0" err="1"/>
                  <a:t>비어있을</a:t>
                </a:r>
                <a:r>
                  <a:rPr lang="ko-KR" altLang="en-US" sz="1400" dirty="0"/>
                  <a:t> 확률</a:t>
                </a:r>
                <a:r>
                  <a:rPr lang="en-US" altLang="ko-KR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ko-KR" altLang="en-US" sz="1400" dirty="0"/>
                  <a:t> 빈 슬롯의 시간</a:t>
                </a:r>
                <a:endParaRPr lang="en-US" altLang="ko-KR" sz="14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𝑡𝑟</m:t>
                        </m:r>
                      </m:sub>
                    </m:sSub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ko-KR" sz="1400" dirty="0"/>
                  <a:t>: </a:t>
                </a:r>
                <a:r>
                  <a:rPr lang="ko-KR" altLang="en-US" sz="1400" dirty="0"/>
                  <a:t>성공적인 패킷 전송 확률</a:t>
                </a:r>
                <a:r>
                  <a:rPr lang="en-US" altLang="ko-KR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성공적인 패킷 전송의 평균 시간</a:t>
                </a:r>
                <a:endParaRPr lang="en-US" altLang="ko-KR" sz="14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𝑡𝑟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400" i="0" dirty="0">
                    <a:latin typeface="+mj-lt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𝑐𝑜𝑙𝑙𝑖𝑠𝑖𝑜𝑛</m:t>
                    </m:r>
                  </m:oMath>
                </a14:m>
                <a:r>
                  <a:rPr lang="ko-KR" altLang="en-US" sz="1400" i="0" dirty="0">
                    <a:latin typeface="+mj-lt"/>
                  </a:rPr>
                  <a:t>이</a:t>
                </a:r>
                <a:r>
                  <a:rPr lang="en-US" altLang="ko-KR" sz="1400" dirty="0"/>
                  <a:t> </a:t>
                </a:r>
                <a:r>
                  <a:rPr lang="ko-KR" altLang="en-US" sz="1400" dirty="0"/>
                  <a:t>일어날 확률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1400" b="1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𝑐𝑜𝑙𝑙𝑖𝑠𝑖𝑜𝑛</m:t>
                    </m:r>
                  </m:oMath>
                </a14:m>
                <a:r>
                  <a:rPr lang="ko-KR" altLang="en-US" sz="1400" dirty="0"/>
                  <a:t>이 일어날 때 걸리는 평균 시간</a:t>
                </a:r>
                <a:endParaRPr lang="en-US" altLang="ko-KR" sz="1400" dirty="0"/>
              </a:p>
              <a:p>
                <a:pPr lvl="2">
                  <a:buFontTx/>
                  <a:buChar char="-"/>
                </a:pPr>
                <a:endParaRPr lang="en-US" altLang="ko-KR" sz="1400" dirty="0"/>
              </a:p>
            </p:txBody>
          </p:sp>
        </mc:Choice>
        <mc:Fallback xmlns="">
          <p:sp>
            <p:nvSpPr>
              <p:cNvPr id="5" name="텍스트 개체 틀 2">
                <a:extLst>
                  <a:ext uri="{FF2B5EF4-FFF2-40B4-BE49-F238E27FC236}">
                    <a16:creationId xmlns:a16="http://schemas.microsoft.com/office/drawing/2014/main" id="{E3080B5E-1FA8-4AEC-B3E0-9819B8D74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000" y="764704"/>
                <a:ext cx="9489520" cy="590465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9CA7D23E-61DD-44EA-ACFF-22DA3EA407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602" y="4077072"/>
            <a:ext cx="3914796" cy="809958"/>
          </a:xfrm>
          <a:prstGeom prst="rect">
            <a:avLst/>
          </a:prstGeom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0D17ABC6-5E48-4254-BE9C-5042ECD0C702}"/>
              </a:ext>
            </a:extLst>
          </p:cNvPr>
          <p:cNvSpPr/>
          <p:nvPr/>
        </p:nvSpPr>
        <p:spPr>
          <a:xfrm>
            <a:off x="4935586" y="3717032"/>
            <a:ext cx="178845" cy="332981"/>
          </a:xfrm>
          <a:prstGeom prst="downArrow">
            <a:avLst>
              <a:gd name="adj1" fmla="val 26740"/>
              <a:gd name="adj2" fmla="val 6938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8483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텍스트 개체 틀 2">
                <a:extLst>
                  <a:ext uri="{FF2B5EF4-FFF2-40B4-BE49-F238E27FC236}">
                    <a16:creationId xmlns:a16="http://schemas.microsoft.com/office/drawing/2014/main" id="{E3080B5E-1FA8-4AEC-B3E0-9819B8D746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000" y="764703"/>
                <a:ext cx="9489520" cy="5128385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Average time the channel is sensed busy</a:t>
                </a:r>
              </a:p>
              <a:p>
                <a:pPr lvl="1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altLang="ko-KR" sz="1800" dirty="0"/>
              </a:p>
              <a:p>
                <a:pPr lvl="2"/>
                <a:r>
                  <a:rPr lang="en-US" altLang="ko-KR" sz="1600" dirty="0"/>
                  <a:t>Basic access mechanism</a:t>
                </a:r>
              </a:p>
              <a:p>
                <a:pPr lvl="2"/>
                <a:endParaRPr lang="en-US" altLang="ko-KR" sz="1600" dirty="0"/>
              </a:p>
              <a:p>
                <a:pPr lvl="2"/>
                <a:endParaRPr lang="en-US" altLang="ko-KR" sz="1600" dirty="0"/>
              </a:p>
              <a:p>
                <a:pPr lvl="2"/>
                <a:endParaRPr lang="en-US" altLang="ko-KR" sz="1600" dirty="0"/>
              </a:p>
              <a:p>
                <a:pPr lvl="2"/>
                <a:endParaRPr lang="en-US" altLang="ko-KR" sz="1600" dirty="0"/>
              </a:p>
              <a:p>
                <a:pPr lvl="2"/>
                <a:endParaRPr lang="en-US" altLang="ko-KR" sz="1600" dirty="0"/>
              </a:p>
              <a:p>
                <a:pPr lvl="2"/>
                <a:r>
                  <a:rPr lang="en-US" altLang="ko-KR" sz="1600" dirty="0"/>
                  <a:t>RTC/CTS mechanism</a:t>
                </a:r>
              </a:p>
              <a:p>
                <a:pPr lvl="2"/>
                <a:endParaRPr lang="en-US" altLang="ko-KR" sz="1600" dirty="0"/>
              </a:p>
              <a:p>
                <a:pPr lvl="2"/>
                <a:endParaRPr lang="en-US" altLang="ko-KR" sz="1600" dirty="0"/>
              </a:p>
              <a:p>
                <a:pPr lvl="2"/>
                <a:endParaRPr lang="en-US" altLang="ko-KR" sz="1600" dirty="0"/>
              </a:p>
              <a:p>
                <a:pPr lvl="2"/>
                <a:endParaRPr lang="en-US" altLang="ko-KR" sz="1600" dirty="0"/>
              </a:p>
              <a:p>
                <a:pPr marL="542925" lvl="2" indent="0">
                  <a:buNone/>
                </a:pPr>
                <a:endParaRPr lang="en-US" altLang="ko-KR" sz="1400" dirty="0"/>
              </a:p>
              <a:p>
                <a:pPr lvl="2"/>
                <a:r>
                  <a:rPr lang="en-US" altLang="ko-KR" sz="1600" dirty="0"/>
                  <a:t>Throughput</a:t>
                </a:r>
              </a:p>
              <a:p>
                <a:pPr lvl="2"/>
                <a:endParaRPr lang="en-US" altLang="ko-KR" sz="1600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5" name="텍스트 개체 틀 2">
                <a:extLst>
                  <a:ext uri="{FF2B5EF4-FFF2-40B4-BE49-F238E27FC236}">
                    <a16:creationId xmlns:a16="http://schemas.microsoft.com/office/drawing/2014/main" id="{E3080B5E-1FA8-4AEC-B3E0-9819B8D74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000" y="764703"/>
                <a:ext cx="9489520" cy="512838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64445A-7E1B-414D-A787-E220A41665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838575" y="6520259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>
                <a:cs typeface="Arial" panose="020B0604020202020204" pitchFamily="34" charset="0"/>
              </a:rPr>
              <a:pPr/>
              <a:t>29</a:t>
            </a:fld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F8D048-F104-4665-8ADA-E1BDB715D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170" y="144000"/>
            <a:ext cx="9762830" cy="443198"/>
          </a:xfrm>
        </p:spPr>
        <p:txBody>
          <a:bodyPr/>
          <a:lstStyle/>
          <a:p>
            <a:r>
              <a:rPr lang="en-US" altLang="ko-KR" sz="3200" dirty="0"/>
              <a:t>802.11 Performance Analysis – </a:t>
            </a:r>
            <a:r>
              <a:rPr lang="en-US" altLang="ko-KR" sz="2800" dirty="0"/>
              <a:t>Throughput Analysis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DAFCC1A-ED7B-4381-BA0B-C919C45D9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836" y="2370066"/>
            <a:ext cx="4545684" cy="65763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02C20EE-C514-4DBB-ABE2-C494A8DA25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5661248"/>
            <a:ext cx="2941244" cy="60853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1E5EADE-BD12-4108-8966-CBD6F8155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582" y="1916832"/>
            <a:ext cx="3533903" cy="15641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849A86B-3928-41E1-B007-A0C2A3A1AE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91" y="3759430"/>
            <a:ext cx="5083345" cy="146977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55F245A-57D5-4B64-BB07-225858A5E0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2861" y="4321936"/>
            <a:ext cx="3950659" cy="807905"/>
          </a:xfrm>
          <a:prstGeom prst="rect">
            <a:avLst/>
          </a:prstGeom>
          <a:ln w="12700">
            <a:solidFill>
              <a:srgbClr val="0070C0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36F1B520-3EBE-4F2A-A207-643945A9236C}"/>
              </a:ext>
            </a:extLst>
          </p:cNvPr>
          <p:cNvSpPr/>
          <p:nvPr/>
        </p:nvSpPr>
        <p:spPr>
          <a:xfrm>
            <a:off x="1069189" y="1901954"/>
            <a:ext cx="720080" cy="3273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9F0256-54C0-468D-BA2F-982EE4AFFC23}"/>
              </a:ext>
            </a:extLst>
          </p:cNvPr>
          <p:cNvSpPr txBox="1"/>
          <p:nvPr/>
        </p:nvSpPr>
        <p:spPr>
          <a:xfrm>
            <a:off x="1814662" y="2032741"/>
            <a:ext cx="206495" cy="229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Abadi" panose="020B0604020104020204" pitchFamily="34" charset="0"/>
              </a:rPr>
              <a:t>H</a:t>
            </a:r>
            <a:endParaRPr lang="ko-KR" altLang="en-US" dirty="0" err="1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689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143217-8C95-4876-A5CA-5977857E0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논문 진행</a:t>
            </a:r>
            <a:endParaRPr lang="en-US" altLang="ko-KR" dirty="0"/>
          </a:p>
          <a:p>
            <a:pPr lvl="1"/>
            <a:r>
              <a:rPr lang="en-US" altLang="ko-KR" sz="1800" dirty="0"/>
              <a:t>2019 </a:t>
            </a:r>
            <a:r>
              <a:rPr lang="ko-KR" altLang="en-US" sz="1800" dirty="0"/>
              <a:t>한국소프트웨어종합학술대회</a:t>
            </a:r>
            <a:r>
              <a:rPr lang="en-US" altLang="ko-KR" sz="1800" dirty="0"/>
              <a:t>(KSC2019)</a:t>
            </a:r>
          </a:p>
          <a:p>
            <a:pPr lvl="2"/>
            <a:r>
              <a:rPr lang="ko-KR" altLang="en-US" sz="1600" dirty="0"/>
              <a:t>대회 일정</a:t>
            </a:r>
            <a:r>
              <a:rPr lang="en-US" altLang="ko-KR" sz="1600" dirty="0"/>
              <a:t>: 2019</a:t>
            </a:r>
            <a:r>
              <a:rPr lang="ko-KR" altLang="en-US" sz="1600" dirty="0"/>
              <a:t>년 </a:t>
            </a:r>
            <a:r>
              <a:rPr lang="en-US" altLang="ko-KR" sz="1600" dirty="0"/>
              <a:t>12</a:t>
            </a:r>
            <a:r>
              <a:rPr lang="ko-KR" altLang="en-US" sz="1600" dirty="0"/>
              <a:t>월 </a:t>
            </a:r>
            <a:r>
              <a:rPr lang="en-US" altLang="ko-KR" sz="1600" dirty="0"/>
              <a:t>18</a:t>
            </a:r>
            <a:r>
              <a:rPr lang="ko-KR" altLang="en-US" sz="1600" dirty="0"/>
              <a:t>일</a:t>
            </a:r>
            <a:r>
              <a:rPr lang="en-US" altLang="ko-KR" sz="1600" dirty="0"/>
              <a:t>(</a:t>
            </a:r>
            <a:r>
              <a:rPr lang="ko-KR" altLang="en-US" sz="1600" dirty="0"/>
              <a:t>수</a:t>
            </a:r>
            <a:r>
              <a:rPr lang="en-US" altLang="ko-KR" sz="1600" dirty="0"/>
              <a:t>) ~ 20</a:t>
            </a:r>
            <a:r>
              <a:rPr lang="ko-KR" altLang="en-US" sz="1600" dirty="0"/>
              <a:t>일</a:t>
            </a:r>
            <a:r>
              <a:rPr lang="en-US" altLang="ko-KR" sz="1600" dirty="0"/>
              <a:t>(</a:t>
            </a:r>
            <a:r>
              <a:rPr lang="ko-KR" altLang="en-US" sz="1600" dirty="0"/>
              <a:t>금</a:t>
            </a:r>
            <a:r>
              <a:rPr lang="en-US" altLang="ko-KR" sz="1600" dirty="0"/>
              <a:t>), </a:t>
            </a:r>
            <a:r>
              <a:rPr lang="ko-KR" altLang="en-US" sz="1600" dirty="0"/>
              <a:t>평창 휘닉스파크</a:t>
            </a:r>
            <a:endParaRPr lang="en-US" altLang="ko-KR" sz="1600" dirty="0"/>
          </a:p>
          <a:p>
            <a:pPr lvl="2"/>
            <a:r>
              <a:rPr lang="ko-KR" altLang="en-US" sz="1600" dirty="0"/>
              <a:t>모집부문 </a:t>
            </a:r>
            <a:r>
              <a:rPr lang="en-US" altLang="ko-KR" sz="1600" dirty="0"/>
              <a:t>: </a:t>
            </a:r>
            <a:r>
              <a:rPr lang="ko-KR" altLang="en-US" sz="1600" dirty="0"/>
              <a:t>일반논문</a:t>
            </a:r>
            <a:r>
              <a:rPr lang="en-US" altLang="ko-KR" sz="1600" dirty="0"/>
              <a:t>, </a:t>
            </a:r>
            <a:r>
              <a:rPr lang="ko-KR" altLang="en-US" sz="1600" dirty="0"/>
              <a:t>학부생</a:t>
            </a:r>
            <a:r>
              <a:rPr lang="en-US" altLang="ko-KR" sz="1600" dirty="0"/>
              <a:t>/</a:t>
            </a:r>
            <a:r>
              <a:rPr lang="ko-KR" altLang="en-US" sz="1600" dirty="0"/>
              <a:t>주니어논문경진대회</a:t>
            </a:r>
            <a:endParaRPr lang="en-US" altLang="ko-KR" sz="1600" dirty="0"/>
          </a:p>
          <a:p>
            <a:pPr lvl="2"/>
            <a:r>
              <a:rPr lang="ko-KR" altLang="en-US" sz="1600" dirty="0"/>
              <a:t>논문 접수기한 </a:t>
            </a:r>
            <a:r>
              <a:rPr lang="en-US" altLang="ko-KR" sz="1600" dirty="0"/>
              <a:t>: 2019</a:t>
            </a:r>
            <a:r>
              <a:rPr lang="ko-KR" altLang="en-US" sz="1600" dirty="0"/>
              <a:t>년 </a:t>
            </a:r>
            <a:r>
              <a:rPr lang="en-US" altLang="ko-KR" sz="1600" dirty="0"/>
              <a:t>10</a:t>
            </a:r>
            <a:r>
              <a:rPr lang="ko-KR" altLang="en-US" sz="1600" dirty="0"/>
              <a:t>월 </a:t>
            </a:r>
            <a:r>
              <a:rPr lang="en-US" altLang="ko-KR" sz="1600" dirty="0"/>
              <a:t>21</a:t>
            </a:r>
            <a:r>
              <a:rPr lang="ko-KR" altLang="en-US" sz="1600" dirty="0"/>
              <a:t>일</a:t>
            </a:r>
            <a:r>
              <a:rPr lang="en-US" altLang="ko-KR" sz="1600" dirty="0"/>
              <a:t>(</a:t>
            </a:r>
            <a:r>
              <a:rPr lang="ko-KR" altLang="en-US" sz="1600" dirty="0"/>
              <a:t>월</a:t>
            </a:r>
            <a:r>
              <a:rPr lang="en-US" altLang="ko-KR" sz="1600" dirty="0"/>
              <a:t>) </a:t>
            </a:r>
            <a:r>
              <a:rPr lang="ko-KR" altLang="en-US" sz="1600" dirty="0"/>
              <a:t>마감</a:t>
            </a:r>
            <a:endParaRPr lang="en-US" altLang="ko-KR" sz="1600" dirty="0"/>
          </a:p>
          <a:p>
            <a:pPr lvl="2"/>
            <a:r>
              <a:rPr lang="ko-KR" altLang="en-US" sz="1600" dirty="0"/>
              <a:t>사전등록</a:t>
            </a:r>
            <a:endParaRPr lang="en-US" altLang="ko-KR" sz="1600" dirty="0"/>
          </a:p>
          <a:p>
            <a:pPr lvl="3"/>
            <a:r>
              <a:rPr lang="ko-KR" altLang="en-US" sz="1400" dirty="0"/>
              <a:t>발표자 사전등록마감 </a:t>
            </a:r>
            <a:r>
              <a:rPr lang="en-US" altLang="ko-KR" sz="1400" dirty="0"/>
              <a:t>: 11</a:t>
            </a:r>
            <a:r>
              <a:rPr lang="ko-KR" altLang="en-US" sz="1400" dirty="0"/>
              <a:t>월 </a:t>
            </a:r>
            <a:r>
              <a:rPr lang="en-US" altLang="ko-KR" sz="1400" dirty="0"/>
              <a:t>29</a:t>
            </a:r>
            <a:r>
              <a:rPr lang="ko-KR" altLang="en-US" sz="1400" dirty="0"/>
              <a:t>일</a:t>
            </a:r>
            <a:r>
              <a:rPr lang="en-US" altLang="ko-KR" sz="1400" dirty="0"/>
              <a:t>(</a:t>
            </a:r>
            <a:r>
              <a:rPr lang="ko-KR" altLang="en-US" sz="1400" dirty="0"/>
              <a:t>금</a:t>
            </a:r>
            <a:r>
              <a:rPr lang="en-US" altLang="ko-KR" sz="1400" dirty="0"/>
              <a:t>)</a:t>
            </a:r>
          </a:p>
          <a:p>
            <a:pPr lvl="3"/>
            <a:r>
              <a:rPr lang="ko-KR" altLang="en-US" sz="1400" dirty="0"/>
              <a:t>일반참가자 </a:t>
            </a:r>
            <a:r>
              <a:rPr lang="en-US" altLang="ko-KR" sz="1400" dirty="0"/>
              <a:t>1</a:t>
            </a:r>
            <a:r>
              <a:rPr lang="ko-KR" altLang="en-US" sz="1400" dirty="0"/>
              <a:t>차사전등록마감 </a:t>
            </a:r>
            <a:r>
              <a:rPr lang="en-US" altLang="ko-KR" sz="1400" dirty="0"/>
              <a:t>: 12</a:t>
            </a:r>
            <a:r>
              <a:rPr lang="ko-KR" altLang="en-US" sz="1400" dirty="0"/>
              <a:t>월 </a:t>
            </a:r>
            <a:r>
              <a:rPr lang="en-US" altLang="ko-KR" sz="1400" dirty="0"/>
              <a:t>2</a:t>
            </a:r>
            <a:r>
              <a:rPr lang="ko-KR" altLang="en-US" sz="1400" dirty="0"/>
              <a:t>일</a:t>
            </a:r>
            <a:r>
              <a:rPr lang="en-US" altLang="ko-KR" sz="1400" dirty="0"/>
              <a:t>(</a:t>
            </a:r>
            <a:r>
              <a:rPr lang="ko-KR" altLang="en-US" sz="1400" dirty="0"/>
              <a:t>월</a:t>
            </a:r>
            <a:r>
              <a:rPr lang="en-US" altLang="ko-KR" sz="1400" dirty="0"/>
              <a:t>)</a:t>
            </a:r>
            <a:endParaRPr lang="en-US" altLang="ko-KR" sz="1200" dirty="0"/>
          </a:p>
          <a:p>
            <a:pPr lvl="2"/>
            <a:r>
              <a:rPr lang="ko-KR" altLang="en-US" sz="1400" dirty="0"/>
              <a:t>논문 주제</a:t>
            </a:r>
            <a:r>
              <a:rPr lang="en-US" altLang="ko-KR" sz="1400" dirty="0"/>
              <a:t>: Beacon</a:t>
            </a:r>
            <a:r>
              <a:rPr lang="ko-KR" altLang="en-US" sz="1400" dirty="0"/>
              <a:t> </a:t>
            </a:r>
            <a:r>
              <a:rPr lang="en-US" altLang="ko-KR" sz="1400" dirty="0"/>
              <a:t>RSSI </a:t>
            </a:r>
            <a:r>
              <a:rPr lang="ko-KR" altLang="en-US" sz="1400" dirty="0"/>
              <a:t>값을 이용한 거리 계산</a:t>
            </a:r>
            <a:endParaRPr lang="en-US" altLang="ko-KR" sz="14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375BB2A-FE1F-4EFE-B041-A0525AF456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EDD191-7FCF-43F2-8F7E-A9BBBFBCCA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Future</a:t>
            </a:r>
            <a:r>
              <a:rPr lang="ko-KR" altLang="en-US" dirty="0"/>
              <a:t> </a:t>
            </a:r>
            <a:r>
              <a:rPr lang="en-US" altLang="ko-KR" dirty="0"/>
              <a:t>work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9FAEBD-FE81-4B46-9D53-37F092B52BDE}"/>
              </a:ext>
            </a:extLst>
          </p:cNvPr>
          <p:cNvSpPr/>
          <p:nvPr/>
        </p:nvSpPr>
        <p:spPr>
          <a:xfrm>
            <a:off x="2476500" y="6320353"/>
            <a:ext cx="4953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ko-KR" altLang="en-US" sz="1200" dirty="0"/>
              <a:t>https://www.kiise.or.kr/academy/board/academyNewsView.fa</a:t>
            </a:r>
          </a:p>
        </p:txBody>
      </p:sp>
    </p:spTree>
    <p:extLst>
      <p:ext uri="{BB962C8B-B14F-4D97-AF65-F5344CB8AC3E}">
        <p14:creationId xmlns:p14="http://schemas.microsoft.com/office/powerpoint/2010/main" val="37829656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143217-8C95-4876-A5CA-5977857E0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Bianchi, G. (2000). Performance analysis of the IEEE 802.11 distributed coordination function. IEEE Journal on selected areas in communications, 18(3), 535-547.Ideal channel condition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375BB2A-FE1F-4EFE-B041-A0525AF456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EDD191-7FCF-43F2-8F7E-A9BBBFBCCA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Reference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75927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0" y="6519863"/>
            <a:ext cx="222885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324D6D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  <a:latin typeface="Abadi" panose="020B0604020104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>
            <a:latin typeface="Abadi" panose="020B06040201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56294</TotalTime>
  <Words>2219</Words>
  <Application>Microsoft Office PowerPoint</Application>
  <PresentationFormat>A4 용지(210x297mm)</PresentationFormat>
  <Paragraphs>391</Paragraphs>
  <Slides>32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1" baseType="lpstr">
      <vt:lpstr>맑은 고딕</vt:lpstr>
      <vt:lpstr>함초롬돋움</vt:lpstr>
      <vt:lpstr>Abadi</vt:lpstr>
      <vt:lpstr>Arial</vt:lpstr>
      <vt:lpstr>Calibri</vt:lpstr>
      <vt:lpstr>Calibri Light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www.pello.co.kr</dc:creator>
  <cp:lastModifiedBy>GoGo</cp:lastModifiedBy>
  <cp:revision>2655</cp:revision>
  <cp:lastPrinted>2019-03-13T09:36:46Z</cp:lastPrinted>
  <dcterms:created xsi:type="dcterms:W3CDTF">2014-05-15T02:02:05Z</dcterms:created>
  <dcterms:modified xsi:type="dcterms:W3CDTF">2019-09-20T05:16:12Z</dcterms:modified>
</cp:coreProperties>
</file>